
<file path=[Content_Types].xml><?xml version="1.0" encoding="utf-8"?>
<Types xmlns="http://schemas.openxmlformats.org/package/2006/content-types">
  <Default Extension="jpg" ContentType="image/jpeg"/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diagrams/drawing1.xml" ContentType="application/vnd.openxmlformats-officedocument.drawingml.diagramDrawing+xml"/>
  <Override PartName="/ppt/presProps.xml" ContentType="application/vnd.openxmlformats-officedocument.presentationml.presProps+xml"/>
  <Override PartName="/ppt/diagrams/data1.xml" ContentType="application/vnd.openxmlformats-officedocument.drawingml.diagramData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9.xml" ContentType="application/vnd.openxmlformats-officedocument.presentationml.notesSlide+xml"/>
  <Override PartName="/ppt/diagrams/quickStyle2.xml" ContentType="application/vnd.openxmlformats-officedocument.drawingml.diagramQuickStyle+xml"/>
  <Override PartName="/ppt/slides/slide8.xml" ContentType="application/vnd.openxmlformats-officedocument.presentationml.slide+xml"/>
  <Override PartName="/ppt/diagrams/layout1.xml" ContentType="application/vnd.openxmlformats-officedocument.drawingml.diagramLayout+xml"/>
  <Override PartName="/ppt/slideMasters/slideMaster1.xml" ContentType="application/vnd.openxmlformats-officedocument.presentationml.slideMaster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diagrams/colors1.xml" ContentType="application/vnd.openxmlformats-officedocument.drawingml.diagramColors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diagrams/data2.xml" ContentType="application/vnd.openxmlformats-officedocument.drawingml.diagramData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diagrams/layout2.xml" ContentType="application/vnd.openxmlformats-officedocument.drawingml.diagramLayout+xml"/>
  <Override PartName="/ppt/diagrams/drawing2.xml" ContentType="application/vnd.openxmlformats-officedocument.drawingml.diagramDrawing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diagrams/colors2.xml" ContentType="application/vnd.openxmlformats-officedocument.drawingml.diagramColors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quickStyle1.xml" ContentType="application/vnd.openxmlformats-officedocument.drawingml.diagramQuickStyl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Keine Formatvorlage, Tabellenraster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tx1"/>
              </a:solidFill>
            </a:ln>
          </a:left>
          <a:right>
            <a:ln w="12700">
              <a:solidFill>
                <a:schemeClr val="tx1"/>
              </a:solidFill>
            </a:ln>
          </a:right>
          <a:top>
            <a:ln w="12700">
              <a:solidFill>
                <a:schemeClr val="tx1"/>
              </a:solidFill>
            </a:ln>
          </a:top>
          <a:bottom>
            <a:ln w="12700">
              <a:solidFill>
                <a:schemeClr val="tx1"/>
              </a:solidFill>
            </a:ln>
          </a:bottom>
          <a:insideH>
            <a:ln w="12700">
              <a:solidFill>
                <a:schemeClr val="tx1"/>
              </a:solidFill>
            </a:ln>
          </a:insideH>
          <a:insideV>
            <a:ln w="12700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2"/>
          <a:sy n="1" d="2"/>
        </p:scale>
        <p:origin x="0" y="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/Relationships>
</file>

<file path=ppt/diagrams/_rels/data2.xml.rels><?xml version="1.0" encoding="UTF-8" standalone="yes"?><Relationships xmlns="http://schemas.openxmlformats.org/package/2006/relationships"></Relationships>
</file>

<file path=ppt/diagrams/_rels/drawing1.xml.rels><?xml version="1.0" encoding="UTF-8" standalone="yes"?><Relationships xmlns="http://schemas.openxmlformats.org/package/2006/relationships"></Relationships>
</file>

<file path=ppt/diagrams/_rels/drawing2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894C17BB-F395-4318-AB1B-962FBEABD608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de-DE"/>
        </a:p>
      </dgm:t>
    </dgm:pt>
    <dgm:pt modelId="{FD644E90-BF78-4A15-9ABE-E698F2980732}" type="node">
      <dgm:prSet phldr="0" phldrT="[Text]"/>
      <dgm:spPr bwMode="auto"/>
      <dgm:t>
        <a:bodyPr/>
        <a:lstStyle/>
        <a:p>
          <a:pPr rtl="0">
            <a:defRPr/>
          </a:pP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Define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lattice</a:t>
          </a:r>
          <a:r>
            <a:rPr lang="de-DE">
              <a:latin typeface="Aptos Display"/>
            </a:rPr>
            <a:t>, </a:t>
          </a:r>
          <a:r>
            <a:rPr lang="de-DE">
              <a:latin typeface="Aptos Display"/>
            </a:rPr>
            <a:t>assign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positions</a:t>
          </a:r>
          <a:r>
            <a:rPr lang="de-DE">
              <a:latin typeface="Aptos Display"/>
            </a:rPr>
            <a:t> and velocities, </a:t>
          </a:r>
          <a:r>
            <a:rPr lang="de-DE">
              <a:latin typeface="Aptos Display"/>
            </a:rPr>
            <a:t>create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neighbor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list</a:t>
          </a:r>
          <a:r>
            <a:rPr lang="de-DE">
              <a:latin typeface="Aptos Display"/>
            </a:rPr>
            <a:t> </a:t>
          </a:r>
          <a:endParaRPr lang="de-DE"/>
        </a:p>
      </dgm:t>
    </dgm:pt>
    <dgm:pt modelId="{D128191B-82DF-4EF1-8BE2-7EDDA97946F6}" type="parTrans" cxnId="{6A6A59C4-E496-450F-B444-5554560F11BF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036A0C62-8C9E-409E-A4DD-0798772382E9}" type="sibTrans" cxnId="{6A6A59C4-E496-450F-B444-5554560F11BF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A778E852-4C60-476A-BEFE-B7E2D46CEB9C}" type="node">
      <dgm:prSet phldr="0" phldrT="[Text]"/>
      <dgm:spPr bwMode="auto"/>
      <dgm:t>
        <a:bodyPr/>
        <a:lstStyle/>
        <a:p>
          <a:pPr rtl="0">
            <a:defRPr/>
          </a:pPr>
          <a:r>
            <a:rPr lang="de-DE">
              <a:latin typeface="Aptos Display"/>
            </a:rPr>
            <a:t>Calculate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forces</a:t>
          </a:r>
          <a:r>
            <a:rPr lang="de-DE">
              <a:latin typeface="Aptos Display"/>
            </a:rPr>
            <a:t> on </a:t>
          </a:r>
          <a:r>
            <a:rPr lang="de-DE">
              <a:latin typeface="Aptos Display"/>
            </a:rPr>
            <a:t>each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atom</a:t>
          </a:r>
          <a:r>
            <a:rPr lang="de-DE">
              <a:latin typeface="Aptos Display"/>
            </a:rPr>
            <a:t>/</a:t>
          </a:r>
          <a:r>
            <a:rPr lang="de-DE">
              <a:latin typeface="Aptos Display"/>
            </a:rPr>
            <a:t>particle</a:t>
          </a:r>
          <a:endParaRPr lang="de-DE"/>
        </a:p>
      </dgm:t>
    </dgm:pt>
    <dgm:pt modelId="{A740FB86-3D3C-4920-95B4-121D57BC4948}" type="parTrans" cxnId="{84D6A245-81F7-445E-9FFB-20D11CAD62AB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A80F9A1E-8478-4679-A569-5EC0194D0635}" type="sibTrans" cxnId="{84D6A245-81F7-445E-9FFB-20D11CAD62AB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0E5F533D-AFC8-48CD-B2A9-CB24DF412564}" type="node">
      <dgm:prSet phldr="0" phldrT="[Text]"/>
      <dgm:spPr bwMode="auto"/>
      <dgm:t>
        <a:bodyPr/>
        <a:lstStyle/>
        <a:p>
          <a:pPr rtl="0">
            <a:defRPr/>
          </a:pPr>
          <a:r>
            <a:rPr lang="de-DE">
              <a:latin typeface="Aptos Display"/>
            </a:rPr>
            <a:t>Integartion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of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equation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of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motion</a:t>
          </a:r>
          <a:r>
            <a:rPr lang="de-DE">
              <a:latin typeface="Aptos Display"/>
            </a:rPr>
            <a:t>, </a:t>
          </a:r>
          <a:r>
            <a:rPr lang="de-DE">
              <a:latin typeface="Aptos Display"/>
            </a:rPr>
            <a:t>energy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minimization</a:t>
          </a:r>
          <a:r>
            <a:rPr lang="de-DE">
              <a:latin typeface="Aptos Display"/>
            </a:rPr>
            <a:t>  </a:t>
          </a:r>
          <a:endParaRPr lang="de-DE"/>
        </a:p>
      </dgm:t>
    </dgm:pt>
    <dgm:pt modelId="{43A49033-0F1C-436E-A6CD-3100A50F9401}" type="parTrans" cxnId="{31C0199D-3D02-4221-B8A8-7771F55C5809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C00AC65E-E30C-4E3C-B9F7-36CA3D2B80FF}" type="sibTrans" cxnId="{31C0199D-3D02-4221-B8A8-7771F55C5809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58C15011-EA5E-45D6-9D55-57DA208DC9B9}" type="node">
      <dgm:prSet phldr="0" phldrT="[Text]"/>
      <dgm:spPr bwMode="auto"/>
      <dgm:t>
        <a:bodyPr/>
        <a:lstStyle/>
        <a:p>
          <a:pPr rtl="0">
            <a:defRPr/>
          </a:pPr>
          <a:r>
            <a:rPr lang="de-DE">
              <a:latin typeface="Aptos Display"/>
            </a:rPr>
            <a:t>Compute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physical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quantities</a:t>
          </a:r>
          <a:endParaRPr lang="de-DE"/>
        </a:p>
      </dgm:t>
    </dgm:pt>
    <dgm:pt modelId="{6B5C7C76-7A64-4750-A5ED-8DDC9EBF55BE}" type="parTrans" cxnId="{66594BC3-AC04-4897-ADF8-3E04361B4AF2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1AF05EDC-66CD-43CC-B7C0-66B467A6CF9E}" type="sibTrans" cxnId="{66594BC3-AC04-4897-ADF8-3E04361B4AF2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4B64480B-5164-4EA9-9870-F2EA1100B4BC}" type="node">
      <dgm:prSet phldr="0"/>
      <dgm:spPr bwMode="auto"/>
      <dgm:t>
        <a:bodyPr/>
        <a:lstStyle/>
        <a:p>
          <a:pPr rtl="0">
            <a:defRPr/>
          </a:pPr>
          <a:r>
            <a:rPr lang="de-DE">
              <a:latin typeface="Aptos Display"/>
            </a:rPr>
            <a:t>Apply boundry conditions - </a:t>
          </a:r>
          <a:r>
            <a:rPr lang="de-DE" sz="1100">
              <a:latin typeface="Calibri"/>
              <a:ea typeface="Calibri"/>
              <a:cs typeface="Calibri"/>
            </a:rPr>
            <a:t>set simulation parameters</a:t>
          </a:r>
          <a:r>
            <a:rPr lang="de-DE">
              <a:latin typeface="Aptos Display"/>
            </a:rPr>
            <a:t> </a:t>
          </a:r>
          <a:endParaRPr/>
        </a:p>
      </dgm:t>
    </dgm:pt>
    <dgm:pt modelId="{F57DC908-5826-48C9-943B-077BEC4E35A1}" type="parTrans" cxnId="{BBE34AE6-7AAC-4C46-A0FF-31BF4ED02880}">
      <dgm:prSet/>
      <dgm:spPr bwMode="auto"/>
    </dgm:pt>
    <dgm:pt modelId="{D3FD58D2-AAC3-48E5-A429-947C3559DFDF}" type="sibTrans" cxnId="{BBE34AE6-7AAC-4C46-A0FF-31BF4ED02880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B6D3AC67-A494-4ACA-84A1-5F999D5CF0AB}" type="pres">
      <dgm:prSet presAssocID="{894C17BB-F395-4318-AB1B-962FBEABD608}" presName="diagram" presStyleCnt="0">
        <dgm:presLayoutVars>
          <dgm:dir val="norm"/>
          <dgm:resizeHandles val="exact"/>
        </dgm:presLayoutVars>
      </dgm:prSet>
      <dgm:spPr bwMode="auto"/>
    </dgm:pt>
    <dgm:pt modelId="{EA79F6ED-B242-48AD-907E-C6A1BA32147B}" type="pres">
      <dgm:prSet presAssocID="{FD644E90-BF78-4A15-9ABE-E698F2980732}" presName="node" presStyleLbl="node1" presStyleIdx="0" presStyleCnt="5">
        <dgm:presLayoutVars>
          <dgm:bulletEnabled val="1"/>
        </dgm:presLayoutVars>
      </dgm:prSet>
      <dgm:spPr bwMode="auto"/>
    </dgm:pt>
    <dgm:pt modelId="{4A0C5697-1D9F-4812-A2A8-60C67CFFBE6A}" type="pres">
      <dgm:prSet presAssocID="{036A0C62-8C9E-409E-A4DD-0798772382E9}" presName="sibTrans" presStyleLbl="sibTrans2D1" presStyleIdx="0" presStyleCnt="4"/>
      <dgm:spPr bwMode="auto"/>
    </dgm:pt>
    <dgm:pt modelId="{E393DF60-1DE9-418A-AB47-82A3389DA76B}" type="pres">
      <dgm:prSet presAssocID="{036A0C62-8C9E-409E-A4DD-0798772382E9}" presName="connectorText" presStyleLbl="sibTrans2D1" presStyleIdx="0" presStyleCnt="4"/>
      <dgm:spPr bwMode="auto"/>
    </dgm:pt>
    <dgm:pt modelId="{B4D3ECBD-8C41-4B09-AE18-DEDA58EC0C24}" type="pres">
      <dgm:prSet presAssocID="{4B64480B-5164-4EA9-9870-F2EA1100B4BC}" presName="node" presStyleLbl="node1" presStyleIdx="1" presStyleCnt="5">
        <dgm:presLayoutVars>
          <dgm:bulletEnabled val="1"/>
        </dgm:presLayoutVars>
      </dgm:prSet>
      <dgm:spPr bwMode="auto"/>
    </dgm:pt>
    <dgm:pt modelId="{ACE3A502-771C-445A-B285-D49BA81CA857}" type="pres">
      <dgm:prSet presAssocID="{D3FD58D2-AAC3-48E5-A429-947C3559DFDF}" presName="sibTrans" presStyleLbl="sibTrans2D1" presStyleIdx="1" presStyleCnt="4"/>
      <dgm:spPr bwMode="auto"/>
    </dgm:pt>
    <dgm:pt modelId="{BC587457-31A7-46EB-B669-B5FF2333DD0D}" type="pres">
      <dgm:prSet presAssocID="{D3FD58D2-AAC3-48E5-A429-947C3559DFDF}" presName="connectorText" presStyleLbl="sibTrans2D1" presStyleIdx="1" presStyleCnt="4"/>
      <dgm:spPr bwMode="auto"/>
    </dgm:pt>
    <dgm:pt modelId="{90EBD26F-B1F9-44CF-BA0B-21A19EA50DD7}" type="pres">
      <dgm:prSet presAssocID="{A778E852-4C60-476A-BEFE-B7E2D46CEB9C}" presName="node" presStyleLbl="node1" presStyleIdx="2" presStyleCnt="5">
        <dgm:presLayoutVars>
          <dgm:bulletEnabled val="1"/>
        </dgm:presLayoutVars>
      </dgm:prSet>
      <dgm:spPr bwMode="auto"/>
    </dgm:pt>
    <dgm:pt modelId="{16C4762A-7AC1-4A49-BF8E-6369D26B1327}" type="pres">
      <dgm:prSet presAssocID="{A80F9A1E-8478-4679-A569-5EC0194D0635}" presName="sibTrans" presStyleLbl="sibTrans2D1" presStyleIdx="2" presStyleCnt="4"/>
      <dgm:spPr bwMode="auto"/>
    </dgm:pt>
    <dgm:pt modelId="{92D7F457-1AD5-4200-8203-3652EC313F47}" type="pres">
      <dgm:prSet presAssocID="{A80F9A1E-8478-4679-A569-5EC0194D0635}" presName="connectorText" presStyleLbl="sibTrans2D1" presStyleIdx="2" presStyleCnt="4"/>
      <dgm:spPr bwMode="auto"/>
    </dgm:pt>
    <dgm:pt modelId="{DA3DB5C4-53E9-4302-A1F2-5805737A2BF8}" type="pres">
      <dgm:prSet presAssocID="{0E5F533D-AFC8-48CD-B2A9-CB24DF412564}" presName="node" presStyleLbl="node1" presStyleIdx="3" presStyleCnt="5">
        <dgm:presLayoutVars>
          <dgm:bulletEnabled val="1"/>
        </dgm:presLayoutVars>
      </dgm:prSet>
      <dgm:spPr bwMode="auto"/>
    </dgm:pt>
    <dgm:pt modelId="{DA63892B-DC50-4DBC-AC9A-B77CB78F5C9A}" type="pres">
      <dgm:prSet presAssocID="{C00AC65E-E30C-4E3C-B9F7-36CA3D2B80FF}" presName="sibTrans" presStyleLbl="sibTrans2D1" presStyleIdx="3" presStyleCnt="4"/>
      <dgm:spPr bwMode="auto"/>
    </dgm:pt>
    <dgm:pt modelId="{B35AF45E-0FF3-4408-B1CA-EE8D97F26E9B}" type="pres">
      <dgm:prSet presAssocID="{C00AC65E-E30C-4E3C-B9F7-36CA3D2B80FF}" presName="connectorText" presStyleLbl="sibTrans2D1" presStyleIdx="3" presStyleCnt="4"/>
      <dgm:spPr bwMode="auto"/>
    </dgm:pt>
    <dgm:pt modelId="{61142076-9BD6-4C6E-93B3-42B4984DFC32}" type="pres">
      <dgm:prSet presAssocID="{58C15011-EA5E-45D6-9D55-57DA208DC9B9}" presName="node" presStyleLbl="node1" presStyleIdx="4" presStyleCnt="5">
        <dgm:presLayoutVars>
          <dgm:bulletEnabled val="1"/>
        </dgm:presLayoutVars>
      </dgm:prSet>
      <dgm:spPr bwMode="auto"/>
    </dgm:pt>
  </dgm:ptLst>
  <dgm:cxnLst>
    <dgm:cxn modelId="{C69A2800-67A1-4892-90B4-5836D8FE7E1C}" type="presOf" srcId="{C00AC65E-E30C-4E3C-B9F7-36CA3D2B80FF}" destId="{DA63892B-DC50-4DBC-AC9A-B77CB78F5C9A}" srcOrd="0" destOrd="0" presId="urn:microsoft.com/office/officeart/2005/8/layout/process5"/>
    <dgm:cxn modelId="{DDB7AB1E-3EFD-4EE1-826E-F80806410C9B}" type="presOf" srcId="{D3FD58D2-AAC3-48E5-A429-947C3559DFDF}" destId="{BC587457-31A7-46EB-B669-B5FF2333DD0D}" srcOrd="1" destOrd="0" presId="urn:microsoft.com/office/officeart/2005/8/layout/process5"/>
    <dgm:cxn modelId="{7EB14E25-F764-4DD9-9B6A-1BB8C3BB82DD}" type="presOf" srcId="{036A0C62-8C9E-409E-A4DD-0798772382E9}" destId="{4A0C5697-1D9F-4812-A2A8-60C67CFFBE6A}" srcOrd="0" destOrd="0" presId="urn:microsoft.com/office/officeart/2005/8/layout/process5"/>
    <dgm:cxn modelId="{FA96E434-E0B9-4F84-A169-7E1A5BF40E73}" type="presOf" srcId="{58C15011-EA5E-45D6-9D55-57DA208DC9B9}" destId="{61142076-9BD6-4C6E-93B3-42B4984DFC32}" srcOrd="0" destOrd="0" presId="urn:microsoft.com/office/officeart/2005/8/layout/process5"/>
    <dgm:cxn modelId="{ECBC1A3F-1A25-4283-9635-48E95BBFE7F1}" type="presOf" srcId="{0E5F533D-AFC8-48CD-B2A9-CB24DF412564}" destId="{DA3DB5C4-53E9-4302-A1F2-5805737A2BF8}" srcOrd="0" destOrd="0" presId="urn:microsoft.com/office/officeart/2005/8/layout/process5"/>
    <dgm:cxn modelId="{33E87462-C7AD-4991-99D3-CDD4CC3BFAD1}" type="presOf" srcId="{A80F9A1E-8478-4679-A569-5EC0194D0635}" destId="{92D7F457-1AD5-4200-8203-3652EC313F47}" srcOrd="1" destOrd="0" presId="urn:microsoft.com/office/officeart/2005/8/layout/process5"/>
    <dgm:cxn modelId="{84D6A245-81F7-445E-9FFB-20D11CAD62AB}" type="parOf" srcId="{894C17BB-F395-4318-AB1B-962FBEABD608}" destId="{A778E852-4C60-476A-BEFE-B7E2D46CEB9C}" srcOrd="2" destOrd="0" parTransId="{A740FB86-3D3C-4920-95B4-121D57BC4948}" sibTransId="{A80F9A1E-8478-4679-A569-5EC0194D0635}"/>
    <dgm:cxn modelId="{6E4D9E8A-F7D4-4F12-8C96-3CCFEEEFFE14}" type="presOf" srcId="{036A0C62-8C9E-409E-A4DD-0798772382E9}" destId="{E393DF60-1DE9-418A-AB47-82A3389DA76B}" srcOrd="1" destOrd="0" presId="urn:microsoft.com/office/officeart/2005/8/layout/process5"/>
    <dgm:cxn modelId="{E0C4608E-417B-45C1-B4BF-DFE91718D1E7}" type="presOf" srcId="{C00AC65E-E30C-4E3C-B9F7-36CA3D2B80FF}" destId="{B35AF45E-0FF3-4408-B1CA-EE8D97F26E9B}" srcOrd="1" destOrd="0" presId="urn:microsoft.com/office/officeart/2005/8/layout/process5"/>
    <dgm:cxn modelId="{31C0199D-3D02-4221-B8A8-7771F55C5809}" type="parOf" srcId="{894C17BB-F395-4318-AB1B-962FBEABD608}" destId="{0E5F533D-AFC8-48CD-B2A9-CB24DF412564}" srcOrd="3" destOrd="0" parTransId="{43A49033-0F1C-436E-A6CD-3100A50F9401}" sibTransId="{C00AC65E-E30C-4E3C-B9F7-36CA3D2B80FF}"/>
    <dgm:cxn modelId="{A5B0B0A6-E5FA-41CF-9526-330FE0BA0A2D}" type="presOf" srcId="{FD644E90-BF78-4A15-9ABE-E698F2980732}" destId="{EA79F6ED-B242-48AD-907E-C6A1BA32147B}" srcOrd="0" destOrd="0" presId="urn:microsoft.com/office/officeart/2005/8/layout/process5"/>
    <dgm:cxn modelId="{99FF65C1-FA76-47FC-8DF3-C86DD1B04479}" type="presOf" srcId="{A80F9A1E-8478-4679-A569-5EC0194D0635}" destId="{16C4762A-7AC1-4A49-BF8E-6369D26B1327}" srcOrd="0" destOrd="0" presId="urn:microsoft.com/office/officeart/2005/8/layout/process5"/>
    <dgm:cxn modelId="{18157AC2-279C-4FCB-A4B7-074C2B9C114E}" type="presOf" srcId="{894C17BB-F395-4318-AB1B-962FBEABD608}" destId="{B6D3AC67-A494-4ACA-84A1-5F999D5CF0AB}" srcOrd="0" destOrd="0" presId="urn:microsoft.com/office/officeart/2005/8/layout/process5"/>
    <dgm:cxn modelId="{66594BC3-AC04-4897-ADF8-3E04361B4AF2}" type="parOf" srcId="{894C17BB-F395-4318-AB1B-962FBEABD608}" destId="{58C15011-EA5E-45D6-9D55-57DA208DC9B9}" srcOrd="4" destOrd="0" parTransId="{6B5C7C76-7A64-4750-A5ED-8DDC9EBF55BE}" sibTransId="{1AF05EDC-66CD-43CC-B7C0-66B467A6CF9E}"/>
    <dgm:cxn modelId="{6A6A59C4-E496-450F-B444-5554560F11BF}" type="parOf" srcId="{894C17BB-F395-4318-AB1B-962FBEABD608}" destId="{FD644E90-BF78-4A15-9ABE-E698F2980732}" srcOrd="0" destOrd="0" parTransId="{D128191B-82DF-4EF1-8BE2-7EDDA97946F6}" sibTransId="{036A0C62-8C9E-409E-A4DD-0798772382E9}"/>
    <dgm:cxn modelId="{FF43DAC7-8B23-4F1F-AD81-E6AA3A00BAD6}" type="presOf" srcId="{4B64480B-5164-4EA9-9870-F2EA1100B4BC}" destId="{B4D3ECBD-8C41-4B09-AE18-DEDA58EC0C24}" srcOrd="0" destOrd="0" presId="urn:microsoft.com/office/officeart/2005/8/layout/process5"/>
    <dgm:cxn modelId="{31B472D4-C2A2-41DA-A783-A31662DFD27E}" type="presOf" srcId="{A778E852-4C60-476A-BEFE-B7E2D46CEB9C}" destId="{90EBD26F-B1F9-44CF-BA0B-21A19EA50DD7}" srcOrd="0" destOrd="0" presId="urn:microsoft.com/office/officeart/2005/8/layout/process5"/>
    <dgm:cxn modelId="{BBE34AE6-7AAC-4C46-A0FF-31BF4ED02880}" type="parOf" srcId="{894C17BB-F395-4318-AB1B-962FBEABD608}" destId="{4B64480B-5164-4EA9-9870-F2EA1100B4BC}" srcOrd="1" destOrd="0" parTransId="{F57DC908-5826-48C9-943B-077BEC4E35A1}" sibTransId="{D3FD58D2-AAC3-48E5-A429-947C3559DFDF}"/>
    <dgm:cxn modelId="{BAC8DEF0-4D30-40A4-B9C4-7D1997068D01}" type="presOf" srcId="{D3FD58D2-AAC3-48E5-A429-947C3559DFDF}" destId="{ACE3A502-771C-445A-B285-D49BA81CA857}" srcOrd="0" destOrd="0" presId="urn:microsoft.com/office/officeart/2005/8/layout/process5"/>
    <dgm:cxn modelId="{C4264C0D-C3D2-4B49-AA43-FE79A4B2FF43}" type="presParOf" srcId="{B6D3AC67-A494-4ACA-84A1-5F999D5CF0AB}" destId="{EA79F6ED-B242-48AD-907E-C6A1BA32147B}" srcOrd="0" destOrd="0" presId="urn:microsoft.com/office/officeart/2005/8/layout/process5"/>
    <dgm:cxn modelId="{79067B15-E195-46DA-AA15-8DB424014E3A}" type="presParOf" srcId="{B6D3AC67-A494-4ACA-84A1-5F999D5CF0AB}" destId="{4A0C5697-1D9F-4812-A2A8-60C67CFFBE6A}" srcOrd="1" destOrd="0" presId="urn:microsoft.com/office/officeart/2005/8/layout/process5"/>
    <dgm:cxn modelId="{02C8A692-EC1B-4E2A-B7C2-312DC96C2AC9}" type="presParOf" srcId="{4A0C5697-1D9F-4812-A2A8-60C67CFFBE6A}" destId="{E393DF60-1DE9-418A-AB47-82A3389DA76B}" srcOrd="0" destOrd="0" presId="urn:microsoft.com/office/officeart/2005/8/layout/process5"/>
    <dgm:cxn modelId="{C5376885-0B34-4BE3-A956-AD7FB7EEF585}" type="presParOf" srcId="{B6D3AC67-A494-4ACA-84A1-5F999D5CF0AB}" destId="{B4D3ECBD-8C41-4B09-AE18-DEDA58EC0C24}" srcOrd="2" destOrd="0" presId="urn:microsoft.com/office/officeart/2005/8/layout/process5"/>
    <dgm:cxn modelId="{2457A31D-4752-4DC1-8E99-FFE2205C6C67}" type="presParOf" srcId="{B6D3AC67-A494-4ACA-84A1-5F999D5CF0AB}" destId="{ACE3A502-771C-445A-B285-D49BA81CA857}" srcOrd="3" destOrd="0" presId="urn:microsoft.com/office/officeart/2005/8/layout/process5"/>
    <dgm:cxn modelId="{4CE5A99D-1AB5-4B6C-B2AB-5FD18B5C6065}" type="presParOf" srcId="{ACE3A502-771C-445A-B285-D49BA81CA857}" destId="{BC587457-31A7-46EB-B669-B5FF2333DD0D}" srcOrd="0" destOrd="0" presId="urn:microsoft.com/office/officeart/2005/8/layout/process5"/>
    <dgm:cxn modelId="{E80D8791-609B-414C-83FB-16F8A814856E}" type="presParOf" srcId="{B6D3AC67-A494-4ACA-84A1-5F999D5CF0AB}" destId="{90EBD26F-B1F9-44CF-BA0B-21A19EA50DD7}" srcOrd="4" destOrd="0" presId="urn:microsoft.com/office/officeart/2005/8/layout/process5"/>
    <dgm:cxn modelId="{3C13B7A0-BBDE-4039-BAAE-F463CC60B360}" type="presParOf" srcId="{B6D3AC67-A494-4ACA-84A1-5F999D5CF0AB}" destId="{16C4762A-7AC1-4A49-BF8E-6369D26B1327}" srcOrd="5" destOrd="0" presId="urn:microsoft.com/office/officeart/2005/8/layout/process5"/>
    <dgm:cxn modelId="{D7E97C89-0AA2-45BB-99F0-BB9D008923F7}" type="presParOf" srcId="{16C4762A-7AC1-4A49-BF8E-6369D26B1327}" destId="{92D7F457-1AD5-4200-8203-3652EC313F47}" srcOrd="0" destOrd="0" presId="urn:microsoft.com/office/officeart/2005/8/layout/process5"/>
    <dgm:cxn modelId="{07810DEF-3AD9-48AD-BA73-FCA5DE248298}" type="presParOf" srcId="{B6D3AC67-A494-4ACA-84A1-5F999D5CF0AB}" destId="{DA3DB5C4-53E9-4302-A1F2-5805737A2BF8}" srcOrd="6" destOrd="0" presId="urn:microsoft.com/office/officeart/2005/8/layout/process5"/>
    <dgm:cxn modelId="{84FBD8B9-FCDB-4C3D-82F1-169641692C0B}" type="presParOf" srcId="{B6D3AC67-A494-4ACA-84A1-5F999D5CF0AB}" destId="{DA63892B-DC50-4DBC-AC9A-B77CB78F5C9A}" srcOrd="7" destOrd="0" presId="urn:microsoft.com/office/officeart/2005/8/layout/process5"/>
    <dgm:cxn modelId="{18FC68F6-0ADC-4C5B-9466-A6300C9B6A0C}" type="presParOf" srcId="{DA63892B-DC50-4DBC-AC9A-B77CB78F5C9A}" destId="{B35AF45E-0FF3-4408-B1CA-EE8D97F26E9B}" srcOrd="0" destOrd="0" presId="urn:microsoft.com/office/officeart/2005/8/layout/process5"/>
    <dgm:cxn modelId="{073CEADE-F1F9-40CA-BC4D-02133056C6DD}" type="presParOf" srcId="{B6D3AC67-A494-4ACA-84A1-5F999D5CF0AB}" destId="{61142076-9BD6-4C6E-93B3-42B4984DFC32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095EA630-281E-4238-A2DD-7218C1DE424A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 bwMode="auto"/>
    </dgm:pt>
    <dgm:pt modelId="{EEA18F8A-9D56-4FD0-ADCA-2DC763C8E2B3}" type="node">
      <dgm:prSet phldr="0" phldrT="[Text]"/>
      <dgm:spPr bwMode="auto"/>
      <dgm:t>
        <a:bodyPr/>
        <a:lstStyle/>
        <a:p>
          <a:pPr rtl="0">
            <a:defRPr/>
          </a:pPr>
          <a:r>
            <a:rPr lang="de-DE">
              <a:solidFill>
                <a:srgbClr val="FFFFFF"/>
              </a:solidFill>
              <a:latin typeface="Aptos"/>
            </a:rPr>
            <a:t>Software </a:t>
          </a:r>
          <a:r>
            <a:rPr lang="de-DE">
              <a:solidFill>
                <a:srgbClr val="FFFFFF"/>
              </a:solidFill>
              <a:latin typeface="Aptos"/>
            </a:rPr>
            <a:t>installation</a:t>
          </a:r>
          <a:r>
            <a:rPr lang="de-DE">
              <a:solidFill>
                <a:srgbClr val="FFFFFF"/>
              </a:solidFill>
              <a:latin typeface="Aptos"/>
            </a:rPr>
            <a:t> w </a:t>
          </a:r>
          <a:r>
            <a:rPr lang="de-DE">
              <a:solidFill>
                <a:srgbClr val="FFFFFF"/>
              </a:solidFill>
              <a:latin typeface="Aptos"/>
            </a:rPr>
            <a:t>required</a:t>
          </a:r>
          <a:r>
            <a:rPr lang="de-DE">
              <a:solidFill>
                <a:srgbClr val="FFFFFF"/>
              </a:solidFill>
              <a:latin typeface="Aptos"/>
            </a:rPr>
            <a:t> </a:t>
          </a:r>
          <a:r>
            <a:rPr lang="de-DE">
              <a:solidFill>
                <a:srgbClr val="FFFFFF"/>
              </a:solidFill>
              <a:latin typeface="Aptos"/>
            </a:rPr>
            <a:t>packages</a:t>
          </a:r>
          <a:r>
            <a:rPr lang="de-DE">
              <a:solidFill>
                <a:srgbClr val="FFFFFF"/>
              </a:solidFill>
              <a:latin typeface="Aptos"/>
            </a:rPr>
            <a:t>. </a:t>
          </a:r>
          <a:r>
            <a:rPr lang="de-DE">
              <a:solidFill>
                <a:srgbClr val="FFFFFF"/>
              </a:solidFill>
              <a:latin typeface="Aptos"/>
            </a:rPr>
            <a:t>Provide</a:t>
          </a:r>
          <a:r>
            <a:rPr lang="de-DE">
              <a:solidFill>
                <a:srgbClr val="FFFFFF"/>
              </a:solidFill>
              <a:latin typeface="Aptos"/>
            </a:rPr>
            <a:t> </a:t>
          </a:r>
          <a:r>
            <a:rPr lang="de-DE">
              <a:solidFill>
                <a:srgbClr val="FFFFFF"/>
              </a:solidFill>
              <a:latin typeface="Aptos"/>
            </a:rPr>
            <a:t>executable</a:t>
          </a:r>
          <a:r>
            <a:rPr lang="de-DE">
              <a:solidFill>
                <a:srgbClr val="FFFFFF"/>
              </a:solidFill>
              <a:latin typeface="Aptos"/>
            </a:rPr>
            <a:t> (</a:t>
          </a:r>
          <a:r>
            <a:rPr lang="de-DE">
              <a:solidFill>
                <a:srgbClr val="FFFFFF"/>
              </a:solidFill>
              <a:latin typeface="Aptos"/>
            </a:rPr>
            <a:t>lmp</a:t>
          </a:r>
          <a:r>
            <a:rPr lang="de-DE">
              <a:solidFill>
                <a:srgbClr val="FFFFFF"/>
              </a:solidFill>
              <a:latin typeface="Aptos"/>
            </a:rPr>
            <a:t>)</a:t>
          </a:r>
          <a:endParaRPr lang="de-DE">
            <a:solidFill>
              <a:srgbClr val="000000"/>
            </a:solidFill>
            <a:latin typeface="Aptos Display"/>
          </a:endParaRPr>
        </a:p>
      </dgm:t>
    </dgm:pt>
    <dgm:pt modelId="{C740D5AF-D4F7-45FD-A648-8CEAEB01B575}" type="parTrans" cxnId="{A54B5EDB-D9EE-43E8-9EA3-51BF391B276B}">
      <dgm:prSet/>
      <dgm:spPr bwMode="auto"/>
    </dgm:pt>
    <dgm:pt modelId="{9FBDFB8B-8351-405D-A8AF-38F29389AC0C}" type="sibTrans" cxnId="{A54B5EDB-D9EE-43E8-9EA3-51BF391B276B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4B96DAD9-2AE3-4298-B191-A5E6410A6631}" type="node">
      <dgm:prSet phldr="0"/>
      <dgm:spPr bwMode="auto"/>
      <dgm:t>
        <a:bodyPr/>
        <a:lstStyle/>
        <a:p>
          <a:pPr algn="ctr" rtl="0">
            <a:defRPr/>
          </a:pPr>
          <a:r>
            <a:rPr lang="de-DE">
              <a:solidFill>
                <a:srgbClr val="FFFFFF"/>
              </a:solidFill>
              <a:latin typeface="Aptos"/>
            </a:rPr>
            <a:t> </a:t>
          </a:r>
          <a:r>
            <a:rPr lang="de-DE" sz="1600">
              <a:solidFill>
                <a:srgbClr val="FFFFFF"/>
              </a:solidFill>
              <a:latin typeface="Aptos"/>
            </a:rPr>
            <a:t>Input </a:t>
          </a:r>
          <a:r>
            <a:rPr lang="de-DE" sz="1600">
              <a:latin typeface="Aptos"/>
            </a:rPr>
            <a:t>file</a:t>
          </a:r>
          <a:r>
            <a:rPr lang="de-DE" sz="1600">
              <a:latin typeface="Aptos"/>
            </a:rPr>
            <a:t> user_script.in</a:t>
          </a:r>
          <a:r>
            <a:rPr lang="de-DE" sz="1600">
              <a:solidFill>
                <a:srgbClr val="000000"/>
              </a:solidFill>
              <a:latin typeface="Aptos"/>
            </a:rPr>
            <a:t>. </a:t>
          </a:r>
          <a:r>
            <a:rPr lang="de-DE" sz="1600">
              <a:solidFill>
                <a:srgbClr val="FFFFFF"/>
              </a:solidFill>
              <a:latin typeface="Aptos"/>
            </a:rPr>
            <a:t>Required</a:t>
          </a:r>
          <a:r>
            <a:rPr lang="de-DE" sz="1600">
              <a:solidFill>
                <a:srgbClr val="FFFFFF"/>
              </a:solidFill>
              <a:latin typeface="Aptos"/>
            </a:rPr>
            <a:t>: Potentials &amp; Atoms topology</a:t>
          </a:r>
          <a:endParaRPr lang="en-US" sz="1600">
            <a:solidFill>
              <a:srgbClr val="000000"/>
            </a:solidFill>
            <a:latin typeface="Aptos"/>
          </a:endParaRPr>
        </a:p>
      </dgm:t>
    </dgm:pt>
    <dgm:pt modelId="{B19F80C6-EE78-42F2-B777-366ECD4C0460}" type="parTrans" cxnId="{5C29F7AE-20DE-43AB-9855-7096418337E6}">
      <dgm:prSet/>
      <dgm:spPr bwMode="auto"/>
    </dgm:pt>
    <dgm:pt modelId="{3DBFE53F-20C5-4C64-B9C8-1660750664C9}" type="sibTrans" cxnId="{5C29F7AE-20DE-43AB-9855-7096418337E6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80C971AE-D0F1-4681-BBFC-A924A1AA1EB7}" type="node">
      <dgm:prSet phldr="0"/>
      <dgm:spPr bwMode="auto"/>
      <dgm:t>
        <a:bodyPr/>
        <a:lstStyle/>
        <a:p>
          <a:pPr rtl="0">
            <a:defRPr/>
          </a:pPr>
          <a:r>
            <a:rPr lang="de-DE">
              <a:latin typeface="Aptos"/>
            </a:rPr>
            <a:t>Output files</a:t>
          </a:r>
          <a:endParaRPr/>
        </a:p>
      </dgm:t>
    </dgm:pt>
    <dgm:pt modelId="{05B023B5-C873-4880-ADAD-828149B2EA59}" type="parTrans" cxnId="{BDA97B5E-E7DC-4A7A-A2EF-A0CB2DDF9F32}">
      <dgm:prSet/>
      <dgm:spPr bwMode="auto"/>
    </dgm:pt>
    <dgm:pt modelId="{A35BBBB2-1D3D-476C-B885-2CBB1F7D7088}" type="sibTrans" cxnId="{BDA97B5E-E7DC-4A7A-A2EF-A0CB2DDF9F32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56EAD5D7-7B69-4E4D-BBCD-C2F24FA6FC40}" type="node">
      <dgm:prSet phldr="0"/>
      <dgm:spPr bwMode="auto"/>
      <dgm:t>
        <a:bodyPr/>
        <a:lstStyle/>
        <a:p>
          <a:pPr algn="ctr" rtl="0">
            <a:defRPr/>
          </a:pPr>
          <a:r>
            <a:rPr lang="de-DE">
              <a:solidFill>
                <a:srgbClr val="FFFFFF"/>
              </a:solidFill>
              <a:latin typeface="Aptos"/>
            </a:rPr>
            <a:t>Post </a:t>
          </a:r>
          <a:r>
            <a:rPr lang="de-DE">
              <a:solidFill>
                <a:srgbClr val="FFFFFF"/>
              </a:solidFill>
              <a:latin typeface="Aptos"/>
            </a:rPr>
            <a:t>processinging</a:t>
          </a:r>
          <a:r>
            <a:rPr lang="de-DE">
              <a:solidFill>
                <a:srgbClr val="FFFFFF"/>
              </a:solidFill>
              <a:latin typeface="Aptos"/>
            </a:rPr>
            <a:t> - </a:t>
          </a:r>
          <a:r>
            <a:rPr lang="de-DE">
              <a:solidFill>
                <a:srgbClr val="FFFFFF"/>
              </a:solidFill>
              <a:latin typeface="Aptos"/>
            </a:rPr>
            <a:t>visualization</a:t>
          </a:r>
          <a:r>
            <a:rPr lang="de-DE">
              <a:solidFill>
                <a:srgbClr val="FFFFFF"/>
              </a:solidFill>
              <a:latin typeface="Aptos"/>
            </a:rPr>
            <a:t> </a:t>
          </a:r>
          <a:r>
            <a:rPr lang="de-DE">
              <a:solidFill>
                <a:srgbClr val="FFFFFF"/>
              </a:solidFill>
              <a:latin typeface="Aptos"/>
            </a:rPr>
            <a:t>tools</a:t>
          </a:r>
          <a:endParaRPr lang="de-DE">
            <a:latin typeface="Aptos"/>
          </a:endParaRPr>
        </a:p>
      </dgm:t>
    </dgm:pt>
    <dgm:pt modelId="{424E15D3-1509-49A2-AAF5-F5066903E3AF}" type="parTrans" cxnId="{19DC5B24-3E4E-4C8E-9042-5E5593FE5B96}">
      <dgm:prSet/>
      <dgm:spPr bwMode="auto"/>
    </dgm:pt>
    <dgm:pt modelId="{06E8A5B2-3E0A-4FD5-BF33-B8B18B3AA251}" type="sibTrans" cxnId="{19DC5B24-3E4E-4C8E-9042-5E5593FE5B96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DAD0DAF1-E8E8-45FE-AFD8-BD0090356464}" type="pres">
      <dgm:prSet presAssocID="{095EA630-281E-4238-A2DD-7218C1DE424A}" presName="linearFlow" presStyleCnt="0">
        <dgm:presLayoutVars>
          <dgm:resizeHandles val="exact"/>
        </dgm:presLayoutVars>
      </dgm:prSet>
      <dgm:spPr bwMode="auto"/>
    </dgm:pt>
    <dgm:pt modelId="{EE6CA40E-C591-4C32-B605-6BB4DEF853AB}" type="pres">
      <dgm:prSet presAssocID="{EEA18F8A-9D56-4FD0-ADCA-2DC763C8E2B3}" presName="node" presStyleLbl="node1" presStyleIdx="0" presStyleCnt="4">
        <dgm:presLayoutVars>
          <dgm:bulletEnabled val="1"/>
        </dgm:presLayoutVars>
      </dgm:prSet>
      <dgm:spPr bwMode="auto"/>
    </dgm:pt>
    <dgm:pt modelId="{7A4BF618-9FE3-41CF-9621-C7C0B5CF8A24}" type="pres">
      <dgm:prSet presAssocID="{9FBDFB8B-8351-405D-A8AF-38F29389AC0C}" presName="sibTrans" presStyleLbl="sibTrans2D1" presStyleIdx="0" presStyleCnt="3"/>
      <dgm:spPr bwMode="auto"/>
    </dgm:pt>
    <dgm:pt modelId="{5F07942B-F7A6-4966-82ED-1F16DA396767}" type="pres">
      <dgm:prSet presAssocID="{9FBDFB8B-8351-405D-A8AF-38F29389AC0C}" presName="connectorText" presStyleLbl="sibTrans2D1" presStyleIdx="0" presStyleCnt="3"/>
      <dgm:spPr bwMode="auto"/>
    </dgm:pt>
    <dgm:pt modelId="{6903AC1C-3438-4037-8A99-4CE63E8143CF}" type="pres">
      <dgm:prSet presAssocID="{4B96DAD9-2AE3-4298-B191-A5E6410A6631}" presName="node" presStyleLbl="node1" presStyleIdx="1" presStyleCnt="4">
        <dgm:presLayoutVars>
          <dgm:bulletEnabled val="1"/>
        </dgm:presLayoutVars>
      </dgm:prSet>
      <dgm:spPr bwMode="auto"/>
    </dgm:pt>
    <dgm:pt modelId="{38112726-95B7-4EC3-B237-15F86EB8A056}" type="pres">
      <dgm:prSet presAssocID="{3DBFE53F-20C5-4C64-B9C8-1660750664C9}" presName="sibTrans" presStyleLbl="sibTrans2D1" presStyleIdx="1" presStyleCnt="3"/>
      <dgm:spPr bwMode="auto"/>
    </dgm:pt>
    <dgm:pt modelId="{45B126FD-B52D-4623-AF4B-4E108AE936BF}" type="pres">
      <dgm:prSet presAssocID="{3DBFE53F-20C5-4C64-B9C8-1660750664C9}" presName="connectorText" presStyleLbl="sibTrans2D1" presStyleIdx="1" presStyleCnt="3"/>
      <dgm:spPr bwMode="auto"/>
    </dgm:pt>
    <dgm:pt modelId="{9028E975-2580-4917-8106-5065450BD4E8}" type="pres">
      <dgm:prSet presAssocID="{80C971AE-D0F1-4681-BBFC-A924A1AA1EB7}" presName="node" presStyleLbl="node1" presStyleIdx="2" presStyleCnt="4">
        <dgm:presLayoutVars>
          <dgm:bulletEnabled val="1"/>
        </dgm:presLayoutVars>
      </dgm:prSet>
      <dgm:spPr bwMode="auto"/>
    </dgm:pt>
    <dgm:pt modelId="{55539AED-3657-4E00-A47C-635B4162C7A3}" type="pres">
      <dgm:prSet presAssocID="{A35BBBB2-1D3D-476C-B885-2CBB1F7D7088}" presName="sibTrans" presStyleLbl="sibTrans2D1" presStyleIdx="2" presStyleCnt="3"/>
      <dgm:spPr bwMode="auto"/>
    </dgm:pt>
    <dgm:pt modelId="{EA957C9A-F992-441F-8B97-43C4AC89F45D}" type="pres">
      <dgm:prSet presAssocID="{A35BBBB2-1D3D-476C-B885-2CBB1F7D7088}" presName="connectorText" presStyleLbl="sibTrans2D1" presStyleIdx="2" presStyleCnt="3"/>
      <dgm:spPr bwMode="auto"/>
    </dgm:pt>
    <dgm:pt modelId="{74EADDCA-607B-45BE-ABE0-CAF48E7B2C88}" type="pres">
      <dgm:prSet presAssocID="{56EAD5D7-7B69-4E4D-BBCD-C2F24FA6FC40}" presName="node" presStyleLbl="node1" presStyleIdx="3" presStyleCnt="4">
        <dgm:presLayoutVars>
          <dgm:bulletEnabled val="1"/>
        </dgm:presLayoutVars>
      </dgm:prSet>
      <dgm:spPr bwMode="auto"/>
    </dgm:pt>
  </dgm:ptLst>
  <dgm:cxnLst>
    <dgm:cxn modelId="{1E290016-6CFC-43ED-8CA4-7027E821BEAC}" type="presOf" srcId="{095EA630-281E-4238-A2DD-7218C1DE424A}" destId="{DAD0DAF1-E8E8-45FE-AFD8-BD0090356464}" srcOrd="0" destOrd="0" presId="urn:microsoft.com/office/officeart/2005/8/layout/process2"/>
    <dgm:cxn modelId="{4B34D417-33FA-4DD5-B616-1395DEEEC983}" type="presOf" srcId="{3DBFE53F-20C5-4C64-B9C8-1660750664C9}" destId="{38112726-95B7-4EC3-B237-15F86EB8A056}" srcOrd="0" destOrd="0" presId="urn:microsoft.com/office/officeart/2005/8/layout/process2"/>
    <dgm:cxn modelId="{19DC5B24-3E4E-4C8E-9042-5E5593FE5B96}" type="parOf" srcId="{095EA630-281E-4238-A2DD-7218C1DE424A}" destId="{56EAD5D7-7B69-4E4D-BBCD-C2F24FA6FC40}" srcOrd="3" destOrd="0" parTransId="{424E15D3-1509-49A2-AAF5-F5066903E3AF}" sibTransId="{06E8A5B2-3E0A-4FD5-BF33-B8B18B3AA251}"/>
    <dgm:cxn modelId="{DCF4EC32-9ECB-4ABB-BD4E-DC0DC242841F}" type="presOf" srcId="{A35BBBB2-1D3D-476C-B885-2CBB1F7D7088}" destId="{55539AED-3657-4E00-A47C-635B4162C7A3}" srcOrd="0" destOrd="0" presId="urn:microsoft.com/office/officeart/2005/8/layout/process2"/>
    <dgm:cxn modelId="{F563D13A-9235-4B2E-8D27-FF5E5824798A}" type="presOf" srcId="{4B96DAD9-2AE3-4298-B191-A5E6410A6631}" destId="{6903AC1C-3438-4037-8A99-4CE63E8143CF}" srcOrd="0" destOrd="0" presId="urn:microsoft.com/office/officeart/2005/8/layout/process2"/>
    <dgm:cxn modelId="{F348C93B-7AFA-4121-9573-FF98740F7B7D}" type="presOf" srcId="{A35BBBB2-1D3D-476C-B885-2CBB1F7D7088}" destId="{EA957C9A-F992-441F-8B97-43C4AC89F45D}" srcOrd="1" destOrd="0" presId="urn:microsoft.com/office/officeart/2005/8/layout/process2"/>
    <dgm:cxn modelId="{98329D5D-DDCA-40F2-A7EA-DD0CF6EE7EE5}" type="presOf" srcId="{9FBDFB8B-8351-405D-A8AF-38F29389AC0C}" destId="{7A4BF618-9FE3-41CF-9621-C7C0B5CF8A24}" srcOrd="0" destOrd="0" presId="urn:microsoft.com/office/officeart/2005/8/layout/process2"/>
    <dgm:cxn modelId="{BDA97B5E-E7DC-4A7A-A2EF-A0CB2DDF9F32}" type="parOf" srcId="{095EA630-281E-4238-A2DD-7218C1DE424A}" destId="{80C971AE-D0F1-4681-BBFC-A924A1AA1EB7}" srcOrd="2" destOrd="0" parTransId="{05B023B5-C873-4880-ADAD-828149B2EA59}" sibTransId="{A35BBBB2-1D3D-476C-B885-2CBB1F7D7088}"/>
    <dgm:cxn modelId="{8FFD6B68-82D8-46AA-BB42-E6C20DE3C308}" type="presOf" srcId="{80C971AE-D0F1-4681-BBFC-A924A1AA1EB7}" destId="{9028E975-2580-4917-8106-5065450BD4E8}" srcOrd="0" destOrd="0" presId="urn:microsoft.com/office/officeart/2005/8/layout/process2"/>
    <dgm:cxn modelId="{2FF61A4C-BD1A-4A45-B185-4673CDFCDC22}" type="presOf" srcId="{3DBFE53F-20C5-4C64-B9C8-1660750664C9}" destId="{45B126FD-B52D-4623-AF4B-4E108AE936BF}" srcOrd="1" destOrd="0" presId="urn:microsoft.com/office/officeart/2005/8/layout/process2"/>
    <dgm:cxn modelId="{A74DC181-C311-4138-BDF9-AC5FD8FAEBBC}" type="presOf" srcId="{9FBDFB8B-8351-405D-A8AF-38F29389AC0C}" destId="{5F07942B-F7A6-4966-82ED-1F16DA396767}" srcOrd="1" destOrd="0" presId="urn:microsoft.com/office/officeart/2005/8/layout/process2"/>
    <dgm:cxn modelId="{5C29F7AE-20DE-43AB-9855-7096418337E6}" type="parOf" srcId="{095EA630-281E-4238-A2DD-7218C1DE424A}" destId="{4B96DAD9-2AE3-4298-B191-A5E6410A6631}" srcOrd="1" destOrd="0" parTransId="{B19F80C6-EE78-42F2-B777-366ECD4C0460}" sibTransId="{3DBFE53F-20C5-4C64-B9C8-1660750664C9}"/>
    <dgm:cxn modelId="{A54B5EDB-D9EE-43E8-9EA3-51BF391B276B}" type="parOf" srcId="{095EA630-281E-4238-A2DD-7218C1DE424A}" destId="{EEA18F8A-9D56-4FD0-ADCA-2DC763C8E2B3}" srcOrd="0" destOrd="0" parTransId="{C740D5AF-D4F7-45FD-A648-8CEAEB01B575}" sibTransId="{9FBDFB8B-8351-405D-A8AF-38F29389AC0C}"/>
    <dgm:cxn modelId="{E0B1B8E0-E1C5-491A-A54E-888430767BC0}" type="presOf" srcId="{EEA18F8A-9D56-4FD0-ADCA-2DC763C8E2B3}" destId="{EE6CA40E-C591-4C32-B605-6BB4DEF853AB}" srcOrd="0" destOrd="0" presId="urn:microsoft.com/office/officeart/2005/8/layout/process2"/>
    <dgm:cxn modelId="{32019BFA-98A5-46BA-BFF6-FE82717DACD5}" type="presOf" srcId="{56EAD5D7-7B69-4E4D-BBCD-C2F24FA6FC40}" destId="{74EADDCA-607B-45BE-ABE0-CAF48E7B2C88}" srcOrd="0" destOrd="0" presId="urn:microsoft.com/office/officeart/2005/8/layout/process2"/>
    <dgm:cxn modelId="{70A884E7-7935-4EB0-B6E2-67FE07187FFE}" type="presParOf" srcId="{DAD0DAF1-E8E8-45FE-AFD8-BD0090356464}" destId="{EE6CA40E-C591-4C32-B605-6BB4DEF853AB}" srcOrd="0" destOrd="0" presId="urn:microsoft.com/office/officeart/2005/8/layout/process2"/>
    <dgm:cxn modelId="{300E3D02-22FA-4B84-A1E4-47E2A47E50CE}" type="presParOf" srcId="{DAD0DAF1-E8E8-45FE-AFD8-BD0090356464}" destId="{7A4BF618-9FE3-41CF-9621-C7C0B5CF8A24}" srcOrd="1" destOrd="0" presId="urn:microsoft.com/office/officeart/2005/8/layout/process2"/>
    <dgm:cxn modelId="{C92E20A1-AD2A-44AD-9214-DA1B848D7D4E}" type="presParOf" srcId="{7A4BF618-9FE3-41CF-9621-C7C0B5CF8A24}" destId="{5F07942B-F7A6-4966-82ED-1F16DA396767}" srcOrd="0" destOrd="0" presId="urn:microsoft.com/office/officeart/2005/8/layout/process2"/>
    <dgm:cxn modelId="{4A5AFB3A-CAF4-4CC9-B7C7-0F8C6970BE08}" type="presParOf" srcId="{DAD0DAF1-E8E8-45FE-AFD8-BD0090356464}" destId="{6903AC1C-3438-4037-8A99-4CE63E8143CF}" srcOrd="2" destOrd="0" presId="urn:microsoft.com/office/officeart/2005/8/layout/process2"/>
    <dgm:cxn modelId="{7CE7819F-DED3-41E9-9112-C177B7807E77}" type="presParOf" srcId="{DAD0DAF1-E8E8-45FE-AFD8-BD0090356464}" destId="{38112726-95B7-4EC3-B237-15F86EB8A056}" srcOrd="3" destOrd="0" presId="urn:microsoft.com/office/officeart/2005/8/layout/process2"/>
    <dgm:cxn modelId="{D3789746-E475-4C00-85B6-2BDC349AEB49}" type="presParOf" srcId="{38112726-95B7-4EC3-B237-15F86EB8A056}" destId="{45B126FD-B52D-4623-AF4B-4E108AE936BF}" srcOrd="0" destOrd="0" presId="urn:microsoft.com/office/officeart/2005/8/layout/process2"/>
    <dgm:cxn modelId="{3BADAFB5-9668-4C84-91B9-EF8BDFCBFAA9}" type="presParOf" srcId="{DAD0DAF1-E8E8-45FE-AFD8-BD0090356464}" destId="{9028E975-2580-4917-8106-5065450BD4E8}" srcOrd="4" destOrd="0" presId="urn:microsoft.com/office/officeart/2005/8/layout/process2"/>
    <dgm:cxn modelId="{C003C776-7016-429F-9016-4F34331071B6}" type="presParOf" srcId="{DAD0DAF1-E8E8-45FE-AFD8-BD0090356464}" destId="{55539AED-3657-4E00-A47C-635B4162C7A3}" srcOrd="5" destOrd="0" presId="urn:microsoft.com/office/officeart/2005/8/layout/process2"/>
    <dgm:cxn modelId="{3C05D04A-3A92-495F-B102-090E9F983954}" type="presParOf" srcId="{55539AED-3657-4E00-A47C-635B4162C7A3}" destId="{EA957C9A-F992-441F-8B97-43C4AC89F45D}" srcOrd="0" destOrd="0" presId="urn:microsoft.com/office/officeart/2005/8/layout/process2"/>
    <dgm:cxn modelId="{313F1BE1-572E-48BA-B6F5-F71AE9C0AFB3}" type="presParOf" srcId="{DAD0DAF1-E8E8-45FE-AFD8-BD0090356464}" destId="{74EADDCA-607B-45BE-ABE0-CAF48E7B2C88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354573328" name=""/>
      <dsp:cNvGrpSpPr/>
    </dsp:nvGrpSpPr>
    <dsp:grpSpPr bwMode="auto">
      <a:xfrm rot="0">
        <a:off x="0" y="0"/>
        <a:ext cx="10515600" cy="4351338"/>
        <a:chOff x="0" y="0"/>
        <a:chExt cx="10515600" cy="4351338"/>
      </a:xfrm>
    </dsp:grpSpPr>
    <dsp:sp modelId="{EA79F6ED-B242-48AD-907E-C6A1BA32147B}">
      <dsp:nvSpPr>
        <dsp:cNvPr id="0" name=""/>
        <dsp:cNvSpPr/>
      </dsp:nvSpPr>
      <dsp:spPr bwMode="auto">
        <a:xfrm rot="0" flipH="0" flipV="0">
          <a:off x="90586" y="0"/>
          <a:ext cx="2719586" cy="1631751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 rtl="0">
            <a:lnSpc>
              <a:spcPct val="90000"/>
            </a:lnSpc>
            <a:defRPr/>
          </a:pP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Define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lattice</a:t>
          </a:r>
          <a:r>
            <a:rPr lang="de-DE">
              <a:latin typeface="Aptos Display"/>
            </a:rPr>
            <a:t>, </a:t>
          </a:r>
          <a:r>
            <a:rPr lang="de-DE">
              <a:latin typeface="Aptos Display"/>
            </a:rPr>
            <a:t>assign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positions</a:t>
          </a:r>
          <a:r>
            <a:rPr lang="de-DE">
              <a:latin typeface="Aptos Display"/>
            </a:rPr>
            <a:t> and velocities, </a:t>
          </a:r>
          <a:r>
            <a:rPr lang="de-DE">
              <a:latin typeface="Aptos Display"/>
            </a:rPr>
            <a:t>create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neighbor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list</a:t>
          </a:r>
          <a:r>
            <a:rPr lang="de-DE">
              <a:latin typeface="Aptos Display"/>
            </a:rPr>
            <a:t> </a:t>
          </a:r>
          <a:endParaRPr lang="de-DE"/>
        </a:p>
      </dsp:txBody>
      <dsp:txXfrm rot="0">
        <a:off x="138378" y="47792"/>
        <a:ext cx="2624001" cy="1536166"/>
      </dsp:txXfrm>
    </dsp:sp>
    <dsp:sp modelId="{4A0C5697-1D9F-4812-A2A8-60C67CFFBE6A}">
      <dsp:nvSpPr>
        <dsp:cNvPr id="0" name=""/>
        <dsp:cNvSpPr/>
      </dsp:nvSpPr>
      <dsp:spPr bwMode="auto">
        <a:xfrm rot="0" flipH="0" flipV="0">
          <a:off x="3049495" y="478647"/>
          <a:ext cx="576552" cy="674457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B4D3ECBD-8C41-4B09-AE18-DEDA58EC0C24}">
      <dsp:nvSpPr>
        <dsp:cNvPr id="0" name=""/>
        <dsp:cNvSpPr/>
      </dsp:nvSpPr>
      <dsp:spPr bwMode="auto">
        <a:xfrm rot="0" flipH="0" flipV="0">
          <a:off x="3898006" y="0"/>
          <a:ext cx="2719586" cy="1631751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 rtl="0">
            <a:lnSpc>
              <a:spcPct val="90000"/>
            </a:lnSpc>
            <a:defRPr/>
          </a:pPr>
          <a:r>
            <a:rPr lang="de-DE">
              <a:latin typeface="Aptos Display"/>
            </a:rPr>
            <a:t>Apply boundry conditions - </a:t>
          </a:r>
          <a:r>
            <a:rPr lang="de-DE" sz="1100">
              <a:latin typeface="Calibri"/>
              <a:ea typeface="Calibri"/>
              <a:cs typeface="Calibri"/>
            </a:rPr>
            <a:t>set simulation parameters</a:t>
          </a:r>
          <a:r>
            <a:rPr lang="de-DE">
              <a:latin typeface="Aptos Display"/>
            </a:rPr>
            <a:t> </a:t>
          </a:r>
          <a:endParaRPr/>
        </a:p>
      </dsp:txBody>
      <dsp:txXfrm rot="0">
        <a:off x="3945799" y="47792"/>
        <a:ext cx="2624001" cy="1536166"/>
      </dsp:txXfrm>
    </dsp:sp>
    <dsp:sp modelId="{ACE3A502-771C-445A-B285-D49BA81CA857}">
      <dsp:nvSpPr>
        <dsp:cNvPr id="0" name=""/>
        <dsp:cNvSpPr/>
      </dsp:nvSpPr>
      <dsp:spPr bwMode="auto">
        <a:xfrm rot="0" flipH="0" flipV="0">
          <a:off x="6856916" y="478647"/>
          <a:ext cx="576552" cy="674457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90EBD26F-B1F9-44CF-BA0B-21A19EA50DD7}">
      <dsp:nvSpPr>
        <dsp:cNvPr id="0" name=""/>
        <dsp:cNvSpPr/>
      </dsp:nvSpPr>
      <dsp:spPr bwMode="auto">
        <a:xfrm rot="0" flipH="0" flipV="0">
          <a:off x="7705427" y="0"/>
          <a:ext cx="2719586" cy="1631751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 rtl="0">
            <a:lnSpc>
              <a:spcPct val="90000"/>
            </a:lnSpc>
            <a:defRPr/>
          </a:pPr>
          <a:r>
            <a:rPr lang="de-DE">
              <a:latin typeface="Aptos Display"/>
            </a:rPr>
            <a:t>Calculate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forces</a:t>
          </a:r>
          <a:r>
            <a:rPr lang="de-DE">
              <a:latin typeface="Aptos Display"/>
            </a:rPr>
            <a:t> on </a:t>
          </a:r>
          <a:r>
            <a:rPr lang="de-DE">
              <a:latin typeface="Aptos Display"/>
            </a:rPr>
            <a:t>each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atom</a:t>
          </a:r>
          <a:r>
            <a:rPr lang="de-DE">
              <a:latin typeface="Aptos Display"/>
            </a:rPr>
            <a:t>/</a:t>
          </a:r>
          <a:r>
            <a:rPr lang="de-DE">
              <a:latin typeface="Aptos Display"/>
            </a:rPr>
            <a:t>particle</a:t>
          </a:r>
          <a:endParaRPr lang="de-DE"/>
        </a:p>
      </dsp:txBody>
      <dsp:txXfrm rot="0">
        <a:off x="7753220" y="47792"/>
        <a:ext cx="2624001" cy="1536166"/>
      </dsp:txXfrm>
    </dsp:sp>
    <dsp:sp modelId="{16C4762A-7AC1-4A49-BF8E-6369D26B1327}">
      <dsp:nvSpPr>
        <dsp:cNvPr id="0" name=""/>
        <dsp:cNvSpPr/>
      </dsp:nvSpPr>
      <dsp:spPr bwMode="auto">
        <a:xfrm rot="5400000" flipH="0" flipV="0">
          <a:off x="8776944" y="1822122"/>
          <a:ext cx="576552" cy="674457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DA3DB5C4-53E9-4302-A1F2-5805737A2BF8}">
      <dsp:nvSpPr>
        <dsp:cNvPr id="0" name=""/>
        <dsp:cNvSpPr/>
      </dsp:nvSpPr>
      <dsp:spPr bwMode="auto">
        <a:xfrm rot="0" flipH="0" flipV="0">
          <a:off x="7705427" y="2719586"/>
          <a:ext cx="2719586" cy="1631751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 rtl="0">
            <a:lnSpc>
              <a:spcPct val="90000"/>
            </a:lnSpc>
            <a:defRPr/>
          </a:pPr>
          <a:r>
            <a:rPr lang="de-DE">
              <a:latin typeface="Aptos Display"/>
            </a:rPr>
            <a:t>Integartion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of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equation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of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motion</a:t>
          </a:r>
          <a:r>
            <a:rPr lang="de-DE">
              <a:latin typeface="Aptos Display"/>
            </a:rPr>
            <a:t>, </a:t>
          </a:r>
          <a:r>
            <a:rPr lang="de-DE">
              <a:latin typeface="Aptos Display"/>
            </a:rPr>
            <a:t>energy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minimization</a:t>
          </a:r>
          <a:r>
            <a:rPr lang="de-DE">
              <a:latin typeface="Aptos Display"/>
            </a:rPr>
            <a:t>  </a:t>
          </a:r>
          <a:endParaRPr lang="de-DE"/>
        </a:p>
      </dsp:txBody>
      <dsp:txXfrm rot="0">
        <a:off x="7753220" y="2767378"/>
        <a:ext cx="2624001" cy="1536166"/>
      </dsp:txXfrm>
    </dsp:sp>
    <dsp:sp modelId="{DA63892B-DC50-4DBC-AC9A-B77CB78F5C9A}">
      <dsp:nvSpPr>
        <dsp:cNvPr id="0" name=""/>
        <dsp:cNvSpPr/>
      </dsp:nvSpPr>
      <dsp:spPr bwMode="auto">
        <a:xfrm rot="10800000" flipH="0" flipV="0">
          <a:off x="6889551" y="3198233"/>
          <a:ext cx="576552" cy="674457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61142076-9BD6-4C6E-93B3-42B4984DFC32}">
      <dsp:nvSpPr>
        <dsp:cNvPr id="0" name=""/>
        <dsp:cNvSpPr/>
      </dsp:nvSpPr>
      <dsp:spPr bwMode="auto">
        <a:xfrm rot="0" flipH="0" flipV="0">
          <a:off x="3898006" y="2719586"/>
          <a:ext cx="2719586" cy="1631751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 rtl="0">
            <a:lnSpc>
              <a:spcPct val="90000"/>
            </a:lnSpc>
            <a:defRPr/>
          </a:pPr>
          <a:r>
            <a:rPr lang="de-DE">
              <a:latin typeface="Aptos Display"/>
            </a:rPr>
            <a:t>Compute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physical</a:t>
          </a:r>
          <a:r>
            <a:rPr lang="de-DE">
              <a:latin typeface="Aptos Display"/>
            </a:rPr>
            <a:t> </a:t>
          </a:r>
          <a:r>
            <a:rPr lang="de-DE">
              <a:latin typeface="Aptos Display"/>
            </a:rPr>
            <a:t>quantities</a:t>
          </a:r>
          <a:endParaRPr lang="de-DE"/>
        </a:p>
      </dsp:txBody>
      <dsp:txXfrm rot="0">
        <a:off x="3945799" y="2767378"/>
        <a:ext cx="2624001" cy="1536166"/>
      </dsp:txXfrm>
    </dsp:sp>
  </dsp:spTree>
</dsp:drawing>
</file>

<file path=ppt/diagrams/drawing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077837561" name=""/>
      <dsp:cNvGrpSpPr/>
    </dsp:nvGrpSpPr>
    <dsp:grpSpPr bwMode="auto">
      <a:xfrm rot="0">
        <a:off x="0" y="0"/>
        <a:ext cx="10515600" cy="4664488"/>
        <a:chOff x="0" y="0"/>
        <a:chExt cx="10515600" cy="4664488"/>
      </a:xfrm>
    </dsp:grpSpPr>
    <dsp:sp modelId="{EE6CA40E-C591-4C32-B605-6BB4DEF853AB}">
      <dsp:nvSpPr>
        <dsp:cNvPr id="1963078261" name=""/>
        <dsp:cNvSpPr/>
      </dsp:nvSpPr>
      <dsp:spPr bwMode="auto">
        <a:xfrm>
          <a:off x="4087521" y="2277"/>
          <a:ext cx="2340557" cy="847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600">
              <a:solidFill>
                <a:srgbClr val="FFFFFF"/>
              </a:solidFill>
              <a:latin typeface="Aptos"/>
            </a:rPr>
            <a:t>Software </a:t>
          </a:r>
          <a:r>
            <a:rPr lang="de-DE" sz="1600">
              <a:solidFill>
                <a:srgbClr val="FFFFFF"/>
              </a:solidFill>
              <a:latin typeface="Aptos"/>
            </a:rPr>
            <a:t>installation</a:t>
          </a:r>
          <a:r>
            <a:rPr lang="de-DE" sz="1600">
              <a:solidFill>
                <a:srgbClr val="FFFFFF"/>
              </a:solidFill>
              <a:latin typeface="Aptos"/>
            </a:rPr>
            <a:t> w </a:t>
          </a:r>
          <a:r>
            <a:rPr lang="de-DE" sz="1600">
              <a:solidFill>
                <a:srgbClr val="FFFFFF"/>
              </a:solidFill>
              <a:latin typeface="Aptos"/>
            </a:rPr>
            <a:t>required</a:t>
          </a:r>
          <a:r>
            <a:rPr lang="de-DE" sz="1600">
              <a:solidFill>
                <a:srgbClr val="FFFFFF"/>
              </a:solidFill>
              <a:latin typeface="Aptos"/>
            </a:rPr>
            <a:t> </a:t>
          </a:r>
          <a:r>
            <a:rPr lang="de-DE" sz="1600">
              <a:solidFill>
                <a:srgbClr val="FFFFFF"/>
              </a:solidFill>
              <a:latin typeface="Aptos"/>
            </a:rPr>
            <a:t>packages</a:t>
          </a:r>
          <a:r>
            <a:rPr lang="de-DE" sz="1600">
              <a:solidFill>
                <a:srgbClr val="FFFFFF"/>
              </a:solidFill>
              <a:latin typeface="Aptos"/>
            </a:rPr>
            <a:t>. </a:t>
          </a:r>
          <a:r>
            <a:rPr lang="de-DE" sz="1600">
              <a:solidFill>
                <a:srgbClr val="FFFFFF"/>
              </a:solidFill>
              <a:latin typeface="Aptos"/>
            </a:rPr>
            <a:t>Provide</a:t>
          </a:r>
          <a:r>
            <a:rPr lang="de-DE" sz="1600">
              <a:solidFill>
                <a:srgbClr val="FFFFFF"/>
              </a:solidFill>
              <a:latin typeface="Aptos"/>
            </a:rPr>
            <a:t> </a:t>
          </a:r>
          <a:r>
            <a:rPr lang="de-DE" sz="1600">
              <a:solidFill>
                <a:srgbClr val="FFFFFF"/>
              </a:solidFill>
              <a:latin typeface="Aptos"/>
            </a:rPr>
            <a:t>executable</a:t>
          </a:r>
          <a:r>
            <a:rPr lang="de-DE" sz="1600">
              <a:solidFill>
                <a:srgbClr val="FFFFFF"/>
              </a:solidFill>
              <a:latin typeface="Aptos"/>
            </a:rPr>
            <a:t> (</a:t>
          </a:r>
          <a:r>
            <a:rPr lang="de-DE" sz="1600">
              <a:solidFill>
                <a:srgbClr val="FFFFFF"/>
              </a:solidFill>
              <a:latin typeface="Aptos"/>
            </a:rPr>
            <a:t>lmp</a:t>
          </a:r>
          <a:r>
            <a:rPr lang="de-DE" sz="1600">
              <a:solidFill>
                <a:srgbClr val="FFFFFF"/>
              </a:solidFill>
              <a:latin typeface="Aptos"/>
            </a:rPr>
            <a:t>)</a:t>
          </a:r>
          <a:endParaRPr lang="de-DE" sz="1600">
            <a:solidFill>
              <a:srgbClr val="000000"/>
            </a:solidFill>
            <a:latin typeface="Aptos Display"/>
          </a:endParaRPr>
        </a:p>
      </dsp:txBody>
      <dsp:txXfrm>
        <a:off x="4112336" y="27092"/>
        <a:ext cx="2290927" cy="797630"/>
      </dsp:txXfrm>
    </dsp:sp>
    <dsp:sp modelId="{7A4BF618-9FE3-41CF-9621-C7C0B5CF8A24}">
      <dsp:nvSpPr>
        <dsp:cNvPr id="1587767482" name=""/>
        <dsp:cNvSpPr/>
      </dsp:nvSpPr>
      <dsp:spPr bwMode="auto">
        <a:xfrm rot="5400000">
          <a:off x="5098938" y="870719"/>
          <a:ext cx="317722" cy="3812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4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de-DE" sz="1300"/>
        </a:p>
      </dsp:txBody>
      <dsp:txXfrm rot="-5400000">
        <a:off x="5143419" y="902492"/>
        <a:ext cx="228761" cy="222405"/>
      </dsp:txXfrm>
    </dsp:sp>
    <dsp:sp modelId="{6903AC1C-3438-4037-8A99-4CE63E8143CF}">
      <dsp:nvSpPr>
        <dsp:cNvPr id="243821128" name=""/>
        <dsp:cNvSpPr/>
      </dsp:nvSpPr>
      <dsp:spPr bwMode="auto">
        <a:xfrm>
          <a:off x="4087521" y="1273168"/>
          <a:ext cx="2340557" cy="847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600">
              <a:solidFill>
                <a:srgbClr val="FFFFFF"/>
              </a:solidFill>
              <a:latin typeface="Aptos"/>
            </a:rPr>
            <a:t> Input </a:t>
          </a:r>
          <a:r>
            <a:rPr lang="de-DE" sz="1600">
              <a:latin typeface="Aptos"/>
            </a:rPr>
            <a:t>file</a:t>
          </a:r>
          <a:r>
            <a:rPr lang="de-DE" sz="1600">
              <a:latin typeface="Aptos"/>
            </a:rPr>
            <a:t> user_script.in</a:t>
          </a:r>
          <a:r>
            <a:rPr lang="de-DE" sz="1600">
              <a:solidFill>
                <a:srgbClr val="000000"/>
              </a:solidFill>
              <a:latin typeface="Aptos"/>
            </a:rPr>
            <a:t>. </a:t>
          </a:r>
          <a:r>
            <a:rPr lang="de-DE" sz="1600">
              <a:solidFill>
                <a:srgbClr val="FFFFFF"/>
              </a:solidFill>
              <a:latin typeface="Aptos"/>
            </a:rPr>
            <a:t>Required</a:t>
          </a:r>
          <a:r>
            <a:rPr lang="de-DE" sz="1600">
              <a:solidFill>
                <a:srgbClr val="FFFFFF"/>
              </a:solidFill>
              <a:latin typeface="Aptos"/>
            </a:rPr>
            <a:t>: Potentials &amp; Atoms topology</a:t>
          </a:r>
          <a:endParaRPr lang="en-US" sz="1600">
            <a:solidFill>
              <a:srgbClr val="000000"/>
            </a:solidFill>
            <a:latin typeface="Aptos"/>
          </a:endParaRPr>
        </a:p>
      </dsp:txBody>
      <dsp:txXfrm>
        <a:off x="4112336" y="1297983"/>
        <a:ext cx="2290927" cy="797630"/>
      </dsp:txXfrm>
    </dsp:sp>
    <dsp:sp modelId="{38112726-95B7-4EC3-B237-15F86EB8A056}">
      <dsp:nvSpPr>
        <dsp:cNvPr id="447709143" name=""/>
        <dsp:cNvSpPr/>
      </dsp:nvSpPr>
      <dsp:spPr bwMode="auto">
        <a:xfrm rot="5400000">
          <a:off x="5098938" y="2141610"/>
          <a:ext cx="317722" cy="3812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4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de-DE" sz="1300"/>
        </a:p>
      </dsp:txBody>
      <dsp:txXfrm rot="-5400000">
        <a:off x="5143419" y="2173383"/>
        <a:ext cx="228761" cy="222405"/>
      </dsp:txXfrm>
    </dsp:sp>
    <dsp:sp modelId="{9028E975-2580-4917-8106-5065450BD4E8}">
      <dsp:nvSpPr>
        <dsp:cNvPr id="2001242492" name=""/>
        <dsp:cNvSpPr/>
      </dsp:nvSpPr>
      <dsp:spPr bwMode="auto">
        <a:xfrm>
          <a:off x="4087521" y="2544059"/>
          <a:ext cx="2340557" cy="847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600">
              <a:latin typeface="Aptos"/>
            </a:rPr>
            <a:t>Output files</a:t>
          </a:r>
          <a:endParaRPr/>
        </a:p>
      </dsp:txBody>
      <dsp:txXfrm>
        <a:off x="4112336" y="2568874"/>
        <a:ext cx="2290927" cy="797630"/>
      </dsp:txXfrm>
    </dsp:sp>
    <dsp:sp modelId="{55539AED-3657-4E00-A47C-635B4162C7A3}">
      <dsp:nvSpPr>
        <dsp:cNvPr id="251220942" name=""/>
        <dsp:cNvSpPr/>
      </dsp:nvSpPr>
      <dsp:spPr bwMode="auto">
        <a:xfrm rot="5400000">
          <a:off x="5098938" y="3412501"/>
          <a:ext cx="317722" cy="3812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4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de-DE" sz="1300"/>
        </a:p>
      </dsp:txBody>
      <dsp:txXfrm rot="-5400000">
        <a:off x="5143419" y="3444274"/>
        <a:ext cx="228761" cy="222405"/>
      </dsp:txXfrm>
    </dsp:sp>
    <dsp:sp modelId="{74EADDCA-607B-45BE-ABE0-CAF48E7B2C88}">
      <dsp:nvSpPr>
        <dsp:cNvPr id="1056288589" name=""/>
        <dsp:cNvSpPr/>
      </dsp:nvSpPr>
      <dsp:spPr bwMode="auto">
        <a:xfrm>
          <a:off x="4087521" y="3814949"/>
          <a:ext cx="2340557" cy="8472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de-DE" sz="1600">
              <a:solidFill>
                <a:srgbClr val="FFFFFF"/>
              </a:solidFill>
              <a:latin typeface="Aptos"/>
            </a:rPr>
            <a:t>Post </a:t>
          </a:r>
          <a:r>
            <a:rPr lang="de-DE" sz="1600">
              <a:solidFill>
                <a:srgbClr val="FFFFFF"/>
              </a:solidFill>
              <a:latin typeface="Aptos"/>
            </a:rPr>
            <a:t>processinging</a:t>
          </a:r>
          <a:r>
            <a:rPr lang="de-DE" sz="1600">
              <a:solidFill>
                <a:srgbClr val="FFFFFF"/>
              </a:solidFill>
              <a:latin typeface="Aptos"/>
            </a:rPr>
            <a:t> - </a:t>
          </a:r>
          <a:r>
            <a:rPr lang="de-DE" sz="1600">
              <a:solidFill>
                <a:srgbClr val="FFFFFF"/>
              </a:solidFill>
              <a:latin typeface="Aptos"/>
            </a:rPr>
            <a:t>visualization</a:t>
          </a:r>
          <a:r>
            <a:rPr lang="de-DE" sz="1600">
              <a:solidFill>
                <a:srgbClr val="FFFFFF"/>
              </a:solidFill>
              <a:latin typeface="Aptos"/>
            </a:rPr>
            <a:t> </a:t>
          </a:r>
          <a:r>
            <a:rPr lang="de-DE" sz="1600">
              <a:solidFill>
                <a:srgbClr val="FFFFFF"/>
              </a:solidFill>
              <a:latin typeface="Aptos"/>
            </a:rPr>
            <a:t>tools</a:t>
          </a:r>
          <a:endParaRPr lang="de-DE" sz="1600">
            <a:latin typeface="Aptos"/>
          </a:endParaRPr>
        </a:p>
      </dsp:txBody>
      <dsp:txXfrm>
        <a:off x="4112336" y="3839764"/>
        <a:ext cx="2290927" cy="797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 type="node">
          <dgm:prSet phldr="1"/>
        </dgm:pt>
        <dgm:pt modelId="2" type="node">
          <dgm:prSet phldr="1"/>
        </dgm:pt>
        <dgm:pt modelId="3" type="node">
          <dgm:prSet phldr="1"/>
        </dgm:pt>
        <dgm:pt modelId="4" type="node">
          <dgm:prSet phldr="1"/>
        </dgm:pt>
        <dgm:pt modelId="5" type="node">
          <dgm:prSet phldr="1"/>
        </dgm:pt>
      </dgm:ptLst>
      <dgm:cxnLst>
        <dgm:cxn modelId="7" type="parOf" srcId="0" destId="1" srcOrd="0" destOrd="0"/>
        <dgm:cxn modelId="8" type="parOf" srcId="0" destId="2" srcOrd="1" destOrd="0"/>
        <dgm:cxn modelId="9" type="parOf" srcId="0" destId="3" srcOrd="2" destOrd="0"/>
        <dgm:cxn modelId="10" type="parOf" srcId="0" destId="4" srcOrd="3" destOrd="0"/>
        <dgm:cxn modelId="11" type="parOf" srcId="0" destId="5" srcOrd="4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diagram">
    <dgm:shape rot="0.000000" type="none" r:blip="" blipPhldr="0" lkTxEntry="0" zOrderOff="0" hideGeom="0">
      <dgm:adjLst/>
    </dgm:shape>
    <dgm:presOf/>
    <dgm:constrLst>
      <dgm:constr type="w" for="ch" ptType="node" refPtType="all" refType="w" refFor="self" op="none" fact="1.000000" val="0"/>
      <dgm:constr type="w" for="ch" forName="sibTrans" ptType="all" refPtType="node" refType="w" refFor="ch" op="equ" fact="0.400000" val="0"/>
      <dgm:constr type="sp" for="self" ptType="all" refPtType="all" refType="w" refFor="ch" refForName="sibTrans" op="equ" fact="1.000000" val="0"/>
      <dgm:constr type="primFontSz" for="ch" ptType="node" refPtType="all" refType="none" refFor="self" op="equ" fact="1.000000" val="65"/>
      <dgm:constr type="primFontSz" for="des" forName="connectorText" ptType="all" refPtType="all" refType="none" refFor="self" op="equ" fact="1.000000" val="55"/>
      <dgm:constr type="primFontSz" for="des" forName="connectorText" ptType="all" refPtType="node" refType="primFontSz" refFor="ch" op="lte" fact="0.800000" val="0"/>
    </dgm:constrLst>
    <dgm:ruleLst/>
    <dgm:varLst>
      <dgm:dir val="norm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forEach name="nodesForEach" axis="ch" ptType="node">
      <dgm:layoutNode name="node">
        <dgm:alg type="tx"/>
        <dgm:shape rot="0.000000" type="roundRect" r:blip="" blipPhldr="0" lkTxEntry="0" zOrderOff="0" hideGeom="0">
          <dgm:adjLst>
            <dgm:adj idx="1" val="0.100000"/>
          </dgm:adjLst>
        </dgm:shape>
        <dgm:presOf axis="desOrSelf" ptType="node"/>
        <dgm:constrLst>
          <dgm:constr type="h" for="self" ptType="all" refPtType="all" refType="w" refFor="self" op="none" fact="0.600000" val="0"/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primFontSz" for="self" ptType="all" val="5" fact="NaN" max="NaN"/>
        </dgm:ruleLst>
        <dgm:varLst>
          <dgm:bulletEnabled val="1"/>
        </dgm:var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rot="0.000000" type="conn" r:blip="" blipPhldr="0" lkTxEntry="0" zOrderOff="0" hideGeom="0">
            <dgm:adjLst/>
          </dgm:shape>
          <dgm:presOf axis="self"/>
          <dgm:constrLst>
            <dgm:constr type="h" for="self" ptType="all" refPtType="all" refType="w" refFor="self" op="none" fact="0.620000" val="0"/>
            <dgm:constr type="connDist" for="self" ptType="all" refPtType="all" refType="none" refFor="self" op="none" fact="1.000000" val="0"/>
          </dgm:constrLst>
          <dgm:ruleLst/>
          <dgm:layoutNode name="connectorText">
            <dgm:alg type="tx">
              <dgm:param type="autoTxRot" val="upr"/>
            </dgm:alg>
            <dgm:shape rot="0.000000" type="conn" r:blip="" blipPhldr="0" lkTxEntry="0" zOrderOff="0" hideGeom="1">
              <dgm:adjLst/>
            </dgm:shape>
            <dgm:presOf axis="self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Flow">
    <dgm:alg type="lin">
      <dgm:param type="linDir" val="fromT"/>
    </dgm:alg>
    <dgm:shape rot="0.000000" type="none" r:blip="" blipPhldr="0" lkTxEntry="0" zOrderOff="0" hideGeom="0">
      <dgm:adjLst/>
    </dgm:shape>
    <dgm:presOf/>
    <dgm:constrLst>
      <dgm:constr type="h" for="ch" ptType="node" refPtType="all" refType="h" refFor="self" op="none" fact="1.000000" val="0"/>
      <dgm:constr type="h" for="ch" ptType="sibTrans" refPtType="node" refType="h" refFor="ch" op="none" fact="0.500000" val="0"/>
      <dgm:constr type="w" for="ch" ptType="node" refPtType="all" refType="none" refFor="self" op="equ" fact="1.000000" val="0"/>
      <dgm:constr type="primFontSz" for="ch" ptType="node" refPtType="all" refType="none" refFor="self" op="equ" fact="1.000000" val="65"/>
      <dgm:constr type="primFontSz" for="des" forName="connectorText" ptType="all" refPtType="all" refType="none" refFor="self" op="equ" fact="1.000000" val="55"/>
      <dgm:constr type="primFontSz" for="des" forName="connectorText" ptType="all" refPtType="node" refType="primFontSz" refFor="ch" op="lte" fact="0.800000" val="0"/>
    </dgm:constrLst>
    <dgm:ruleLst/>
    <dgm:varLst>
      <dgm:resizeHandles val="exact"/>
    </dgm:varLst>
    <dgm:forEach name="nodesForEach" axis="ch" ptType="node">
      <dgm:layoutNode name="node">
        <dgm:shape rot="0.000000" type="roundRect" r:blip="" blipPhldr="0" lkTxEntry="0" zOrderOff="0" hideGeom="0">
          <dgm:adjLst>
            <dgm:adj idx="1" val="0.100000"/>
          </dgm:adjLst>
        </dgm:shape>
        <dgm:presOf axis="desOrSelf" ptType="node"/>
        <dgm:constrLst>
          <dgm:constr type="w" for="self" ptType="all" refPtType="all" refType="h" refFor="self" op="none" fact="1.800000" val="0"/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primFontSz" for="self" ptType="all" val="18" fact="NaN" max="NaN"/>
          <dgm:rule type="w" for="self" ptType="all" val="NaN" fact="4" max="NaN"/>
          <dgm:rule type="primFontSz" for="self" ptType="all" val="5" fact="NaN" max="NaN"/>
        </dgm:ruleLst>
        <dgm:varLst>
          <dgm:bulletEnabled val="1"/>
        </dgm:varLst>
        <dgm:choose name="Name0">
          <dgm:if name="Name1" axis="root des" ptType="all node" func="maxDepth" arg="none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rot="0.000000" type="conn" r:blip="" blipPhldr="0" lkTxEntry="0" zOrderOff="0" hideGeom="0">
            <dgm:adjLst/>
          </dgm:shape>
          <dgm:presOf axis="self"/>
          <dgm:constrLst>
            <dgm:constr type="w" for="self" ptType="all" refPtType="all" refType="h" refFor="self" op="none" fact="0.900000" val="0"/>
            <dgm:constr type="connDist" for="self" ptType="all" refPtType="all" refType="none" refFor="self" op="none" fact="1.000000" val="0"/>
            <dgm:constr type="wArH" for="self" ptType="all" refPtType="all" refType="w" refFor="self" op="none" fact="0.500000" val="0"/>
            <dgm:constr type="hArH" for="self" ptType="all" refPtType="all" refType="w" refFor="self" op="none" fact="1.000000" val="0"/>
            <dgm:constr type="stemThick" for="self" ptType="all" refPtType="all" refType="w" refFor="self" op="none" fact="0.600000" val="0"/>
            <dgm:constr type="begPad" for="self" ptType="all" refPtType="all" refType="connDist" refFor="self" op="none" fact="0.125000" val="0"/>
            <dgm:constr type="endPad" for="self" ptType="all" refPtType="all" refType="connDist" refFor="self" op="none" fact="0.125000" val="0"/>
          </dgm:constrLst>
          <dgm:ruleLst/>
          <dgm:layoutNode name="connectorText">
            <dgm:alg type="tx">
              <dgm:param type="autoTxRot" val="upr"/>
            </dgm:alg>
            <dgm:shape rot="0.000000" type="conn" r:blip="" blipPhldr="0" lkTxEntry="0" zOrderOff="0" hideGeom="1">
              <dgm:adjLst/>
            </dgm:shape>
            <dgm:presOf axis="self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9234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82735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58875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1553071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23437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980704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A84DA6-9E03-53BB-7A04-598A1749F4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2726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049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3261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A72341-0A08-D564-C219-D760D795F7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195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485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426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F3CFED-66F4-2DF0-2596-92BEA43137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176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9439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3181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2D943D-BF33-8C66-536E-E4C972B64F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9987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503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82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761C66-3EDE-C6BC-861C-DD78E29816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715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8816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138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0FCF51-7D1C-F50F-2539-42547652BF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249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6025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1007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F02361-09F0-BE8E-5EEE-A355956788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211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2021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9681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E0429-D47D-711E-1913-9773E6FE20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581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7762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479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5DA120-0BBF-FB8A-5644-F3E4C9A858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65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6325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239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C53EBE-F5E3-81F0-1C69-60B2143776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805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9127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103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455A9B-ED63-70C8-9731-B4E1A2CE43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F624A1-69F5-D89D-7F93-8CCF3A435B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548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555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982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C6C69E-71C9-710E-9071-18C70AD46A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236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022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107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D005B-EE57-19F2-E1CB-2F478A0997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499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1929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902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4AAEE8-24AC-DC61-9042-ADD349B6E8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859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3066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174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809655-2D85-8EDB-79E6-CFF66F50B7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548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2244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807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8A2CE8-9DBD-65D1-8F53-B8982BD721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04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6804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180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623759-C238-2092-B222-666540AD05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6427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4085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9219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D1CD32-99FC-C86E-934F-7874E464A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8647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7575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514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D1EF7-21BE-A301-9DB8-D6B590FBD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136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7477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79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04FA06-327C-7EEF-4DE9-133F3971FF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2412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50940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3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BD5FE0-1D5C-15AB-D434-4484F168CD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656463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496464869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/>
          </a:p>
        </p:txBody>
      </p:sp>
      <p:sp>
        <p:nvSpPr>
          <p:cNvPr id="48543153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41484490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85531977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77348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923406294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92040433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2027813393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64748383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965525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74238638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8423875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164525108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8023042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25189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530672129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033972451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78210139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2056305293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94703523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930167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791071995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30362309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18583871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916166311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80603378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1511577389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33611552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711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229807494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1303487946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9017258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2608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1970452476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44196535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185978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300641900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33768205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953621572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1298992040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23916794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702375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784798405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1420418410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81021728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1785268601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3473346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22742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52225839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1491939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808457568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5757731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449873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643784242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963998207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28814442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94453717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  <p:hf dt="0" ftr="0" hdr="0" sldNum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67650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220789791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68393930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D3EB3054-B75A-4BD7-8B3E-8DC0F614FAF3}" type="datetimeFigureOut">
              <a:rPr lang="de-DE"/>
              <a:t>18.09.2025</a:t>
            </a:fld>
            <a:endParaRPr lang="de-DE"/>
          </a:p>
        </p:txBody>
      </p:sp>
      <p:sp>
        <p:nvSpPr>
          <p:cNvPr id="871068003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34215139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microsoft.com/office/2007/relationships/diagramDrawing" Target="../diagrams/drawing1.xml" /><Relationship Id="rId4" Type="http://schemas.openxmlformats.org/officeDocument/2006/relationships/diagramData" Target="../diagrams/data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microsoft.com/office/2007/relationships/diagramDrawing" Target="../diagrams/drawing2.xml" /><Relationship Id="rId4" Type="http://schemas.openxmlformats.org/officeDocument/2006/relationships/diagramData" Target="../diagrams/data2.xml" /><Relationship Id="rId5" Type="http://schemas.openxmlformats.org/officeDocument/2006/relationships/diagramColors" Target="../diagrams/colors2.xml" /><Relationship Id="rId6" Type="http://schemas.openxmlformats.org/officeDocument/2006/relationships/diagramLayout" Target="../diagrams/layout2.xml" /><Relationship Id="rId7" Type="http://schemas.openxmlformats.org/officeDocument/2006/relationships/diagramQuickStyle" Target="../diagrams/quickStyle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lammps.org/Packages_details.html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lammps.org/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403352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B161F34-C4EB-C3A9-F3A2-6041511AC068}" type="slidenum">
              <a:rPr lang="de-DE"/>
              <a:t/>
            </a:fld>
            <a:endParaRPr lang="de-DE"/>
          </a:p>
        </p:txBody>
      </p:sp>
      <p:pic>
        <p:nvPicPr>
          <p:cNvPr id="16415057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9106" y="2266502"/>
            <a:ext cx="10220324" cy="2162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753975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Abyssinica SIL"/>
                <a:ea typeface="Abyssinica SIL"/>
                <a:cs typeface="Abyssinica SIL"/>
              </a:rPr>
              <a:t>Introduction to Molecular Modelling and Computational Chemistry on HPC Systems at LRZ</a:t>
            </a:r>
            <a:endParaRPr lang="de-DE"/>
          </a:p>
        </p:txBody>
      </p:sp>
      <p:sp>
        <p:nvSpPr>
          <p:cNvPr id="1705305597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3999" y="4120725"/>
            <a:ext cx="9144000" cy="16557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de-DE"/>
              <a:t>Leibniz Computing Centre</a:t>
            </a:r>
            <a:endParaRPr lang="de-DE"/>
          </a:p>
          <a:p>
            <a:pPr>
              <a:defRPr/>
            </a:pPr>
            <a:r>
              <a:rPr lang="de-DE"/>
              <a:t>Garching, Germany</a:t>
            </a:r>
            <a:endParaRPr lang="de-DE"/>
          </a:p>
          <a:p>
            <a:pPr>
              <a:defRPr/>
            </a:pPr>
            <a:r>
              <a:rPr lang="de-DE"/>
              <a:t>November 2025</a:t>
            </a:r>
            <a:endParaRPr lang="de-DE"/>
          </a:p>
          <a:p>
            <a:pPr>
              <a:defRPr/>
            </a:pPr>
            <a:r>
              <a:rPr lang="de-DE"/>
              <a:t>Author: Dr.-Ing. Elmira Birang</a:t>
            </a:r>
            <a:endParaRPr lang="de-DE"/>
          </a:p>
        </p:txBody>
      </p:sp>
      <p:sp>
        <p:nvSpPr>
          <p:cNvPr id="1866400403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67771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Outline</a:t>
            </a:r>
            <a:endParaRPr/>
          </a:p>
        </p:txBody>
      </p:sp>
      <p:sp>
        <p:nvSpPr>
          <p:cNvPr id="108789725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 sz="2600"/>
              <a:t>Introduction</a:t>
            </a:r>
            <a:r>
              <a:rPr lang="de-DE" sz="2600"/>
              <a:t> </a:t>
            </a:r>
            <a:r>
              <a:rPr lang="de-DE" sz="2600"/>
              <a:t>to</a:t>
            </a:r>
            <a:r>
              <a:rPr lang="de-DE" sz="2600"/>
              <a:t> LAMMPS </a:t>
            </a:r>
            <a:r>
              <a:rPr lang="de-DE" sz="2600"/>
              <a:t>features</a:t>
            </a:r>
            <a:endParaRPr sz="2600"/>
          </a:p>
          <a:p>
            <a:pPr>
              <a:defRPr/>
            </a:pPr>
            <a:r>
              <a:rPr lang="de-DE" sz="2600"/>
              <a:t>LAMMPS </a:t>
            </a:r>
            <a:r>
              <a:rPr lang="de-DE" sz="2600"/>
              <a:t>packages</a:t>
            </a:r>
            <a:endParaRPr sz="2600"/>
          </a:p>
          <a:p>
            <a:pPr>
              <a:defRPr/>
            </a:pPr>
            <a:r>
              <a:rPr lang="de-DE" sz="2600"/>
              <a:t>Input </a:t>
            </a:r>
            <a:r>
              <a:rPr lang="de-DE" sz="2600"/>
              <a:t>script</a:t>
            </a:r>
            <a:r>
              <a:rPr lang="de-DE" sz="2600"/>
              <a:t> – </a:t>
            </a:r>
            <a:r>
              <a:rPr lang="de-DE" sz="2600"/>
              <a:t>case</a:t>
            </a:r>
            <a:r>
              <a:rPr lang="de-DE" sz="2600"/>
              <a:t> </a:t>
            </a:r>
            <a:r>
              <a:rPr lang="de-DE" sz="2600"/>
              <a:t>study</a:t>
            </a:r>
            <a:r>
              <a:rPr lang="de-DE" sz="2600"/>
              <a:t>: </a:t>
            </a:r>
            <a:r>
              <a:rPr lang="de-DE" sz="2600"/>
              <a:t>dynamic</a:t>
            </a:r>
            <a:r>
              <a:rPr lang="de-DE" sz="2600"/>
              <a:t> </a:t>
            </a:r>
            <a:r>
              <a:rPr lang="de-DE" sz="2600"/>
              <a:t>crack</a:t>
            </a:r>
            <a:r>
              <a:rPr lang="de-DE" sz="2600"/>
              <a:t> </a:t>
            </a:r>
            <a:r>
              <a:rPr lang="de-DE" sz="2600"/>
              <a:t>propagation</a:t>
            </a:r>
            <a:endParaRPr sz="2600"/>
          </a:p>
          <a:p>
            <a:pPr>
              <a:defRPr/>
            </a:pPr>
            <a:r>
              <a:rPr lang="de-DE" sz="2600"/>
              <a:t>Output </a:t>
            </a:r>
            <a:r>
              <a:rPr lang="de-DE" sz="2600"/>
              <a:t>files</a:t>
            </a:r>
            <a:r>
              <a:rPr lang="de-DE" sz="2600"/>
              <a:t> – </a:t>
            </a:r>
            <a:r>
              <a:rPr lang="de-DE" sz="2600"/>
              <a:t>case</a:t>
            </a:r>
            <a:r>
              <a:rPr lang="de-DE" sz="2600"/>
              <a:t> </a:t>
            </a:r>
            <a:r>
              <a:rPr lang="de-DE" sz="2600"/>
              <a:t>study</a:t>
            </a:r>
            <a:r>
              <a:rPr lang="de-DE" sz="2600"/>
              <a:t>: </a:t>
            </a:r>
            <a:r>
              <a:rPr lang="de-DE" sz="2600"/>
              <a:t>dynamic</a:t>
            </a:r>
            <a:r>
              <a:rPr lang="de-DE" sz="2600"/>
              <a:t> </a:t>
            </a:r>
            <a:r>
              <a:rPr lang="de-DE" sz="2600"/>
              <a:t>crack</a:t>
            </a:r>
            <a:r>
              <a:rPr lang="de-DE" sz="2600"/>
              <a:t> </a:t>
            </a:r>
            <a:r>
              <a:rPr lang="de-DE" sz="2600"/>
              <a:t>propagation</a:t>
            </a:r>
            <a:endParaRPr sz="2600"/>
          </a:p>
          <a:p>
            <a:pPr>
              <a:defRPr/>
            </a:pPr>
            <a:r>
              <a:rPr lang="de-DE" sz="2600"/>
              <a:t>KOKKOS on LAMMPS</a:t>
            </a:r>
            <a:endParaRPr sz="2600"/>
          </a:p>
          <a:p>
            <a:pPr>
              <a:defRPr/>
            </a:pPr>
            <a:endParaRPr lang="de-DE"/>
          </a:p>
          <a:p>
            <a:pPr marL="0" indent="0">
              <a:buNone/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257725111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89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89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89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89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89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89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8972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02285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OVERVIEW OF LAMMPS</a:t>
            </a:r>
            <a:endParaRPr/>
          </a:p>
        </p:txBody>
      </p:sp>
      <p:sp>
        <p:nvSpPr>
          <p:cNvPr id="307110444" name="Inhaltsplatzhalter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defRPr/>
            </a:pPr>
            <a:r>
              <a:rPr lang="de-DE"/>
              <a:t>LAMMPS: Large-</a:t>
            </a:r>
            <a:r>
              <a:rPr lang="de-DE"/>
              <a:t>scale</a:t>
            </a:r>
            <a:r>
              <a:rPr lang="de-DE"/>
              <a:t> </a:t>
            </a:r>
            <a:r>
              <a:rPr lang="de-DE"/>
              <a:t>Atomic</a:t>
            </a:r>
            <a:r>
              <a:rPr lang="de-DE"/>
              <a:t>/</a:t>
            </a:r>
            <a:r>
              <a:rPr lang="de-DE"/>
              <a:t>Molecular</a:t>
            </a:r>
            <a:r>
              <a:rPr lang="de-DE"/>
              <a:t> </a:t>
            </a:r>
            <a:r>
              <a:rPr lang="de-DE"/>
              <a:t>Massively</a:t>
            </a:r>
            <a:r>
              <a:rPr lang="de-DE"/>
              <a:t> Parallel Simulator</a:t>
            </a:r>
            <a:endParaRPr/>
          </a:p>
          <a:p>
            <a:pPr>
              <a:defRPr/>
            </a:pPr>
            <a:r>
              <a:rPr lang="de-DE"/>
              <a:t>Classical</a:t>
            </a:r>
            <a:r>
              <a:rPr lang="de-DE"/>
              <a:t> </a:t>
            </a:r>
            <a:r>
              <a:rPr lang="de-DE"/>
              <a:t>molecular</a:t>
            </a:r>
            <a:r>
              <a:rPr lang="de-DE"/>
              <a:t> </a:t>
            </a:r>
            <a:r>
              <a:rPr lang="de-DE"/>
              <a:t>dynamics</a:t>
            </a:r>
            <a:r>
              <a:rPr lang="de-DE"/>
              <a:t> open-source modular </a:t>
            </a:r>
            <a:r>
              <a:rPr lang="de-DE" b="1"/>
              <a:t>C++</a:t>
            </a:r>
            <a:r>
              <a:rPr lang="de-DE"/>
              <a:t> code; </a:t>
            </a:r>
            <a:r>
              <a:rPr lang="de-DE"/>
              <a:t>compiler</a:t>
            </a:r>
            <a:r>
              <a:rPr lang="de-DE"/>
              <a:t> </a:t>
            </a:r>
            <a:r>
              <a:rPr lang="de-DE"/>
              <a:t>requirement</a:t>
            </a:r>
            <a:r>
              <a:rPr lang="de-DE"/>
              <a:t>: min </a:t>
            </a:r>
            <a:r>
              <a:rPr lang="de-DE"/>
              <a:t>version</a:t>
            </a:r>
            <a:r>
              <a:rPr lang="de-DE"/>
              <a:t> </a:t>
            </a:r>
            <a:r>
              <a:rPr lang="de-DE" b="1"/>
              <a:t>C++11.</a:t>
            </a:r>
            <a:endParaRPr lang="de-DE"/>
          </a:p>
          <a:p>
            <a:pPr>
              <a:defRPr/>
            </a:pPr>
            <a:r>
              <a:rPr lang="de-DE"/>
              <a:t>It</a:t>
            </a:r>
            <a:r>
              <a:rPr lang="de-DE"/>
              <a:t> </a:t>
            </a:r>
            <a:r>
              <a:rPr lang="de-DE"/>
              <a:t>models</a:t>
            </a:r>
            <a:r>
              <a:rPr lang="de-DE"/>
              <a:t> </a:t>
            </a:r>
            <a:r>
              <a:rPr lang="de-DE"/>
              <a:t>particles</a:t>
            </a:r>
            <a:r>
              <a:rPr lang="de-DE"/>
              <a:t> in </a:t>
            </a:r>
            <a:r>
              <a:rPr lang="de-DE" b="1"/>
              <a:t>liquid</a:t>
            </a:r>
            <a:r>
              <a:rPr lang="de-DE"/>
              <a:t>, </a:t>
            </a:r>
            <a:r>
              <a:rPr lang="de-DE" b="1"/>
              <a:t>solid</a:t>
            </a:r>
            <a:r>
              <a:rPr lang="de-DE"/>
              <a:t> and </a:t>
            </a:r>
            <a:r>
              <a:rPr lang="de-DE" b="1"/>
              <a:t>gaseous</a:t>
            </a:r>
            <a:r>
              <a:rPr lang="de-DE"/>
              <a:t> </a:t>
            </a:r>
            <a:r>
              <a:rPr lang="de-DE"/>
              <a:t>state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/>
              <a:t>It</a:t>
            </a:r>
            <a:r>
              <a:rPr lang="de-DE"/>
              <a:t> </a:t>
            </a:r>
            <a:r>
              <a:rPr lang="de-DE"/>
              <a:t>models</a:t>
            </a:r>
            <a:r>
              <a:rPr lang="de-DE"/>
              <a:t> </a:t>
            </a:r>
            <a:r>
              <a:rPr lang="de-DE" b="1"/>
              <a:t>2D </a:t>
            </a:r>
            <a:r>
              <a:rPr lang="de-DE"/>
              <a:t>or</a:t>
            </a:r>
            <a:r>
              <a:rPr lang="de-DE"/>
              <a:t> </a:t>
            </a:r>
            <a:r>
              <a:rPr lang="de-DE" b="1"/>
              <a:t>3D </a:t>
            </a:r>
            <a:r>
              <a:rPr lang="de-DE"/>
              <a:t>systems</a:t>
            </a:r>
            <a:r>
              <a:rPr lang="de-DE"/>
              <a:t> ranging </a:t>
            </a:r>
            <a:r>
              <a:rPr lang="de-DE"/>
              <a:t>from</a:t>
            </a:r>
            <a:r>
              <a:rPr lang="de-DE"/>
              <a:t> a </a:t>
            </a:r>
            <a:r>
              <a:rPr lang="de-DE" b="1"/>
              <a:t>few</a:t>
            </a:r>
            <a:r>
              <a:rPr lang="de-DE"/>
              <a:t> </a:t>
            </a:r>
            <a:r>
              <a:rPr lang="de-DE"/>
              <a:t>particles</a:t>
            </a:r>
            <a:r>
              <a:rPr lang="de-DE"/>
              <a:t> </a:t>
            </a:r>
            <a:r>
              <a:rPr lang="de-DE"/>
              <a:t>up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 b="1"/>
              <a:t>trillions</a:t>
            </a:r>
            <a:r>
              <a:rPr lang="de-DE"/>
              <a:t>.  </a:t>
            </a:r>
            <a:endParaRPr/>
          </a:p>
          <a:p>
            <a:pPr>
              <a:defRPr/>
            </a:pPr>
            <a:r>
              <a:rPr lang="de-DE"/>
              <a:t>It</a:t>
            </a:r>
            <a:r>
              <a:rPr lang="de-DE"/>
              <a:t> </a:t>
            </a:r>
            <a:r>
              <a:rPr lang="de-DE"/>
              <a:t>models</a:t>
            </a:r>
            <a:r>
              <a:rPr lang="de-DE"/>
              <a:t> </a:t>
            </a:r>
            <a:r>
              <a:rPr lang="de-DE" b="1"/>
              <a:t>atomic</a:t>
            </a:r>
            <a:r>
              <a:rPr lang="de-DE"/>
              <a:t>, </a:t>
            </a:r>
            <a:r>
              <a:rPr lang="de-DE" b="1"/>
              <a:t>polymeric</a:t>
            </a:r>
            <a:r>
              <a:rPr lang="de-DE"/>
              <a:t>, </a:t>
            </a:r>
            <a:r>
              <a:rPr lang="de-DE" b="1"/>
              <a:t>biological</a:t>
            </a:r>
            <a:r>
              <a:rPr lang="de-DE"/>
              <a:t>, </a:t>
            </a:r>
            <a:r>
              <a:rPr lang="de-DE" b="1"/>
              <a:t>solid-</a:t>
            </a:r>
            <a:r>
              <a:rPr lang="de-DE" b="1"/>
              <a:t>state</a:t>
            </a:r>
            <a:r>
              <a:rPr lang="de-DE"/>
              <a:t>, </a:t>
            </a:r>
            <a:r>
              <a:rPr lang="de-DE" b="1"/>
              <a:t>granular</a:t>
            </a:r>
            <a:r>
              <a:rPr lang="de-DE"/>
              <a:t>, </a:t>
            </a:r>
            <a:r>
              <a:rPr lang="de-DE" b="1"/>
              <a:t>coarse-grained</a:t>
            </a:r>
            <a:r>
              <a:rPr lang="de-DE"/>
              <a:t> </a:t>
            </a:r>
            <a:r>
              <a:rPr lang="de-DE"/>
              <a:t>or</a:t>
            </a:r>
            <a:r>
              <a:rPr lang="de-DE"/>
              <a:t> </a:t>
            </a:r>
            <a:r>
              <a:rPr lang="de-DE" b="1"/>
              <a:t>macroscopic</a:t>
            </a:r>
            <a:r>
              <a:rPr lang="de-DE"/>
              <a:t> </a:t>
            </a:r>
            <a:r>
              <a:rPr lang="de-DE"/>
              <a:t>systems</a:t>
            </a:r>
            <a:r>
              <a:rPr lang="de-DE"/>
              <a:t> </a:t>
            </a:r>
            <a:r>
              <a:rPr lang="de-DE"/>
              <a:t>with</a:t>
            </a:r>
            <a:r>
              <a:rPr lang="de-DE"/>
              <a:t> </a:t>
            </a:r>
            <a:r>
              <a:rPr lang="de-DE"/>
              <a:t>various</a:t>
            </a:r>
            <a:r>
              <a:rPr lang="de-DE"/>
              <a:t> </a:t>
            </a:r>
            <a:r>
              <a:rPr lang="de-DE" b="1"/>
              <a:t>force</a:t>
            </a:r>
            <a:r>
              <a:rPr lang="de-DE" b="1"/>
              <a:t> </a:t>
            </a:r>
            <a:r>
              <a:rPr lang="de-DE" b="1"/>
              <a:t>fields</a:t>
            </a:r>
            <a:r>
              <a:rPr lang="de-DE"/>
              <a:t> and </a:t>
            </a:r>
            <a:r>
              <a:rPr lang="de-DE" b="1"/>
              <a:t>potentials</a:t>
            </a:r>
            <a:r>
              <a:rPr lang="de-DE"/>
              <a:t>. 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351637820" name="Textfeld 3"/>
          <p:cNvSpPr txBox="1"/>
          <p:nvPr/>
        </p:nvSpPr>
        <p:spPr bwMode="auto">
          <a:xfrm>
            <a:off x="835067" y="6304766"/>
            <a:ext cx="57181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/>
              <a:t>Credit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: </a:t>
            </a:r>
            <a:r>
              <a:rPr lang="de-DE">
                <a:ea typeface="+mn-lt"/>
                <a:cs typeface="+mn-lt"/>
              </a:rPr>
              <a:t>https://docs.lammps.org/Intro_features.html</a:t>
            </a:r>
            <a:endParaRPr lang="de-DE"/>
          </a:p>
        </p:txBody>
      </p:sp>
      <p:sp>
        <p:nvSpPr>
          <p:cNvPr id="1628872668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3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10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10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10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10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10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11044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5145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LAMMPS Features </a:t>
            </a:r>
            <a:endParaRPr/>
          </a:p>
        </p:txBody>
      </p:sp>
      <p:sp>
        <p:nvSpPr>
          <p:cNvPr id="1187917778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1720850"/>
            <a:ext cx="10515600" cy="445611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defRPr/>
            </a:pPr>
            <a:r>
              <a:rPr lang="de-DE"/>
              <a:t>LAMMPS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run</a:t>
            </a:r>
            <a:r>
              <a:rPr lang="de-DE"/>
              <a:t> in </a:t>
            </a:r>
            <a:r>
              <a:rPr lang="de-DE" b="1"/>
              <a:t>serial</a:t>
            </a:r>
            <a:r>
              <a:rPr lang="de-DE"/>
              <a:t> and </a:t>
            </a:r>
            <a:r>
              <a:rPr lang="de-DE"/>
              <a:t>any</a:t>
            </a:r>
            <a:r>
              <a:rPr lang="de-DE"/>
              <a:t> </a:t>
            </a:r>
            <a:r>
              <a:rPr lang="de-DE" b="1"/>
              <a:t>parallel</a:t>
            </a:r>
            <a:r>
              <a:rPr lang="de-DE"/>
              <a:t> </a:t>
            </a:r>
            <a:r>
              <a:rPr lang="de-DE"/>
              <a:t>machine</a:t>
            </a:r>
            <a:r>
              <a:rPr lang="de-DE"/>
              <a:t> </a:t>
            </a:r>
            <a:r>
              <a:rPr lang="de-DE"/>
              <a:t>that</a:t>
            </a:r>
            <a:r>
              <a:rPr lang="de-DE"/>
              <a:t> </a:t>
            </a:r>
            <a:r>
              <a:rPr lang="de-DE"/>
              <a:t>supports</a:t>
            </a:r>
            <a:r>
              <a:rPr lang="de-DE"/>
              <a:t> Message Passing Interface (</a:t>
            </a:r>
            <a:r>
              <a:rPr lang="de-DE" b="1"/>
              <a:t>MPI</a:t>
            </a:r>
            <a:r>
              <a:rPr lang="de-DE"/>
              <a:t>). </a:t>
            </a:r>
            <a:endParaRPr/>
          </a:p>
          <a:p>
            <a:pPr>
              <a:defRPr/>
            </a:pPr>
            <a:r>
              <a:rPr lang="de-DE"/>
              <a:t>Runs </a:t>
            </a:r>
            <a:r>
              <a:rPr lang="de-DE"/>
              <a:t>from</a:t>
            </a:r>
            <a:r>
              <a:rPr lang="de-DE"/>
              <a:t> an </a:t>
            </a:r>
            <a:r>
              <a:rPr lang="de-DE" b="1"/>
              <a:t>input</a:t>
            </a:r>
            <a:r>
              <a:rPr lang="de-DE" b="1"/>
              <a:t> </a:t>
            </a:r>
            <a:r>
              <a:rPr lang="de-DE" b="1"/>
              <a:t>script</a:t>
            </a:r>
            <a:r>
              <a:rPr lang="de-DE"/>
              <a:t> </a:t>
            </a:r>
            <a:endParaRPr lang="de-DE"/>
          </a:p>
          <a:p>
            <a:pPr>
              <a:defRPr/>
            </a:pPr>
            <a:r>
              <a:rPr lang="de-DE"/>
              <a:t>Syntax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/>
              <a:t>defining</a:t>
            </a:r>
            <a:r>
              <a:rPr lang="de-DE"/>
              <a:t> and </a:t>
            </a:r>
            <a:r>
              <a:rPr lang="de-DE"/>
              <a:t>using</a:t>
            </a:r>
            <a:r>
              <a:rPr lang="de-DE"/>
              <a:t> </a:t>
            </a:r>
            <a:r>
              <a:rPr lang="de-DE" b="1"/>
              <a:t>variables</a:t>
            </a:r>
            <a:r>
              <a:rPr lang="de-DE"/>
              <a:t> and</a:t>
            </a:r>
            <a:r>
              <a:rPr lang="de-DE" b="1"/>
              <a:t> </a:t>
            </a:r>
            <a:r>
              <a:rPr lang="de-DE" b="1"/>
              <a:t>formulas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 b="1"/>
              <a:t>Intergartion</a:t>
            </a:r>
            <a:r>
              <a:rPr lang="de-DE"/>
              <a:t> </a:t>
            </a:r>
            <a:r>
              <a:rPr lang="de-DE"/>
              <a:t>with</a:t>
            </a:r>
            <a:r>
              <a:rPr lang="de-DE"/>
              <a:t> </a:t>
            </a:r>
            <a:r>
              <a:rPr lang="de-DE" b="1"/>
              <a:t>Python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/>
              <a:t>various</a:t>
            </a:r>
            <a:r>
              <a:rPr lang="de-DE"/>
              <a:t> </a:t>
            </a:r>
            <a:r>
              <a:rPr lang="de-DE"/>
              <a:t>tasks</a:t>
            </a:r>
            <a:r>
              <a:rPr lang="de-DE"/>
              <a:t> such </a:t>
            </a:r>
            <a:r>
              <a:rPr lang="de-DE"/>
              <a:t>as</a:t>
            </a:r>
            <a:r>
              <a:rPr lang="de-DE"/>
              <a:t> time </a:t>
            </a:r>
            <a:r>
              <a:rPr lang="de-DE"/>
              <a:t>integration</a:t>
            </a:r>
            <a:r>
              <a:rPr lang="de-DE"/>
              <a:t>, </a:t>
            </a:r>
            <a:r>
              <a:rPr lang="de-DE"/>
              <a:t>force</a:t>
            </a:r>
            <a:r>
              <a:rPr lang="de-DE"/>
              <a:t> </a:t>
            </a:r>
            <a:r>
              <a:rPr lang="de-DE"/>
              <a:t>computation</a:t>
            </a:r>
            <a:r>
              <a:rPr lang="de-DE"/>
              <a:t>.  </a:t>
            </a:r>
            <a:endParaRPr/>
          </a:p>
          <a:p>
            <a:pPr>
              <a:defRPr/>
            </a:pPr>
            <a:r>
              <a:rPr lang="de-DE"/>
              <a:t>Run </a:t>
            </a:r>
            <a:r>
              <a:rPr lang="de-DE" b="1"/>
              <a:t>one</a:t>
            </a:r>
            <a:r>
              <a:rPr lang="de-DE"/>
              <a:t> </a:t>
            </a:r>
            <a:r>
              <a:rPr lang="de-DE"/>
              <a:t>or</a:t>
            </a:r>
            <a:r>
              <a:rPr lang="de-DE"/>
              <a:t> </a:t>
            </a:r>
            <a:r>
              <a:rPr lang="de-DE" b="1"/>
              <a:t>multiple </a:t>
            </a:r>
            <a:r>
              <a:rPr lang="de-DE" b="1"/>
              <a:t>simulations</a:t>
            </a:r>
            <a:r>
              <a:rPr lang="de-DE"/>
              <a:t> </a:t>
            </a:r>
            <a:r>
              <a:rPr lang="de-DE"/>
              <a:t>simultaneously</a:t>
            </a:r>
            <a:r>
              <a:rPr lang="de-DE"/>
              <a:t> </a:t>
            </a:r>
            <a:r>
              <a:rPr lang="de-DE"/>
              <a:t>from</a:t>
            </a:r>
            <a:r>
              <a:rPr lang="de-DE"/>
              <a:t> </a:t>
            </a:r>
            <a:r>
              <a:rPr lang="de-DE" b="1"/>
              <a:t>one job </a:t>
            </a:r>
            <a:r>
              <a:rPr lang="de-DE" b="1"/>
              <a:t>script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/>
              <a:t>Source code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 b="1"/>
              <a:t>extended</a:t>
            </a:r>
            <a:r>
              <a:rPr lang="de-DE"/>
              <a:t> </a:t>
            </a:r>
            <a:r>
              <a:rPr lang="de-DE"/>
              <a:t>with</a:t>
            </a:r>
            <a:r>
              <a:rPr lang="de-DE"/>
              <a:t> </a:t>
            </a:r>
            <a:r>
              <a:rPr lang="de-DE" b="1"/>
              <a:t>new</a:t>
            </a:r>
            <a:r>
              <a:rPr lang="de-DE" b="1"/>
              <a:t> </a:t>
            </a:r>
            <a:r>
              <a:rPr lang="de-DE" b="1"/>
              <a:t>features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>
                <a:ea typeface="+mn-lt"/>
                <a:cs typeface="+mn-lt"/>
              </a:rPr>
              <a:t>https://github.com/lammps/lammps</a:t>
            </a:r>
            <a:endParaRPr lang="de-DE"/>
          </a:p>
        </p:txBody>
      </p:sp>
      <p:sp>
        <p:nvSpPr>
          <p:cNvPr id="192071392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4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7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7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7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7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7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7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7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1777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547604163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5796285" name="Titel 1"/>
          <p:cNvSpPr>
            <a:spLocks noGrp="1"/>
          </p:cNvSpPr>
          <p:nvPr>
            <p:ph type="title"/>
          </p:nvPr>
        </p:nvSpPr>
        <p:spPr bwMode="auto"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de-DE" sz="3400"/>
              <a:t>LAMMPS Features</a:t>
            </a:r>
            <a:endParaRPr/>
          </a:p>
        </p:txBody>
      </p:sp>
      <p:sp>
        <p:nvSpPr>
          <p:cNvPr id="505282595" name="Rectangle 1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3825273" name="Rectangle 1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76126260" name="Inhaltsplatzhalter 2"/>
          <p:cNvSpPr>
            <a:spLocks noGrp="1"/>
          </p:cNvSpPr>
          <p:nvPr>
            <p:ph idx="1"/>
          </p:nvPr>
        </p:nvSpPr>
        <p:spPr bwMode="auto"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 sz="1800" b="1"/>
              <a:t>Spatial</a:t>
            </a:r>
            <a:r>
              <a:rPr lang="de-DE" sz="1800" b="1"/>
              <a:t> </a:t>
            </a:r>
            <a:r>
              <a:rPr lang="de-DE" sz="1800" b="1"/>
              <a:t>decomposition</a:t>
            </a:r>
            <a:r>
              <a:rPr lang="de-DE" sz="1800"/>
              <a:t> </a:t>
            </a:r>
            <a:r>
              <a:rPr lang="de-DE" sz="1800"/>
              <a:t>of</a:t>
            </a:r>
            <a:r>
              <a:rPr lang="de-DE" sz="1800"/>
              <a:t> </a:t>
            </a:r>
            <a:r>
              <a:rPr lang="de-DE" sz="1800"/>
              <a:t>simulation</a:t>
            </a:r>
            <a:r>
              <a:rPr lang="de-DE" sz="1800"/>
              <a:t> </a:t>
            </a:r>
            <a:r>
              <a:rPr lang="de-DE" sz="1800"/>
              <a:t>domain</a:t>
            </a:r>
            <a:r>
              <a:rPr lang="de-DE" sz="1800"/>
              <a:t> </a:t>
            </a:r>
            <a:r>
              <a:rPr lang="de-DE" sz="1800"/>
              <a:t>for</a:t>
            </a:r>
            <a:r>
              <a:rPr lang="de-DE" sz="1800"/>
              <a:t> MPI </a:t>
            </a:r>
            <a:r>
              <a:rPr lang="de-DE" sz="1800"/>
              <a:t>parallelism</a:t>
            </a:r>
            <a:r>
              <a:rPr lang="de-DE" sz="1800"/>
              <a:t>. Figure </a:t>
            </a:r>
            <a:r>
              <a:rPr lang="de-DE" sz="1800"/>
              <a:t>shows</a:t>
            </a:r>
            <a:r>
              <a:rPr lang="de-DE" sz="1800"/>
              <a:t> </a:t>
            </a:r>
            <a:r>
              <a:rPr lang="de-DE" sz="1800" i="1"/>
              <a:t>tiled</a:t>
            </a:r>
            <a:r>
              <a:rPr lang="de-DE" sz="1800"/>
              <a:t> </a:t>
            </a:r>
            <a:r>
              <a:rPr lang="de-DE" sz="1800"/>
              <a:t>or</a:t>
            </a:r>
            <a:r>
              <a:rPr lang="de-DE" sz="1800"/>
              <a:t> </a:t>
            </a:r>
            <a:r>
              <a:rPr lang="de-DE" sz="1800" i="1"/>
              <a:t>brick</a:t>
            </a:r>
            <a:r>
              <a:rPr lang="de-DE" sz="1800"/>
              <a:t> </a:t>
            </a:r>
            <a:r>
              <a:rPr lang="de-DE" sz="1800"/>
              <a:t>decomposition</a:t>
            </a:r>
            <a:r>
              <a:rPr lang="de-DE" sz="1800"/>
              <a:t>.</a:t>
            </a:r>
            <a:endParaRPr/>
          </a:p>
          <a:p>
            <a:pPr>
              <a:defRPr/>
            </a:pPr>
            <a:r>
              <a:rPr lang="de-DE" sz="1800" b="1"/>
              <a:t>Particle</a:t>
            </a:r>
            <a:r>
              <a:rPr lang="de-DE" sz="1800" b="1"/>
              <a:t> </a:t>
            </a:r>
            <a:r>
              <a:rPr lang="de-DE" sz="1800" b="1"/>
              <a:t>decompostion</a:t>
            </a:r>
            <a:r>
              <a:rPr lang="de-DE" sz="1800"/>
              <a:t> </a:t>
            </a:r>
            <a:r>
              <a:rPr lang="de-DE" sz="1800"/>
              <a:t>inside</a:t>
            </a:r>
            <a:r>
              <a:rPr lang="de-DE" sz="1800"/>
              <a:t> </a:t>
            </a:r>
            <a:r>
              <a:rPr lang="de-DE" sz="1800"/>
              <a:t>spatial</a:t>
            </a:r>
            <a:r>
              <a:rPr lang="de-DE" sz="1800"/>
              <a:t> </a:t>
            </a:r>
            <a:r>
              <a:rPr lang="de-DE" sz="1800"/>
              <a:t>decompostion</a:t>
            </a:r>
            <a:r>
              <a:rPr lang="de-DE" sz="1800"/>
              <a:t> GPU </a:t>
            </a:r>
            <a:r>
              <a:rPr lang="de-DE" sz="1800"/>
              <a:t>parallelism</a:t>
            </a:r>
            <a:r>
              <a:rPr lang="de-DE" sz="1800"/>
              <a:t>. </a:t>
            </a:r>
            <a:endParaRPr/>
          </a:p>
          <a:p>
            <a:pPr>
              <a:defRPr/>
            </a:pPr>
            <a:r>
              <a:rPr lang="de-DE" sz="1800" b="1" i="1">
                <a:latin typeface="Comic Sans MS"/>
                <a:ea typeface="+mn-lt"/>
                <a:cs typeface="+mn-lt"/>
              </a:rPr>
              <a:t>Comm_style</a:t>
            </a:r>
            <a:r>
              <a:rPr lang="de-DE" sz="1800" b="1" i="1">
                <a:latin typeface="Comic Sans MS"/>
                <a:ea typeface="+mn-lt"/>
                <a:cs typeface="+mn-lt"/>
              </a:rPr>
              <a:t> style.</a:t>
            </a:r>
            <a:r>
              <a:rPr lang="de-DE" sz="1800" b="1" i="1">
                <a:latin typeface="Book Antiqua"/>
                <a:ea typeface="+mn-lt"/>
                <a:cs typeface="+mn-lt"/>
              </a:rPr>
              <a:t> </a:t>
            </a:r>
            <a:endParaRPr lang="de-DE" sz="1800" b="1" i="1">
              <a:latin typeface="Aptos"/>
              <a:ea typeface="+mn-lt"/>
              <a:cs typeface="+mn-lt"/>
            </a:endParaRPr>
          </a:p>
          <a:p>
            <a:pPr>
              <a:defRPr/>
            </a:pPr>
            <a:r>
              <a:rPr lang="de-DE" sz="1800">
                <a:latin typeface="Aptos"/>
              </a:rPr>
              <a:t>Style </a:t>
            </a:r>
            <a:r>
              <a:rPr lang="de-DE" sz="1800">
                <a:latin typeface="Aptos"/>
              </a:rPr>
              <a:t>is</a:t>
            </a:r>
            <a:r>
              <a:rPr lang="de-DE" sz="1800">
                <a:latin typeface="Aptos"/>
              </a:rPr>
              <a:t> </a:t>
            </a:r>
            <a:r>
              <a:rPr lang="de-DE" sz="1800" b="1">
                <a:latin typeface="Aptos"/>
              </a:rPr>
              <a:t>brick</a:t>
            </a:r>
            <a:r>
              <a:rPr lang="de-DE" sz="1800">
                <a:latin typeface="Aptos"/>
              </a:rPr>
              <a:t> (</a:t>
            </a:r>
            <a:r>
              <a:rPr lang="de-DE" sz="1800">
                <a:latin typeface="Aptos"/>
              </a:rPr>
              <a:t>default</a:t>
            </a:r>
            <a:r>
              <a:rPr lang="de-DE" sz="1800">
                <a:latin typeface="Aptos"/>
              </a:rPr>
              <a:t>) </a:t>
            </a:r>
            <a:r>
              <a:rPr lang="de-DE" sz="1800">
                <a:latin typeface="Aptos"/>
              </a:rPr>
              <a:t>or</a:t>
            </a:r>
            <a:r>
              <a:rPr lang="de-DE" sz="1800">
                <a:latin typeface="Aptos"/>
              </a:rPr>
              <a:t> </a:t>
            </a:r>
            <a:r>
              <a:rPr lang="de-DE" sz="1800" b="1">
                <a:latin typeface="Aptos"/>
              </a:rPr>
              <a:t>tiled</a:t>
            </a:r>
            <a:r>
              <a:rPr lang="de-DE" sz="1800">
                <a:latin typeface="Aptos"/>
              </a:rPr>
              <a:t> (</a:t>
            </a:r>
            <a:r>
              <a:rPr lang="de-DE" sz="1800">
                <a:latin typeface="Aptos"/>
              </a:rPr>
              <a:t>customizable</a:t>
            </a:r>
            <a:r>
              <a:rPr lang="de-DE" sz="1800">
                <a:latin typeface="Aptos"/>
              </a:rPr>
              <a:t>).</a:t>
            </a:r>
            <a:endParaRPr/>
          </a:p>
          <a:p>
            <a:pPr>
              <a:defRPr/>
            </a:pPr>
            <a:r>
              <a:rPr lang="de-DE" sz="1800"/>
              <a:t>Note: </a:t>
            </a:r>
            <a:r>
              <a:rPr lang="de-DE" sz="1800"/>
              <a:t>comm_style</a:t>
            </a:r>
            <a:r>
              <a:rPr lang="de-DE" sz="1800"/>
              <a:t> </a:t>
            </a:r>
            <a:r>
              <a:rPr lang="de-DE" sz="1800" i="1"/>
              <a:t>only</a:t>
            </a:r>
            <a:r>
              <a:rPr lang="de-DE" sz="1800" i="1"/>
              <a:t> </a:t>
            </a:r>
            <a:r>
              <a:rPr lang="de-DE" sz="1800"/>
              <a:t>presents</a:t>
            </a:r>
            <a:r>
              <a:rPr lang="de-DE" sz="1800"/>
              <a:t> </a:t>
            </a:r>
            <a:r>
              <a:rPr lang="de-DE" sz="1800"/>
              <a:t>kind</a:t>
            </a:r>
            <a:r>
              <a:rPr lang="de-DE" sz="1800"/>
              <a:t> </a:t>
            </a:r>
            <a:r>
              <a:rPr lang="de-DE" sz="1800"/>
              <a:t>of</a:t>
            </a:r>
            <a:r>
              <a:rPr lang="de-DE" sz="1800"/>
              <a:t> </a:t>
            </a:r>
            <a:r>
              <a:rPr lang="de-DE" sz="1800"/>
              <a:t>decomposition</a:t>
            </a:r>
            <a:r>
              <a:rPr lang="de-DE" sz="1800"/>
              <a:t> and </a:t>
            </a:r>
            <a:r>
              <a:rPr lang="de-DE" sz="1800"/>
              <a:t>pattern</a:t>
            </a:r>
            <a:r>
              <a:rPr lang="de-DE" sz="1800"/>
              <a:t> </a:t>
            </a:r>
            <a:r>
              <a:rPr lang="de-DE" sz="1800"/>
              <a:t>of</a:t>
            </a:r>
            <a:r>
              <a:rPr lang="de-DE" sz="1800"/>
              <a:t> </a:t>
            </a:r>
            <a:r>
              <a:rPr lang="de-DE" sz="1800"/>
              <a:t>communication</a:t>
            </a:r>
            <a:r>
              <a:rPr lang="de-DE" sz="1800"/>
              <a:t>. </a:t>
            </a:r>
            <a:endParaRPr/>
          </a:p>
          <a:p>
            <a:pPr>
              <a:defRPr/>
            </a:pPr>
            <a:endParaRPr lang="de-DE" sz="1800"/>
          </a:p>
          <a:p>
            <a:pPr>
              <a:defRPr/>
            </a:pPr>
            <a:endParaRPr lang="de-DE" sz="1800"/>
          </a:p>
        </p:txBody>
      </p:sp>
      <p:pic>
        <p:nvPicPr>
          <p:cNvPr id="979003414" name="Grafik 3" descr="Ein Bild, das Rechteck, Quadrat, Muster, Farbigkeit enthält.&#10;&#10;KI-generierte Inhalte können fehlerhaft sein."/>
          <p:cNvPicPr>
            <a:picLocks noChangeAspect="1"/>
          </p:cNvPicPr>
          <p:nvPr/>
        </p:nvPicPr>
        <p:blipFill rotWithShape="1">
          <a:blip r:embed="rId3"/>
          <a:srcRect l="0" t="377" r="1" b="1"/>
          <a:stretch/>
        </p:blipFill>
        <p:spPr bwMode="auto">
          <a:xfrm>
            <a:off x="5308052" y="10"/>
            <a:ext cx="6560359" cy="6534401"/>
          </a:xfrm>
          <a:custGeom>
            <a:avLst/>
            <a:gdLst/>
            <a:ahLst/>
            <a:cxnLst/>
            <a:rect l="l" t="t" r="r" b="b"/>
            <a:pathLst>
              <a:path w="6883948" h="6858000" fill="norm" stroke="1" extrusionOk="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603838509" name="Pfeil: nach rechts 4"/>
          <p:cNvSpPr/>
          <p:nvPr/>
        </p:nvSpPr>
        <p:spPr bwMode="auto">
          <a:xfrm>
            <a:off x="2286002" y="5793287"/>
            <a:ext cx="3121066" cy="84550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de-DE" sz="1400"/>
              <a:t>Spatial</a:t>
            </a:r>
            <a:r>
              <a:rPr lang="de-DE" sz="1400"/>
              <a:t> </a:t>
            </a:r>
            <a:r>
              <a:rPr lang="de-DE" sz="1400"/>
              <a:t>Decomposition</a:t>
            </a:r>
            <a:endParaRPr lang="de-DE" sz="1400"/>
          </a:p>
          <a:p>
            <a:pPr algn="ctr">
              <a:defRPr/>
            </a:pPr>
            <a:r>
              <a:rPr lang="de-DE" sz="1400"/>
              <a:t>One</a:t>
            </a:r>
            <a:r>
              <a:rPr lang="de-DE" sz="1400"/>
              <a:t> </a:t>
            </a:r>
            <a:r>
              <a:rPr lang="de-DE" sz="1400"/>
              <a:t>subdomian</a:t>
            </a:r>
            <a:r>
              <a:rPr lang="de-DE" sz="1400"/>
              <a:t> = </a:t>
            </a:r>
            <a:r>
              <a:rPr lang="de-DE" sz="1400"/>
              <a:t>One</a:t>
            </a:r>
            <a:r>
              <a:rPr lang="de-DE" sz="1400"/>
              <a:t> MPI rank</a:t>
            </a:r>
            <a:endParaRPr/>
          </a:p>
        </p:txBody>
      </p:sp>
      <p:sp>
        <p:nvSpPr>
          <p:cNvPr id="1489487046" name="Rechteck 5"/>
          <p:cNvSpPr/>
          <p:nvPr/>
        </p:nvSpPr>
        <p:spPr bwMode="auto">
          <a:xfrm>
            <a:off x="5521890" y="4133589"/>
            <a:ext cx="1649261" cy="213986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283385777" name="Gerade Verbindung mit Pfeil 9"/>
          <p:cNvCxnSpPr/>
          <p:nvPr/>
        </p:nvCxnSpPr>
        <p:spPr bwMode="auto">
          <a:xfrm>
            <a:off x="4853836" y="1555315"/>
            <a:ext cx="1189973" cy="29436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5671739" name="Textfeld 11"/>
          <p:cNvSpPr txBox="1"/>
          <p:nvPr/>
        </p:nvSpPr>
        <p:spPr bwMode="auto">
          <a:xfrm>
            <a:off x="3213447" y="463237"/>
            <a:ext cx="233114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/>
              <a:t>Particle</a:t>
            </a:r>
            <a:r>
              <a:rPr lang="de-DE"/>
              <a:t> </a:t>
            </a:r>
            <a:r>
              <a:rPr lang="de-DE"/>
              <a:t>decomposition</a:t>
            </a:r>
            <a:r>
              <a:rPr lang="de-DE"/>
              <a:t>. </a:t>
            </a:r>
            <a:r>
              <a:rPr lang="de-DE"/>
              <a:t>One</a:t>
            </a:r>
            <a:r>
              <a:rPr lang="de-DE"/>
              <a:t> </a:t>
            </a:r>
            <a:r>
              <a:rPr lang="de-DE"/>
              <a:t>atom</a:t>
            </a:r>
            <a:r>
              <a:rPr lang="de-DE"/>
              <a:t>=</a:t>
            </a:r>
            <a:r>
              <a:rPr lang="de-DE"/>
              <a:t>one</a:t>
            </a:r>
            <a:r>
              <a:rPr lang="de-DE"/>
              <a:t> </a:t>
            </a:r>
            <a:r>
              <a:rPr lang="de-DE"/>
              <a:t>gpu</a:t>
            </a:r>
            <a:r>
              <a:rPr lang="de-DE"/>
              <a:t> </a:t>
            </a:r>
            <a:r>
              <a:rPr lang="de-DE"/>
              <a:t>thread</a:t>
            </a:r>
            <a:endParaRPr lang="de-DE"/>
          </a:p>
        </p:txBody>
      </p:sp>
      <p:sp>
        <p:nvSpPr>
          <p:cNvPr id="371609278" name="Ellipse 15"/>
          <p:cNvSpPr/>
          <p:nvPr/>
        </p:nvSpPr>
        <p:spPr bwMode="auto">
          <a:xfrm>
            <a:off x="6043808" y="4415425"/>
            <a:ext cx="198328" cy="198328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519280650" name="Textfeld 18"/>
          <p:cNvSpPr txBox="1"/>
          <p:nvPr/>
        </p:nvSpPr>
        <p:spPr bwMode="auto">
          <a:xfrm>
            <a:off x="5521890" y="6273452"/>
            <a:ext cx="42880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/>
              <a:t>Picture </a:t>
            </a:r>
            <a:r>
              <a:rPr lang="de-DE"/>
              <a:t>credit</a:t>
            </a:r>
            <a:r>
              <a:rPr lang="de-DE"/>
              <a:t>: LAMMPS </a:t>
            </a:r>
            <a:r>
              <a:rPr lang="de-DE"/>
              <a:t>documentation</a:t>
            </a:r>
            <a:endParaRPr/>
          </a:p>
        </p:txBody>
      </p:sp>
      <p:sp>
        <p:nvSpPr>
          <p:cNvPr id="36524608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5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00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900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2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4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3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2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7612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2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7612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2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7612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2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7612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60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385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67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126260" grpId="0" build="p"/>
      <p:bldP spid="1076126260" grpId="1" build="p"/>
      <p:bldP spid="603838509" grpId="0" animBg="1"/>
      <p:bldP spid="1489487046" grpId="0" animBg="1"/>
      <p:bldP spid="1905671739" grpId="0"/>
      <p:bldP spid="3716092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472328" name="Titel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9255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de-DE"/>
              <a:t>Workflow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runing</a:t>
            </a:r>
            <a:r>
              <a:rPr lang="de-DE"/>
              <a:t> a </a:t>
            </a:r>
            <a:r>
              <a:rPr lang="de-DE"/>
              <a:t>Molceular</a:t>
            </a:r>
            <a:r>
              <a:rPr lang="de-DE"/>
              <a:t> </a:t>
            </a:r>
            <a:r>
              <a:rPr lang="de-DE"/>
              <a:t>Mechanics</a:t>
            </a:r>
            <a:r>
              <a:rPr lang="de-DE"/>
              <a:t> </a:t>
            </a:r>
            <a:r>
              <a:rPr lang="de-DE"/>
              <a:t>simulation</a:t>
            </a:r>
            <a:endParaRPr/>
          </a:p>
        </p:txBody>
      </p:sp>
      <p:graphicFrame>
        <p:nvGraphicFramePr>
          <p:cNvPr id="1252639976" name="Inhaltsplatzhalter 4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200" y="1825625"/>
          <a:ext cx="10515600" cy="4351338"/>
          <a:chOff x="0" y="0"/>
          <a:ch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  <p:sp>
        <p:nvSpPr>
          <p:cNvPr id="733708463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6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44283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Workflow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running</a:t>
            </a:r>
            <a:r>
              <a:rPr lang="de-DE"/>
              <a:t> </a:t>
            </a:r>
            <a:r>
              <a:rPr lang="de-DE"/>
              <a:t>simulations</a:t>
            </a:r>
            <a:r>
              <a:rPr lang="de-DE"/>
              <a:t> in LAMMPS</a:t>
            </a:r>
            <a:endParaRPr/>
          </a:p>
          <a:p>
            <a:pPr>
              <a:defRPr/>
            </a:pPr>
            <a:endParaRPr lang="de-DE"/>
          </a:p>
        </p:txBody>
      </p:sp>
      <p:graphicFrame>
        <p:nvGraphicFramePr>
          <p:cNvPr id="607662360" name="Inhaltsplatzhalter 3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200" y="1512475"/>
          <a:ext cx="10515600" cy="4664488"/>
          <a:chOff x="0" y="0"/>
          <a:chExt cx="10515600" cy="4664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  <p:sp>
        <p:nvSpPr>
          <p:cNvPr id="522523697" name="Foliennummernplatzhalter 38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7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38203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LAMMPS PACKAGES</a:t>
            </a:r>
            <a:endParaRPr/>
          </a:p>
        </p:txBody>
      </p:sp>
      <p:sp>
        <p:nvSpPr>
          <p:cNvPr id="331529937" name="Inhaltsplatzhalter 2"/>
          <p:cNvSpPr>
            <a:spLocks noGrp="1"/>
          </p:cNvSpPr>
          <p:nvPr>
            <p:ph idx="1"/>
          </p:nvPr>
        </p:nvSpPr>
        <p:spPr bwMode="auto">
          <a:xfrm flipH="0" flipV="0">
            <a:off x="838198" y="1306526"/>
            <a:ext cx="10515600" cy="48704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LAMMPS is modular and has several optional packages. </a:t>
            </a:r>
            <a:endParaRPr/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During installation activate any package using;</a:t>
            </a:r>
            <a:endParaRPr lang="de-DE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lang="de-DE" sz="2800" b="0" i="0" u="none" strike="noStrike" cap="none" spc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-D PKG_packageName=yes</a:t>
            </a:r>
            <a:r>
              <a:rPr lang="de-DE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in CMAKE or </a:t>
            </a:r>
            <a:endParaRPr lang="de-DE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lang="de-DE" sz="2800" b="0" i="0" u="none" strike="noStrike" cap="none" spc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make yes-packagename </a:t>
            </a:r>
            <a:r>
              <a:rPr/>
              <a:t>in traditional make. </a:t>
            </a:r>
            <a:endParaRPr/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See </a:t>
            </a:r>
            <a:r>
              <a:rPr lang="de-DE" sz="2800" b="0" i="0" u="sng" strike="noStrike" cap="none" spc="0">
                <a:solidFill>
                  <a:schemeClr val="hlink"/>
                </a:solidFill>
                <a:latin typeface="Aptos"/>
                <a:ea typeface="Aptos"/>
                <a:cs typeface="Aptos"/>
                <a:hlinkClick r:id="rId3" tooltip=""/>
              </a:rPr>
              <a:t>LAMMPS documentation</a:t>
            </a:r>
            <a:r>
              <a:rPr lang="de-DE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for detailed information. </a:t>
            </a:r>
            <a:endParaRPr lang="de-DE"/>
          </a:p>
          <a:p>
            <a:pPr marL="0" indent="0">
              <a:buFont typeface="Arial"/>
              <a:buNone/>
              <a:defRPr/>
            </a:pPr>
            <a:endParaRPr lang="de-DE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endParaRPr lang="de-DE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endParaRPr/>
          </a:p>
        </p:txBody>
      </p:sp>
      <p:sp>
        <p:nvSpPr>
          <p:cNvPr id="2092436364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4C93A79-0DDA-9BF9-31FA-E96E0E9A0F58}" type="slidenum">
              <a:rPr lang="de-DE"/>
              <a:t/>
            </a:fld>
            <a:endParaRPr lang="de-DE"/>
          </a:p>
        </p:txBody>
      </p:sp>
      <p:graphicFrame>
        <p:nvGraphicFramePr>
          <p:cNvPr id="1126139768" name=""/>
          <p:cNvGraphicFramePr>
            <a:graphicFrameLocks xmlns:a="http://schemas.openxmlformats.org/drawingml/2006/main"/>
          </p:cNvGraphicFramePr>
          <p:nvPr/>
        </p:nvGraphicFramePr>
        <p:xfrm rot="0">
          <a:off x="1041777" y="3983901"/>
          <a:ext cx="8140699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853812"/>
                <a:gridCol w="1853812"/>
                <a:gridCol w="1853812"/>
                <a:gridCol w="1853812"/>
              </a:tblGrid>
              <a:tr h="610528">
                <a:tc>
                  <a:txBody>
                    <a:bodyPr/>
                    <a:p>
                      <a:pPr>
                        <a:defRPr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Input/Output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H5MD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Interaction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MANYBODY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REAXFF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MOLECULAR</a:t>
                      </a:r>
                      <a:endParaRPr/>
                    </a:p>
                  </a:txBody>
                  <a:tcPr/>
                </a:tc>
              </a:tr>
              <a:tr h="651503"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Chemistry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CLASS2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/>
                        <a:t>ELECTRODE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b="1"/>
                        <a:t>Acceleration</a:t>
                      </a:r>
                      <a:endParaRPr lang="en-GB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OPENMP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/>
                        <a:t>KOKKOS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/>
                        <a:t>GPU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/>
                        <a:t>INTEL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/>
                        <a:t>OPT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693891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47409181" name="Rectangl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826981132" name="Group 28"/>
          <p:cNvGrpSpPr>
            <a:grpSpLocks noChangeAspect="1" noGrp="1" noMove="1" noResize="1" noRot="1" noUngrp="1"/>
          </p:cNvGrpSpPr>
          <p:nvPr/>
        </p:nvGrpSpPr>
        <p:grpSpPr bwMode="auto"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0" name="Oval 29"/>
            <p:cNvSpPr/>
            <p:nvPr/>
          </p:nvSpPr>
          <p:spPr bwMode="auto"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1" name="Oval 30"/>
            <p:cNvSpPr/>
            <p:nvPr/>
          </p:nvSpPr>
          <p:spPr bwMode="auto">
            <a:xfrm rot="16199998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" name="Oval 31"/>
            <p:cNvSpPr/>
            <p:nvPr/>
          </p:nvSpPr>
          <p:spPr bwMode="auto">
            <a:xfrm rot="16199998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" name="Oval 32"/>
            <p:cNvSpPr/>
            <p:nvPr/>
          </p:nvSpPr>
          <p:spPr bwMode="auto"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" name="Oval 33"/>
            <p:cNvSpPr/>
            <p:nvPr/>
          </p:nvSpPr>
          <p:spPr bwMode="auto"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" name="Oval 34"/>
            <p:cNvSpPr/>
            <p:nvPr/>
          </p:nvSpPr>
          <p:spPr bwMode="auto"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1081705" name="Rectangle 3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6199998">
            <a:off x="10438146" y="1042605"/>
            <a:ext cx="2796461" cy="711252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398804497" name="Group 38"/>
          <p:cNvGrpSpPr>
            <a:grpSpLocks noChangeAspect="1" noGrp="1" noMove="1" noResize="1" noRot="1" noUngrp="1"/>
          </p:cNvGrpSpPr>
          <p:nvPr/>
        </p:nvGrpSpPr>
        <p:grpSpPr bwMode="auto"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0" name="Straight Connector 39"/>
            <p:cNvCxnSpPr/>
            <p:nvPr/>
          </p:nvCxnSpPr>
          <p:spPr bwMode="auto"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 bwMode="auto"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 bwMode="auto"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 bwMode="auto"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4639445" name="Rectangle 4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0800000">
            <a:off x="-1" y="6140785"/>
            <a:ext cx="6095997" cy="711252"/>
          </a:xfrm>
          <a:prstGeom prst="rect">
            <a:avLst/>
          </a:prstGeom>
          <a:gradFill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494847768" name="Group 46"/>
          <p:cNvGrpSpPr>
            <a:grpSpLocks noChangeAspect="1" noGrp="1" noMove="1" noResize="1" noRot="1" noUngrp="1"/>
          </p:cNvGrpSpPr>
          <p:nvPr/>
        </p:nvGrpSpPr>
        <p:grpSpPr bwMode="auto"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8" name="Straight Connector 47"/>
            <p:cNvCxnSpPr/>
            <p:nvPr/>
          </p:nvCxnSpPr>
          <p:spPr bwMode="auto"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 bwMode="auto"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 bwMode="auto"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 bwMode="auto"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612865" name="Titel 1"/>
          <p:cNvSpPr>
            <a:spLocks noGrp="1"/>
          </p:cNvSpPr>
          <p:nvPr>
            <p:ph type="title"/>
          </p:nvPr>
        </p:nvSpPr>
        <p:spPr bwMode="auto">
          <a:xfrm>
            <a:off x="630936" y="630936"/>
            <a:ext cx="5465064" cy="5626947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>
              <a:defRPr/>
            </a:pPr>
            <a:r>
              <a:rPr lang="de-DE" sz="4800">
                <a:solidFill>
                  <a:schemeClr val="bg1"/>
                </a:solidFill>
              </a:rPr>
              <a:t>Structure of LAMMPS </a:t>
            </a:r>
            <a:br>
              <a:rPr lang="de-DE" sz="4800">
                <a:solidFill>
                  <a:schemeClr val="bg1"/>
                </a:solidFill>
              </a:rPr>
            </a:br>
            <a:r>
              <a:rPr lang="de-DE" sz="4800">
                <a:solidFill>
                  <a:schemeClr val="bg1"/>
                </a:solidFill>
              </a:rPr>
              <a:t>input script</a:t>
            </a:r>
            <a:endParaRPr/>
          </a:p>
        </p:txBody>
      </p:sp>
      <p:sp>
        <p:nvSpPr>
          <p:cNvPr id="1141247676" name="Inhaltsplatzhalter 2"/>
          <p:cNvSpPr>
            <a:spLocks noGrp="1"/>
          </p:cNvSpPr>
          <p:nvPr>
            <p:ph idx="1"/>
          </p:nvPr>
        </p:nvSpPr>
        <p:spPr bwMode="auto">
          <a:xfrm>
            <a:off x="6502152" y="630936"/>
            <a:ext cx="4978592" cy="56269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/>
              <a:buChar char="•"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de-DE">
                <a:solidFill>
                  <a:schemeClr val="bg1"/>
                </a:solidFill>
              </a:rPr>
              <a:t>Input </a:t>
            </a:r>
            <a:r>
              <a:rPr lang="de-DE">
                <a:solidFill>
                  <a:schemeClr val="bg1"/>
                </a:solidFill>
              </a:rPr>
              <a:t>script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is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b="1">
                <a:solidFill>
                  <a:schemeClr val="bg1"/>
                </a:solidFill>
              </a:rPr>
              <a:t>text</a:t>
            </a:r>
            <a:r>
              <a:rPr lang="de-DE" b="1">
                <a:solidFill>
                  <a:schemeClr val="bg1"/>
                </a:solidFill>
              </a:rPr>
              <a:t> </a:t>
            </a:r>
            <a:r>
              <a:rPr lang="de-DE" b="1">
                <a:solidFill>
                  <a:schemeClr val="bg1"/>
                </a:solidFill>
              </a:rPr>
              <a:t>file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containing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b="1">
                <a:solidFill>
                  <a:schemeClr val="bg1"/>
                </a:solidFill>
              </a:rPr>
              <a:t>commands</a:t>
            </a:r>
            <a:endParaRPr lang="de-DE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de-DE">
                <a:solidFill>
                  <a:schemeClr val="bg1"/>
                </a:solidFill>
              </a:rPr>
              <a:t>To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learn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commands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read</a:t>
            </a:r>
            <a:r>
              <a:rPr lang="de-DE" b="1">
                <a:solidFill>
                  <a:schemeClr val="bg1"/>
                </a:solidFill>
              </a:rPr>
              <a:t> </a:t>
            </a:r>
            <a:r>
              <a:rPr lang="de-DE" u="sng">
                <a:solidFill>
                  <a:schemeClr val="bg1"/>
                </a:solidFill>
                <a:hlinkClick r:id="rId3" tooltip=""/>
              </a:rPr>
              <a:t>lammps documentation</a:t>
            </a:r>
            <a:endParaRPr lang="de-DE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</p:txBody>
      </p:sp>
      <p:sp>
        <p:nvSpPr>
          <p:cNvPr id="601274930" name="Foliennummernplatzhalter 3"/>
          <p:cNvSpPr>
            <a:spLocks noGrp="1"/>
          </p:cNvSpPr>
          <p:nvPr>
            <p:ph type="sldNum" sz="quarter" idx="12"/>
          </p:nvPr>
        </p:nvSpPr>
        <p:spPr bwMode="auto">
          <a:xfrm>
            <a:off x="0" y="6309360"/>
            <a:ext cx="640080" cy="54864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  <a:defRPr/>
            </a:pPr>
            <a:fld id="{802006FE-6571-4354-8775-F8708372C227}" type="slidenum">
              <a:rPr lang="de-DE">
                <a:solidFill>
                  <a:schemeClr val="bg1"/>
                </a:solidFill>
              </a:rPr>
              <a:t>8</a:t>
            </a:fld>
            <a:endParaRPr lang="de-DE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293950" name="Rectangle 1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84140031" name="Rectangle 13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43467" y="643465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988056669" name="Grafik 5" descr="Ein Bild, das Text, Screenshot, Schrift, Dokument enthält.&#10;&#10;KI-generierte Inhalte können fehlerhaft sein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8128" y="650874"/>
            <a:ext cx="3203702" cy="5546726"/>
          </a:xfrm>
          <a:prstGeom prst="rect">
            <a:avLst/>
          </a:prstGeom>
        </p:spPr>
      </p:pic>
      <p:sp>
        <p:nvSpPr>
          <p:cNvPr id="1049935772" name="Rectangle 15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4326882" y="643465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818912525" name="Grafik 4" descr="Ein Bild, das Text, Schrift, Screenshot, Dokument enthält.&#10;&#10;KI-generierte Inhalte können fehlerhaft sein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324126" y="649239"/>
            <a:ext cx="3528060" cy="5551009"/>
          </a:xfrm>
          <a:prstGeom prst="rect">
            <a:avLst/>
          </a:prstGeom>
        </p:spPr>
      </p:pic>
      <p:sp>
        <p:nvSpPr>
          <p:cNvPr id="774142022" name="Rectangle 1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8022847" y="643465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34949825" name="Grafik 6" descr="Ein Bild, das Text, Screenshot, Schrift, Dokument enthält.&#10;&#10;KI-generierte Inhalte können fehlerhaft sein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020091" y="640796"/>
            <a:ext cx="3528060" cy="3880956"/>
          </a:xfrm>
          <a:prstGeom prst="rect">
            <a:avLst/>
          </a:prstGeom>
        </p:spPr>
      </p:pic>
      <p:sp>
        <p:nvSpPr>
          <p:cNvPr id="788074739" name="Foliennummernplatzhalter 1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802006FE-6571-4354-8775-F8708372C227}" type="slidenum">
              <a:rPr lang="de-DE"/>
              <a:t>9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9455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E82C02-80BB-89CE-8466-6A7DE9E571F0}" type="slidenum">
              <a:rPr lang="de-DE"/>
              <a:t/>
            </a:fld>
            <a:endParaRPr lang="de-DE"/>
          </a:p>
        </p:txBody>
      </p:sp>
      <p:pic>
        <p:nvPicPr>
          <p:cNvPr id="159076212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36089" y="546887"/>
            <a:ext cx="7824320" cy="5868240"/>
          </a:xfrm>
          <a:prstGeom prst="rect">
            <a:avLst/>
          </a:prstGeom>
        </p:spPr>
      </p:pic>
      <p:sp>
        <p:nvSpPr>
          <p:cNvPr id="35160837" name=""/>
          <p:cNvSpPr txBox="1"/>
          <p:nvPr/>
        </p:nvSpPr>
        <p:spPr bwMode="auto">
          <a:xfrm rot="0" flipH="0" flipV="0">
            <a:off x="5113397" y="3197093"/>
            <a:ext cx="140313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mobile</a:t>
            </a:r>
            <a:endParaRPr/>
          </a:p>
        </p:txBody>
      </p:sp>
      <p:sp>
        <p:nvSpPr>
          <p:cNvPr id="1095917370" name=""/>
          <p:cNvSpPr txBox="1"/>
          <p:nvPr/>
        </p:nvSpPr>
        <p:spPr bwMode="auto">
          <a:xfrm rot="0" flipH="0" flipV="0">
            <a:off x="5113397" y="1473525"/>
            <a:ext cx="110897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upper</a:t>
            </a:r>
            <a:endParaRPr/>
          </a:p>
        </p:txBody>
      </p:sp>
      <p:sp>
        <p:nvSpPr>
          <p:cNvPr id="1180022538" name=""/>
          <p:cNvSpPr txBox="1"/>
          <p:nvPr/>
        </p:nvSpPr>
        <p:spPr bwMode="auto">
          <a:xfrm rot="0" flipH="0" flipV="0">
            <a:off x="5113397" y="5242820"/>
            <a:ext cx="124247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lower</a:t>
            </a:r>
            <a:endParaRPr/>
          </a:p>
        </p:txBody>
      </p:sp>
      <p:sp>
        <p:nvSpPr>
          <p:cNvPr id="1131089032" name=""/>
          <p:cNvSpPr txBox="1"/>
          <p:nvPr/>
        </p:nvSpPr>
        <p:spPr bwMode="auto">
          <a:xfrm rot="0" flipH="0" flipV="0">
            <a:off x="2369871" y="2572563"/>
            <a:ext cx="113672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left upper</a:t>
            </a:r>
            <a:endParaRPr/>
          </a:p>
        </p:txBody>
      </p:sp>
      <p:sp>
        <p:nvSpPr>
          <p:cNvPr id="913342054" name=""/>
          <p:cNvSpPr txBox="1"/>
          <p:nvPr/>
        </p:nvSpPr>
        <p:spPr bwMode="auto">
          <a:xfrm rot="0" flipH="0" flipV="0">
            <a:off x="2369871" y="4428717"/>
            <a:ext cx="109833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left lower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546756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720724"/>
            <a:ext cx="10515600" cy="5456238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Global </a:t>
            </a:r>
            <a:r>
              <a:rPr lang="de-DE" b="1"/>
              <a:t>settings</a:t>
            </a:r>
            <a:r>
              <a:rPr lang="de-DE"/>
              <a:t>:</a:t>
            </a:r>
            <a:endParaRPr/>
          </a:p>
          <a:p>
            <a:pPr marL="0" indent="0">
              <a:buNone/>
              <a:defRPr/>
            </a:pPr>
            <a:r>
              <a:rPr lang="de-DE"/>
              <a:t> Units, </a:t>
            </a:r>
            <a:r>
              <a:rPr lang="de-DE"/>
              <a:t>dimension</a:t>
            </a:r>
            <a:r>
              <a:rPr lang="de-DE"/>
              <a:t>, </a:t>
            </a:r>
            <a:r>
              <a:rPr lang="de-DE"/>
              <a:t>atom_style</a:t>
            </a:r>
            <a:r>
              <a:rPr lang="de-DE"/>
              <a:t>, </a:t>
            </a:r>
            <a:r>
              <a:rPr lang="de-DE"/>
              <a:t>boundary</a:t>
            </a:r>
            <a:r>
              <a:rPr lang="de-DE"/>
              <a:t> </a:t>
            </a:r>
            <a:r>
              <a:rPr lang="de-DE"/>
              <a:t>commands</a:t>
            </a:r>
            <a:r>
              <a:rPr lang="de-DE"/>
              <a:t>  </a:t>
            </a:r>
            <a:endParaRPr/>
          </a:p>
          <a:p>
            <a:pPr>
              <a:defRPr/>
            </a:pPr>
            <a:endParaRPr lang="de-DE" b="1">
              <a:latin typeface="Comic Sans MS"/>
            </a:endParaRPr>
          </a:p>
          <a:p>
            <a:pPr>
              <a:defRPr/>
            </a:pPr>
            <a:endParaRPr lang="de-DE" b="1">
              <a:latin typeface="Comic Sans MS"/>
            </a:endParaRPr>
          </a:p>
          <a:p>
            <a:pPr marL="0" indent="0">
              <a:buNone/>
              <a:defRPr/>
            </a:pPr>
            <a:endParaRPr lang="de-DE" b="1">
              <a:latin typeface="Comic Sans MS"/>
              <a:ea typeface="+mn-lt"/>
              <a:cs typeface="+mn-lt"/>
            </a:endParaRPr>
          </a:p>
          <a:p>
            <a:pPr>
              <a:defRPr/>
            </a:pPr>
            <a:endParaRPr lang="de-DE">
              <a:latin typeface="Aptos"/>
              <a:ea typeface="+mn-lt"/>
              <a:cs typeface="+mn-lt"/>
            </a:endParaRPr>
          </a:p>
          <a:p>
            <a:pPr>
              <a:defRPr/>
            </a:pPr>
            <a:r>
              <a:rPr lang="de-DE">
                <a:latin typeface="Aptos"/>
                <a:ea typeface="+mn-lt"/>
                <a:cs typeface="+mn-lt"/>
              </a:rPr>
              <a:t>Simulation </a:t>
            </a:r>
            <a:r>
              <a:rPr lang="de-DE" b="1">
                <a:latin typeface="Aptos"/>
                <a:ea typeface="+mn-lt"/>
                <a:cs typeface="+mn-lt"/>
              </a:rPr>
              <a:t>box</a:t>
            </a:r>
            <a:r>
              <a:rPr lang="de-DE">
                <a:latin typeface="Aptos"/>
                <a:ea typeface="+mn-lt"/>
                <a:cs typeface="+mn-lt"/>
              </a:rPr>
              <a:t> and </a:t>
            </a:r>
            <a:r>
              <a:rPr lang="de-DE" b="1">
                <a:latin typeface="Aptos"/>
                <a:ea typeface="+mn-lt"/>
                <a:cs typeface="+mn-lt"/>
              </a:rPr>
              <a:t>atoms</a:t>
            </a:r>
            <a:r>
              <a:rPr lang="de-DE">
                <a:latin typeface="Aptos"/>
                <a:ea typeface="+mn-lt"/>
                <a:cs typeface="+mn-lt"/>
              </a:rPr>
              <a:t> : </a:t>
            </a:r>
            <a:endParaRPr lang="de-DE"/>
          </a:p>
          <a:p>
            <a:pPr marL="0" indent="0">
              <a:buNone/>
              <a:defRPr/>
            </a:pPr>
            <a:r>
              <a:rPr lang="de-DE">
                <a:latin typeface="Aptos"/>
                <a:ea typeface="+mn-lt"/>
                <a:cs typeface="+mn-lt"/>
              </a:rPr>
              <a:t>region</a:t>
            </a:r>
            <a:r>
              <a:rPr lang="de-DE">
                <a:latin typeface="Aptos"/>
                <a:ea typeface="+mn-lt"/>
                <a:cs typeface="+mn-lt"/>
              </a:rPr>
              <a:t>, </a:t>
            </a:r>
            <a:r>
              <a:rPr lang="de-DE">
                <a:latin typeface="Aptos"/>
                <a:ea typeface="+mn-lt"/>
                <a:cs typeface="+mn-lt"/>
              </a:rPr>
              <a:t>create_box</a:t>
            </a:r>
            <a:r>
              <a:rPr lang="de-DE">
                <a:latin typeface="Aptos"/>
                <a:ea typeface="+mn-lt"/>
                <a:cs typeface="+mn-lt"/>
              </a:rPr>
              <a:t>, </a:t>
            </a:r>
            <a:r>
              <a:rPr lang="de-DE">
                <a:latin typeface="Aptos"/>
                <a:ea typeface="+mn-lt"/>
                <a:cs typeface="+mn-lt"/>
              </a:rPr>
              <a:t>create_atoms</a:t>
            </a:r>
            <a:r>
              <a:rPr lang="de-DE">
                <a:latin typeface="Aptos"/>
                <a:ea typeface="+mn-lt"/>
                <a:cs typeface="+mn-lt"/>
              </a:rPr>
              <a:t>, </a:t>
            </a:r>
            <a:r>
              <a:rPr lang="de-DE">
                <a:latin typeface="Aptos"/>
                <a:ea typeface="+mn-lt"/>
                <a:cs typeface="+mn-lt"/>
              </a:rPr>
              <a:t>lattice</a:t>
            </a:r>
            <a:endParaRPr lang="de-DE">
              <a:latin typeface="Aptos"/>
              <a:ea typeface="+mn-lt"/>
              <a:cs typeface="+mn-lt"/>
            </a:endParaRPr>
          </a:p>
          <a:p>
            <a:pPr marL="0" indent="0">
              <a:buNone/>
              <a:defRPr/>
            </a:pPr>
            <a:r>
              <a:rPr lang="de-DE">
                <a:latin typeface="Aptos"/>
                <a:ea typeface="+mn-lt"/>
                <a:cs typeface="+mn-lt"/>
              </a:rPr>
              <a:t>read_data</a:t>
            </a:r>
            <a:r>
              <a:rPr lang="de-DE">
                <a:latin typeface="Aptos"/>
                <a:ea typeface="+mn-lt"/>
                <a:cs typeface="+mn-lt"/>
              </a:rPr>
              <a:t>, </a:t>
            </a:r>
            <a:r>
              <a:rPr lang="de-DE">
                <a:latin typeface="Aptos"/>
                <a:ea typeface="+mn-lt"/>
                <a:cs typeface="+mn-lt"/>
              </a:rPr>
              <a:t>read_restart</a:t>
            </a:r>
            <a:r>
              <a:rPr lang="de-DE">
                <a:latin typeface="Aptos"/>
                <a:ea typeface="+mn-lt"/>
                <a:cs typeface="+mn-lt"/>
              </a:rPr>
              <a:t>, </a:t>
            </a:r>
            <a:r>
              <a:rPr lang="de-DE">
                <a:latin typeface="Aptos"/>
                <a:ea typeface="+mn-lt"/>
                <a:cs typeface="+mn-lt"/>
              </a:rPr>
              <a:t>read_molecule</a:t>
            </a:r>
            <a:endParaRPr lang="de-DE">
              <a:latin typeface="Aptos"/>
              <a:ea typeface="+mn-lt"/>
              <a:cs typeface="+mn-lt"/>
            </a:endParaRPr>
          </a:p>
          <a:p>
            <a:pPr>
              <a:defRPr/>
            </a:pPr>
            <a:endParaRPr lang="de-DE">
              <a:latin typeface="Aptos"/>
              <a:ea typeface="+mn-lt"/>
              <a:cs typeface="+mn-lt"/>
            </a:endParaRPr>
          </a:p>
          <a:p>
            <a:pPr marL="0" indent="0">
              <a:buNone/>
              <a:defRPr/>
            </a:pPr>
            <a:endParaRPr lang="de-DE">
              <a:latin typeface="Aptos"/>
              <a:ea typeface="+mn-lt"/>
              <a:cs typeface="+mn-lt"/>
            </a:endParaRPr>
          </a:p>
          <a:p>
            <a:pPr>
              <a:defRPr/>
            </a:pPr>
            <a:endParaRPr lang="de-DE">
              <a:latin typeface="Aptos"/>
              <a:ea typeface="+mn-lt"/>
              <a:cs typeface="+mn-lt"/>
            </a:endParaRPr>
          </a:p>
        </p:txBody>
      </p:sp>
      <p:sp>
        <p:nvSpPr>
          <p:cNvPr id="68467399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10</a:t>
            </a:fld>
            <a:endParaRPr lang="de-DE"/>
          </a:p>
        </p:txBody>
      </p:sp>
      <p:sp>
        <p:nvSpPr>
          <p:cNvPr id="456860959" name="Textfeld 6"/>
          <p:cNvSpPr txBox="1"/>
          <p:nvPr/>
        </p:nvSpPr>
        <p:spPr bwMode="auto">
          <a:xfrm>
            <a:off x="3718142" y="1945579"/>
            <a:ext cx="4748016" cy="18279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sz="2000">
                <a:latin typeface="Comic Sans MS"/>
                <a:ea typeface="+mn-lt"/>
                <a:cs typeface="+mn-lt"/>
              </a:rPr>
              <a:t>dimension</a:t>
            </a:r>
            <a:r>
              <a:rPr lang="de-DE" sz="2000">
                <a:latin typeface="Comic Sans MS"/>
                <a:ea typeface="+mn-lt"/>
                <a:cs typeface="+mn-lt"/>
              </a:rPr>
              <a:t>    2</a:t>
            </a:r>
            <a:endParaRPr lang="de-DE">
              <a:latin typeface="Comic Sans MS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lang="de-DE" sz="2000">
                <a:latin typeface="Comic Sans MS"/>
                <a:ea typeface="+mn-lt"/>
                <a:cs typeface="+mn-lt"/>
              </a:rPr>
              <a:t>boundary</a:t>
            </a:r>
            <a:r>
              <a:rPr lang="de-DE" sz="2000">
                <a:latin typeface="Comic Sans MS"/>
                <a:ea typeface="+mn-lt"/>
                <a:cs typeface="+mn-lt"/>
              </a:rPr>
              <a:t>    s </a:t>
            </a:r>
            <a:r>
              <a:rPr lang="de-DE" sz="2000">
                <a:latin typeface="Comic Sans MS"/>
                <a:ea typeface="+mn-lt"/>
                <a:cs typeface="+mn-lt"/>
              </a:rPr>
              <a:t>s</a:t>
            </a:r>
            <a:r>
              <a:rPr lang="de-DE" sz="2000">
                <a:latin typeface="Comic Sans MS"/>
                <a:ea typeface="+mn-lt"/>
                <a:cs typeface="+mn-lt"/>
              </a:rPr>
              <a:t> p</a:t>
            </a:r>
            <a:endParaRPr/>
          </a:p>
          <a:p>
            <a:pPr>
              <a:defRPr/>
            </a:pPr>
            <a:r>
              <a:rPr lang="de-DE" sz="2000">
                <a:latin typeface="Comic Sans MS"/>
                <a:ea typeface="+mn-lt"/>
                <a:cs typeface="+mn-lt"/>
              </a:rPr>
              <a:t>atom_style</a:t>
            </a:r>
            <a:r>
              <a:rPr lang="de-DE" sz="2000">
                <a:latin typeface="Comic Sans MS"/>
                <a:ea typeface="+mn-lt"/>
                <a:cs typeface="+mn-lt"/>
              </a:rPr>
              <a:t>    </a:t>
            </a:r>
            <a:r>
              <a:rPr lang="de-DE" sz="2000">
                <a:latin typeface="Comic Sans MS"/>
                <a:ea typeface="+mn-lt"/>
                <a:cs typeface="+mn-lt"/>
              </a:rPr>
              <a:t>atomic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 sz="2000">
                <a:latin typeface="Comic Sans MS"/>
                <a:ea typeface="+mn-lt"/>
                <a:cs typeface="+mn-lt"/>
              </a:rPr>
              <a:t>neighbor</a:t>
            </a:r>
            <a:r>
              <a:rPr lang="de-DE" sz="2000">
                <a:latin typeface="Comic Sans MS"/>
                <a:ea typeface="+mn-lt"/>
                <a:cs typeface="+mn-lt"/>
              </a:rPr>
              <a:t>    0.3 bin</a:t>
            </a:r>
            <a:endParaRPr lang="de-DE">
              <a:latin typeface="Comic Sans MS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lang="de-DE" sz="2000">
                <a:latin typeface="Comic Sans MS"/>
                <a:ea typeface="+mn-lt"/>
                <a:cs typeface="+mn-lt"/>
              </a:rPr>
              <a:t>neigh_modify</a:t>
            </a:r>
            <a:r>
              <a:rPr lang="de-DE" sz="2000">
                <a:latin typeface="Comic Sans MS"/>
                <a:ea typeface="+mn-lt"/>
                <a:cs typeface="+mn-lt"/>
              </a:rPr>
              <a:t>    </a:t>
            </a:r>
            <a:r>
              <a:rPr lang="de-DE" sz="2000">
                <a:latin typeface="Comic Sans MS"/>
                <a:ea typeface="+mn-lt"/>
                <a:cs typeface="+mn-lt"/>
              </a:rPr>
              <a:t>delay</a:t>
            </a:r>
            <a:r>
              <a:rPr lang="de-DE" sz="2000">
                <a:latin typeface="Comic Sans MS"/>
                <a:ea typeface="+mn-lt"/>
                <a:cs typeface="+mn-lt"/>
              </a:rPr>
              <a:t> 5</a:t>
            </a:r>
            <a:endParaRPr lang="de-DE" b="1">
              <a:latin typeface="Comic Sans MS"/>
            </a:endParaRPr>
          </a:p>
        </p:txBody>
      </p:sp>
      <p:sp>
        <p:nvSpPr>
          <p:cNvPr id="442125782" name="Textfeld 9"/>
          <p:cNvSpPr txBox="1"/>
          <p:nvPr/>
        </p:nvSpPr>
        <p:spPr bwMode="auto">
          <a:xfrm>
            <a:off x="4466064" y="5399868"/>
            <a:ext cx="6448425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 sz="2000">
                <a:latin typeface="Comic Sans MS"/>
                <a:ea typeface="+mn-lt"/>
                <a:cs typeface="+mn-lt"/>
              </a:rPr>
              <a:t>lattice</a:t>
            </a:r>
            <a:r>
              <a:rPr lang="de-DE" sz="2000">
                <a:latin typeface="Comic Sans MS"/>
                <a:ea typeface="+mn-lt"/>
                <a:cs typeface="+mn-lt"/>
              </a:rPr>
              <a:t>        hex 0.93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 sz="2000">
                <a:latin typeface="Comic Sans MS"/>
                <a:ea typeface="+mn-lt"/>
                <a:cs typeface="+mn-lt"/>
              </a:rPr>
              <a:t>region</a:t>
            </a:r>
            <a:r>
              <a:rPr lang="de-DE" sz="2000">
                <a:latin typeface="Comic Sans MS"/>
                <a:ea typeface="+mn-lt"/>
                <a:cs typeface="+mn-lt"/>
              </a:rPr>
              <a:t>        box </a:t>
            </a:r>
            <a:r>
              <a:rPr lang="de-DE" sz="2000">
                <a:latin typeface="Comic Sans MS"/>
                <a:ea typeface="+mn-lt"/>
                <a:cs typeface="+mn-lt"/>
              </a:rPr>
              <a:t>block</a:t>
            </a:r>
            <a:r>
              <a:rPr lang="de-DE" sz="2000">
                <a:latin typeface="Comic Sans MS"/>
                <a:ea typeface="+mn-lt"/>
                <a:cs typeface="+mn-lt"/>
              </a:rPr>
              <a:t> 0 100 0 40 -0.25 0.25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 sz="2000">
                <a:latin typeface="Comic Sans MS"/>
                <a:ea typeface="+mn-lt"/>
                <a:cs typeface="+mn-lt"/>
              </a:rPr>
              <a:t>create_box</a:t>
            </a:r>
            <a:r>
              <a:rPr lang="de-DE" sz="2000">
                <a:latin typeface="Comic Sans MS"/>
                <a:ea typeface="+mn-lt"/>
                <a:cs typeface="+mn-lt"/>
              </a:rPr>
              <a:t>    5 box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 sz="2000">
                <a:latin typeface="Comic Sans MS"/>
                <a:ea typeface="+mn-lt"/>
                <a:cs typeface="+mn-lt"/>
              </a:rPr>
              <a:t>create_atoms</a:t>
            </a:r>
            <a:r>
              <a:rPr lang="de-DE" sz="2000">
                <a:latin typeface="Comic Sans MS"/>
                <a:ea typeface="+mn-lt"/>
                <a:cs typeface="+mn-lt"/>
              </a:rPr>
              <a:t>    1 box</a:t>
            </a:r>
            <a:endParaRPr lang="de-DE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546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546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86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5467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5467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5467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2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546756" grpId="0" build="p"/>
      <p:bldP spid="456860959" grpId="0" animBg="1"/>
      <p:bldP spid="44212578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500707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594702"/>
            <a:ext cx="10514931" cy="5937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 b="1"/>
              <a:t>group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atoms</a:t>
            </a:r>
            <a:r>
              <a:rPr lang="de-DE"/>
              <a:t>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specified</a:t>
            </a:r>
            <a:r>
              <a:rPr lang="de-DE"/>
              <a:t> 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 b="1"/>
              <a:t>set</a:t>
            </a:r>
            <a:r>
              <a:rPr lang="de-DE"/>
              <a:t> </a:t>
            </a:r>
            <a:r>
              <a:rPr lang="de-DE"/>
              <a:t>atoms</a:t>
            </a:r>
            <a:r>
              <a:rPr lang="de-DE"/>
              <a:t> </a:t>
            </a:r>
            <a:r>
              <a:rPr lang="de-DE"/>
              <a:t>attribute</a:t>
            </a:r>
            <a:r>
              <a:rPr lang="de-DE"/>
              <a:t> 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specify</a:t>
            </a:r>
            <a:r>
              <a:rPr lang="de-DE"/>
              <a:t> </a:t>
            </a:r>
            <a:r>
              <a:rPr lang="de-DE"/>
              <a:t>interaction</a:t>
            </a:r>
            <a:r>
              <a:rPr lang="de-DE" b="1"/>
              <a:t> style</a:t>
            </a:r>
            <a:endParaRPr/>
          </a:p>
          <a:p>
            <a:pPr marL="0" indent="0">
              <a:buNone/>
              <a:defRPr/>
            </a:pPr>
            <a:r>
              <a:rPr lang="de-DE"/>
              <a:t>bond_style</a:t>
            </a:r>
            <a:r>
              <a:rPr lang="de-DE"/>
              <a:t>, </a:t>
            </a:r>
            <a:r>
              <a:rPr lang="de-DE"/>
              <a:t>pair_style</a:t>
            </a:r>
            <a:r>
              <a:rPr lang="de-DE"/>
              <a:t>, </a:t>
            </a:r>
            <a:r>
              <a:rPr lang="de-DE"/>
              <a:t>angle_style</a:t>
            </a:r>
            <a:r>
              <a:rPr lang="de-DE"/>
              <a:t>, </a:t>
            </a:r>
            <a:r>
              <a:rPr lang="de-DE"/>
              <a:t>dihedral_style</a:t>
            </a:r>
            <a:r>
              <a:rPr lang="de-DE"/>
              <a:t>, </a:t>
            </a:r>
            <a:r>
              <a:rPr lang="de-DE"/>
              <a:t>kspace_style</a:t>
            </a:r>
            <a:r>
              <a:rPr lang="de-DE"/>
              <a:t>, …</a:t>
            </a:r>
            <a:endParaRPr/>
          </a:p>
          <a:p>
            <a:pPr marL="0" indent="0">
              <a:buNone/>
              <a:defRPr/>
            </a:pPr>
            <a:endParaRPr lang="de-DE"/>
          </a:p>
          <a:p>
            <a:pPr>
              <a:defRPr/>
            </a:pPr>
            <a:r>
              <a:rPr lang="de-DE"/>
              <a:t>Define</a:t>
            </a:r>
            <a:r>
              <a:rPr lang="de-DE"/>
              <a:t> </a:t>
            </a:r>
            <a:r>
              <a:rPr lang="de-DE"/>
              <a:t>diagnostics</a:t>
            </a:r>
            <a:r>
              <a:rPr lang="de-DE"/>
              <a:t> (</a:t>
            </a:r>
            <a:r>
              <a:rPr lang="de-DE"/>
              <a:t>quanities</a:t>
            </a:r>
            <a:r>
              <a:rPr lang="de-DE"/>
              <a:t>) </a:t>
            </a:r>
            <a:r>
              <a:rPr lang="de-DE"/>
              <a:t>that</a:t>
            </a:r>
            <a:r>
              <a:rPr lang="de-DE"/>
              <a:t> </a:t>
            </a:r>
            <a:r>
              <a:rPr lang="de-DE"/>
              <a:t>should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computed</a:t>
            </a:r>
            <a:endParaRPr lang="de-DE"/>
          </a:p>
          <a:p>
            <a:pPr marL="0" indent="0">
              <a:buNone/>
              <a:defRPr/>
            </a:pPr>
            <a:endParaRPr lang="de-DE"/>
          </a:p>
        </p:txBody>
      </p:sp>
      <p:sp>
        <p:nvSpPr>
          <p:cNvPr id="875560625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11</a:t>
            </a:fld>
            <a:endParaRPr lang="de-DE"/>
          </a:p>
        </p:txBody>
      </p:sp>
      <p:sp>
        <p:nvSpPr>
          <p:cNvPr id="1394374023" name="Textfeld 5"/>
          <p:cNvSpPr txBox="1"/>
          <p:nvPr/>
        </p:nvSpPr>
        <p:spPr bwMode="auto">
          <a:xfrm>
            <a:off x="2880986" y="1022958"/>
            <a:ext cx="4999972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group</a:t>
            </a:r>
            <a:r>
              <a:rPr lang="de-DE">
                <a:latin typeface="Comic Sans MS"/>
                <a:ea typeface="+mn-lt"/>
                <a:cs typeface="+mn-lt"/>
              </a:rPr>
              <a:t>        </a:t>
            </a:r>
            <a:r>
              <a:rPr lang="de-DE">
                <a:latin typeface="Comic Sans MS"/>
                <a:ea typeface="+mn-lt"/>
                <a:cs typeface="+mn-lt"/>
              </a:rPr>
              <a:t>upper</a:t>
            </a:r>
            <a:r>
              <a:rPr lang="de-DE">
                <a:latin typeface="Comic Sans MS"/>
                <a:ea typeface="+mn-lt"/>
                <a:cs typeface="+mn-lt"/>
              </a:rPr>
              <a:t> </a:t>
            </a:r>
            <a:r>
              <a:rPr lang="de-DE">
                <a:latin typeface="Comic Sans MS"/>
                <a:ea typeface="+mn-lt"/>
                <a:cs typeface="+mn-lt"/>
              </a:rPr>
              <a:t>region</a:t>
            </a:r>
            <a:r>
              <a:rPr lang="de-DE">
                <a:latin typeface="Comic Sans MS"/>
                <a:ea typeface="+mn-lt"/>
                <a:cs typeface="+mn-lt"/>
              </a:rPr>
              <a:t> 2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group</a:t>
            </a:r>
            <a:r>
              <a:rPr lang="de-DE">
                <a:latin typeface="Comic Sans MS"/>
                <a:ea typeface="+mn-lt"/>
                <a:cs typeface="+mn-lt"/>
              </a:rPr>
              <a:t>        </a:t>
            </a:r>
            <a:r>
              <a:rPr lang="de-DE">
                <a:latin typeface="Comic Sans MS"/>
                <a:ea typeface="+mn-lt"/>
                <a:cs typeface="+mn-lt"/>
              </a:rPr>
              <a:t>boundary</a:t>
            </a:r>
            <a:r>
              <a:rPr lang="de-DE">
                <a:latin typeface="Comic Sans MS"/>
                <a:ea typeface="+mn-lt"/>
                <a:cs typeface="+mn-lt"/>
              </a:rPr>
              <a:t> </a:t>
            </a:r>
            <a:r>
              <a:rPr lang="de-DE">
                <a:latin typeface="Comic Sans MS"/>
                <a:ea typeface="+mn-lt"/>
                <a:cs typeface="+mn-lt"/>
              </a:rPr>
              <a:t>union</a:t>
            </a:r>
            <a:r>
              <a:rPr lang="de-DE">
                <a:latin typeface="Comic Sans MS"/>
                <a:ea typeface="+mn-lt"/>
                <a:cs typeface="+mn-lt"/>
              </a:rPr>
              <a:t> </a:t>
            </a:r>
            <a:r>
              <a:rPr lang="de-DE">
                <a:latin typeface="Comic Sans MS"/>
                <a:ea typeface="+mn-lt"/>
                <a:cs typeface="+mn-lt"/>
              </a:rPr>
              <a:t>lower</a:t>
            </a:r>
            <a:r>
              <a:rPr lang="de-DE">
                <a:latin typeface="Comic Sans MS"/>
                <a:ea typeface="+mn-lt"/>
                <a:cs typeface="+mn-lt"/>
              </a:rPr>
              <a:t> </a:t>
            </a:r>
            <a:r>
              <a:rPr lang="de-DE">
                <a:latin typeface="Comic Sans MS"/>
                <a:ea typeface="+mn-lt"/>
                <a:cs typeface="+mn-lt"/>
              </a:rPr>
              <a:t>upper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group</a:t>
            </a:r>
            <a:r>
              <a:rPr lang="de-DE">
                <a:latin typeface="Comic Sans MS"/>
                <a:ea typeface="+mn-lt"/>
                <a:cs typeface="+mn-lt"/>
              </a:rPr>
              <a:t>        mobile </a:t>
            </a:r>
            <a:r>
              <a:rPr lang="de-DE">
                <a:latin typeface="Comic Sans MS"/>
                <a:ea typeface="+mn-lt"/>
                <a:cs typeface="+mn-lt"/>
              </a:rPr>
              <a:t>subtract</a:t>
            </a:r>
            <a:r>
              <a:rPr lang="de-DE">
                <a:latin typeface="Comic Sans MS"/>
                <a:ea typeface="+mn-lt"/>
                <a:cs typeface="+mn-lt"/>
              </a:rPr>
              <a:t> all </a:t>
            </a:r>
            <a:r>
              <a:rPr lang="de-DE">
                <a:latin typeface="Comic Sans MS"/>
                <a:ea typeface="+mn-lt"/>
                <a:cs typeface="+mn-lt"/>
              </a:rPr>
              <a:t>boundary</a:t>
            </a:r>
            <a:endParaRPr lang="de-DE">
              <a:latin typeface="Comic Sans MS"/>
            </a:endParaRPr>
          </a:p>
        </p:txBody>
      </p:sp>
      <p:sp>
        <p:nvSpPr>
          <p:cNvPr id="331778767" name="Textfeld 7"/>
          <p:cNvSpPr txBox="1"/>
          <p:nvPr/>
        </p:nvSpPr>
        <p:spPr bwMode="auto">
          <a:xfrm>
            <a:off x="2880986" y="2912300"/>
            <a:ext cx="3590793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set</a:t>
            </a:r>
            <a:r>
              <a:rPr lang="de-DE">
                <a:latin typeface="Comic Sans MS"/>
                <a:ea typeface="+mn-lt"/>
                <a:cs typeface="+mn-lt"/>
              </a:rPr>
              <a:t>        </a:t>
            </a:r>
            <a:r>
              <a:rPr lang="de-DE">
                <a:latin typeface="Comic Sans MS"/>
                <a:ea typeface="+mn-lt"/>
                <a:cs typeface="+mn-lt"/>
              </a:rPr>
              <a:t>group</a:t>
            </a:r>
            <a:r>
              <a:rPr lang="de-DE">
                <a:latin typeface="Comic Sans MS"/>
                <a:ea typeface="+mn-lt"/>
                <a:cs typeface="+mn-lt"/>
              </a:rPr>
              <a:t> </a:t>
            </a:r>
            <a:r>
              <a:rPr lang="de-DE">
                <a:latin typeface="Comic Sans MS"/>
                <a:ea typeface="+mn-lt"/>
                <a:cs typeface="+mn-lt"/>
              </a:rPr>
              <a:t>leftupper</a:t>
            </a:r>
            <a:r>
              <a:rPr lang="de-DE">
                <a:latin typeface="Comic Sans MS"/>
                <a:ea typeface="+mn-lt"/>
                <a:cs typeface="+mn-lt"/>
              </a:rPr>
              <a:t> type 2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set</a:t>
            </a:r>
            <a:r>
              <a:rPr lang="de-DE">
                <a:latin typeface="Comic Sans MS"/>
                <a:ea typeface="+mn-lt"/>
                <a:cs typeface="+mn-lt"/>
              </a:rPr>
              <a:t>        </a:t>
            </a:r>
            <a:r>
              <a:rPr lang="de-DE">
                <a:latin typeface="Comic Sans MS"/>
                <a:ea typeface="+mn-lt"/>
                <a:cs typeface="+mn-lt"/>
              </a:rPr>
              <a:t>group</a:t>
            </a:r>
            <a:r>
              <a:rPr lang="de-DE">
                <a:latin typeface="Comic Sans MS"/>
                <a:ea typeface="+mn-lt"/>
                <a:cs typeface="+mn-lt"/>
              </a:rPr>
              <a:t> </a:t>
            </a:r>
            <a:r>
              <a:rPr lang="de-DE">
                <a:latin typeface="Comic Sans MS"/>
                <a:ea typeface="+mn-lt"/>
                <a:cs typeface="+mn-lt"/>
              </a:rPr>
              <a:t>leftlower</a:t>
            </a:r>
            <a:r>
              <a:rPr lang="de-DE">
                <a:latin typeface="Comic Sans MS"/>
                <a:ea typeface="+mn-lt"/>
                <a:cs typeface="+mn-lt"/>
              </a:rPr>
              <a:t> type 3</a:t>
            </a:r>
            <a:endParaRPr lang="de-DE">
              <a:latin typeface="Comic Sans MS"/>
            </a:endParaRPr>
          </a:p>
        </p:txBody>
      </p:sp>
      <p:sp>
        <p:nvSpPr>
          <p:cNvPr id="354062129" name="Textfeld 8"/>
          <p:cNvSpPr txBox="1"/>
          <p:nvPr/>
        </p:nvSpPr>
        <p:spPr bwMode="auto">
          <a:xfrm>
            <a:off x="4676382" y="4839004"/>
            <a:ext cx="3455095" cy="6576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pair_style</a:t>
            </a:r>
            <a:r>
              <a:rPr lang="de-DE">
                <a:latin typeface="Comic Sans MS"/>
                <a:ea typeface="+mn-lt"/>
                <a:cs typeface="+mn-lt"/>
              </a:rPr>
              <a:t>    </a:t>
            </a:r>
            <a:r>
              <a:rPr lang="de-DE">
                <a:latin typeface="Comic Sans MS"/>
                <a:ea typeface="+mn-lt"/>
                <a:cs typeface="+mn-lt"/>
              </a:rPr>
              <a:t>lj</a:t>
            </a:r>
            <a:r>
              <a:rPr lang="de-DE">
                <a:latin typeface="Comic Sans MS"/>
                <a:ea typeface="+mn-lt"/>
                <a:cs typeface="+mn-lt"/>
              </a:rPr>
              <a:t>/</a:t>
            </a:r>
            <a:r>
              <a:rPr lang="de-DE">
                <a:latin typeface="Comic Sans MS"/>
                <a:ea typeface="+mn-lt"/>
                <a:cs typeface="+mn-lt"/>
              </a:rPr>
              <a:t>cut</a:t>
            </a:r>
            <a:r>
              <a:rPr lang="de-DE">
                <a:latin typeface="Comic Sans MS"/>
                <a:ea typeface="+mn-lt"/>
                <a:cs typeface="+mn-lt"/>
              </a:rPr>
              <a:t> 2.5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pair_coeff</a:t>
            </a:r>
            <a:r>
              <a:rPr lang="de-DE">
                <a:latin typeface="Comic Sans MS"/>
                <a:ea typeface="+mn-lt"/>
                <a:cs typeface="+mn-lt"/>
              </a:rPr>
              <a:t>    * * 1.0 1.0 2.5</a:t>
            </a:r>
            <a:endParaRPr lang="de-DE">
              <a:latin typeface="Comic Sans MS"/>
            </a:endParaRPr>
          </a:p>
        </p:txBody>
      </p:sp>
      <p:sp>
        <p:nvSpPr>
          <p:cNvPr id="1901269410" name="Textfeld 9"/>
          <p:cNvSpPr txBox="1"/>
          <p:nvPr/>
        </p:nvSpPr>
        <p:spPr bwMode="auto">
          <a:xfrm>
            <a:off x="4676382" y="6162534"/>
            <a:ext cx="4269286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compute</a:t>
            </a:r>
            <a:r>
              <a:rPr lang="de-DE">
                <a:latin typeface="Comic Sans MS"/>
                <a:ea typeface="+mn-lt"/>
                <a:cs typeface="+mn-lt"/>
              </a:rPr>
              <a:t>          </a:t>
            </a:r>
            <a:r>
              <a:rPr lang="de-DE">
                <a:latin typeface="Comic Sans MS"/>
                <a:ea typeface="+mn-lt"/>
                <a:cs typeface="+mn-lt"/>
              </a:rPr>
              <a:t>new</a:t>
            </a:r>
            <a:r>
              <a:rPr lang="de-DE">
                <a:latin typeface="Comic Sans MS"/>
                <a:ea typeface="+mn-lt"/>
                <a:cs typeface="+mn-lt"/>
              </a:rPr>
              <a:t> mobile </a:t>
            </a:r>
            <a:r>
              <a:rPr lang="de-DE">
                <a:latin typeface="Comic Sans MS"/>
                <a:ea typeface="+mn-lt"/>
                <a:cs typeface="+mn-lt"/>
              </a:rPr>
              <a:t>temp</a:t>
            </a:r>
            <a:endParaRPr lang="de-DE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355955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677406"/>
            <a:ext cx="10515600" cy="549955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 b="1"/>
              <a:t>fix</a:t>
            </a:r>
            <a:r>
              <a:rPr lang="de-DE"/>
              <a:t> </a:t>
            </a:r>
            <a:r>
              <a:rPr lang="de-DE"/>
              <a:t>commands</a:t>
            </a:r>
            <a:r>
              <a:rPr lang="de-DE"/>
              <a:t> </a:t>
            </a:r>
            <a:r>
              <a:rPr lang="de-DE"/>
              <a:t>applies</a:t>
            </a:r>
            <a:r>
              <a:rPr lang="de-DE"/>
              <a:t> </a:t>
            </a:r>
            <a:r>
              <a:rPr lang="de-DE"/>
              <a:t>any</a:t>
            </a:r>
            <a:r>
              <a:rPr lang="de-DE"/>
              <a:t> </a:t>
            </a:r>
            <a:r>
              <a:rPr lang="de-DE"/>
              <a:t>operation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system</a:t>
            </a:r>
            <a:r>
              <a:rPr lang="de-DE"/>
              <a:t> </a:t>
            </a:r>
            <a:r>
              <a:rPr lang="de-DE"/>
              <a:t>during</a:t>
            </a:r>
            <a:r>
              <a:rPr lang="de-DE"/>
              <a:t> time </a:t>
            </a:r>
            <a:r>
              <a:rPr lang="de-DE"/>
              <a:t>stepping</a:t>
            </a:r>
            <a:r>
              <a:rPr lang="de-DE"/>
              <a:t> </a:t>
            </a:r>
            <a:r>
              <a:rPr lang="de-DE"/>
              <a:t>or</a:t>
            </a:r>
            <a:r>
              <a:rPr lang="de-DE"/>
              <a:t> </a:t>
            </a:r>
            <a:r>
              <a:rPr lang="de-DE"/>
              <a:t>minimization</a:t>
            </a: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 b="1"/>
              <a:t>output</a:t>
            </a:r>
            <a:r>
              <a:rPr lang="de-DE"/>
              <a:t> </a:t>
            </a:r>
            <a:r>
              <a:rPr lang="de-DE"/>
              <a:t>commands</a:t>
            </a: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 b="1"/>
              <a:t>run</a:t>
            </a:r>
            <a:r>
              <a:rPr lang="de-DE"/>
              <a:t> and </a:t>
            </a:r>
            <a:r>
              <a:rPr lang="de-DE" b="1"/>
              <a:t>minimize</a:t>
            </a:r>
            <a:r>
              <a:rPr lang="de-DE"/>
              <a:t> </a:t>
            </a:r>
            <a:endParaRPr/>
          </a:p>
          <a:p>
            <a:pPr marL="0" indent="0">
              <a:buNone/>
              <a:defRPr/>
            </a:pPr>
            <a:r>
              <a:rPr lang="de-DE"/>
              <a:t>Applies</a:t>
            </a:r>
            <a:r>
              <a:rPr lang="de-DE"/>
              <a:t> fixes and </a:t>
            </a:r>
            <a:r>
              <a:rPr lang="de-DE"/>
              <a:t>computes</a:t>
            </a:r>
            <a:r>
              <a:rPr lang="de-DE"/>
              <a:t> at </a:t>
            </a:r>
            <a:r>
              <a:rPr lang="de-DE"/>
              <a:t>each</a:t>
            </a:r>
            <a:r>
              <a:rPr lang="de-DE"/>
              <a:t> (pseudo-) time </a:t>
            </a:r>
            <a:r>
              <a:rPr lang="de-DE"/>
              <a:t>step</a:t>
            </a:r>
            <a:r>
              <a:rPr lang="de-DE"/>
              <a:t>, </a:t>
            </a:r>
            <a:r>
              <a:rPr lang="de-DE"/>
              <a:t>writes</a:t>
            </a:r>
            <a:r>
              <a:rPr lang="de-DE"/>
              <a:t> </a:t>
            </a:r>
            <a:r>
              <a:rPr lang="de-DE"/>
              <a:t>output</a:t>
            </a:r>
            <a:r>
              <a:rPr lang="de-DE"/>
              <a:t> at </a:t>
            </a:r>
            <a:r>
              <a:rPr lang="de-DE"/>
              <a:t>each</a:t>
            </a:r>
            <a:r>
              <a:rPr lang="de-DE"/>
              <a:t> </a:t>
            </a:r>
            <a:r>
              <a:rPr lang="de-DE"/>
              <a:t>step</a:t>
            </a:r>
            <a:endParaRPr lang="de-DE"/>
          </a:p>
          <a:p>
            <a:pPr>
              <a:defRPr/>
            </a:pPr>
            <a:endParaRPr lang="de-DE"/>
          </a:p>
          <a:p>
            <a:pPr marL="0" indent="0">
              <a:buNone/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1489369211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12</a:t>
            </a:fld>
            <a:endParaRPr lang="de-DE"/>
          </a:p>
        </p:txBody>
      </p:sp>
      <p:sp>
        <p:nvSpPr>
          <p:cNvPr id="2113367689" name="Textfeld 4"/>
          <p:cNvSpPr txBox="1"/>
          <p:nvPr/>
        </p:nvSpPr>
        <p:spPr bwMode="auto">
          <a:xfrm>
            <a:off x="3173260" y="1628383"/>
            <a:ext cx="493734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fix        1 all </a:t>
            </a:r>
            <a:r>
              <a:rPr lang="de-DE">
                <a:latin typeface="Comic Sans MS"/>
                <a:ea typeface="+mn-lt"/>
                <a:cs typeface="+mn-lt"/>
              </a:rPr>
              <a:t>nve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fix        2 </a:t>
            </a:r>
            <a:r>
              <a:rPr lang="de-DE">
                <a:latin typeface="Comic Sans MS"/>
                <a:ea typeface="+mn-lt"/>
                <a:cs typeface="+mn-lt"/>
              </a:rPr>
              <a:t>boundary</a:t>
            </a:r>
            <a:r>
              <a:rPr lang="de-DE">
                <a:latin typeface="Comic Sans MS"/>
                <a:ea typeface="+mn-lt"/>
                <a:cs typeface="+mn-lt"/>
              </a:rPr>
              <a:t> </a:t>
            </a:r>
            <a:r>
              <a:rPr lang="de-DE">
                <a:latin typeface="Comic Sans MS"/>
                <a:ea typeface="+mn-lt"/>
                <a:cs typeface="+mn-lt"/>
              </a:rPr>
              <a:t>setforce</a:t>
            </a:r>
            <a:r>
              <a:rPr lang="de-DE">
                <a:latin typeface="Comic Sans MS"/>
                <a:ea typeface="+mn-lt"/>
                <a:cs typeface="+mn-lt"/>
              </a:rPr>
              <a:t> NULL 0.0 0.0</a:t>
            </a:r>
            <a:endParaRPr lang="de-DE">
              <a:latin typeface="Comic Sans MS"/>
            </a:endParaRPr>
          </a:p>
        </p:txBody>
      </p:sp>
      <p:sp>
        <p:nvSpPr>
          <p:cNvPr id="1274413861" name="Textfeld 1"/>
          <p:cNvSpPr txBox="1"/>
          <p:nvPr/>
        </p:nvSpPr>
        <p:spPr bwMode="auto">
          <a:xfrm>
            <a:off x="3089753" y="3183698"/>
            <a:ext cx="4749452" cy="6263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endParaRPr lang="de-DE"/>
          </a:p>
        </p:txBody>
      </p:sp>
      <p:sp>
        <p:nvSpPr>
          <p:cNvPr id="738271822" name="Textfeld 5"/>
          <p:cNvSpPr txBox="1"/>
          <p:nvPr/>
        </p:nvSpPr>
        <p:spPr bwMode="auto">
          <a:xfrm>
            <a:off x="3288082" y="349684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endParaRPr lang="de-DE"/>
          </a:p>
        </p:txBody>
      </p:sp>
      <p:sp>
        <p:nvSpPr>
          <p:cNvPr id="1413977797" name="Textfeld 6"/>
          <p:cNvSpPr txBox="1"/>
          <p:nvPr/>
        </p:nvSpPr>
        <p:spPr bwMode="auto">
          <a:xfrm>
            <a:off x="3169998" y="3362455"/>
            <a:ext cx="4446739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thermo</a:t>
            </a:r>
            <a:r>
              <a:rPr lang="de-DE">
                <a:latin typeface="Comic Sans MS"/>
                <a:ea typeface="+mn-lt"/>
                <a:cs typeface="+mn-lt"/>
              </a:rPr>
              <a:t>        200</a:t>
            </a:r>
            <a:endParaRPr/>
          </a:p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dump</a:t>
            </a:r>
            <a:r>
              <a:rPr lang="de-DE">
                <a:latin typeface="Comic Sans MS"/>
                <a:ea typeface="+mn-lt"/>
                <a:cs typeface="+mn-lt"/>
              </a:rPr>
              <a:t>        1 all </a:t>
            </a:r>
            <a:r>
              <a:rPr lang="de-DE">
                <a:latin typeface="Comic Sans MS"/>
                <a:ea typeface="+mn-lt"/>
                <a:cs typeface="+mn-lt"/>
              </a:rPr>
              <a:t>atom</a:t>
            </a:r>
            <a:r>
              <a:rPr lang="de-DE">
                <a:latin typeface="Comic Sans MS"/>
                <a:ea typeface="+mn-lt"/>
                <a:cs typeface="+mn-lt"/>
              </a:rPr>
              <a:t> 500 </a:t>
            </a:r>
            <a:r>
              <a:rPr lang="de-DE">
                <a:latin typeface="Comic Sans MS"/>
                <a:ea typeface="+mn-lt"/>
                <a:cs typeface="+mn-lt"/>
              </a:rPr>
              <a:t>dump.crack</a:t>
            </a:r>
            <a:endParaRPr lang="de-DE">
              <a:latin typeface="Comic Sans MS"/>
            </a:endParaRPr>
          </a:p>
        </p:txBody>
      </p:sp>
      <p:sp>
        <p:nvSpPr>
          <p:cNvPr id="1718738131" name="Textfeld 7"/>
          <p:cNvSpPr txBox="1"/>
          <p:nvPr/>
        </p:nvSpPr>
        <p:spPr bwMode="auto">
          <a:xfrm>
            <a:off x="3170519" y="5549160"/>
            <a:ext cx="3945176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timestep</a:t>
            </a:r>
            <a:r>
              <a:rPr lang="de-DE">
                <a:latin typeface="Comic Sans MS"/>
                <a:ea typeface="+mn-lt"/>
                <a:cs typeface="+mn-lt"/>
              </a:rPr>
              <a:t>    0.003</a:t>
            </a:r>
            <a:endParaRPr lang="de-DE">
              <a:latin typeface="Comic Sans MS"/>
            </a:endParaRPr>
          </a:p>
          <a:p>
            <a:pPr>
              <a:defRPr/>
            </a:pPr>
            <a:r>
              <a:rPr lang="de-DE">
                <a:latin typeface="Comic Sans MS"/>
                <a:ea typeface="+mn-lt"/>
                <a:cs typeface="+mn-lt"/>
              </a:rPr>
              <a:t>run</a:t>
            </a:r>
            <a:r>
              <a:rPr lang="de-DE">
                <a:latin typeface="Comic Sans MS"/>
                <a:ea typeface="+mn-lt"/>
                <a:cs typeface="+mn-lt"/>
              </a:rPr>
              <a:t>        5000</a:t>
            </a:r>
            <a:endParaRPr lang="de-DE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153158" name="Titel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801688"/>
          </a:xfrm>
        </p:spPr>
        <p:txBody>
          <a:bodyPr/>
          <a:lstStyle/>
          <a:p>
            <a:pPr>
              <a:defRPr/>
            </a:pPr>
            <a:r>
              <a:rPr lang="de-DE"/>
              <a:t>Command-line </a:t>
            </a:r>
            <a:r>
              <a:rPr lang="de-DE"/>
              <a:t>options</a:t>
            </a:r>
            <a:endParaRPr/>
          </a:p>
        </p:txBody>
      </p:sp>
      <p:sp>
        <p:nvSpPr>
          <p:cNvPr id="1270730190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1168400"/>
            <a:ext cx="10515600" cy="49895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At </a:t>
            </a:r>
            <a:r>
              <a:rPr lang="de-DE"/>
              <a:t>run</a:t>
            </a:r>
            <a:r>
              <a:rPr lang="de-DE"/>
              <a:t> time </a:t>
            </a:r>
            <a:r>
              <a:rPr lang="de-DE"/>
              <a:t>several</a:t>
            </a:r>
            <a:r>
              <a:rPr lang="de-DE"/>
              <a:t> </a:t>
            </a:r>
            <a:r>
              <a:rPr lang="de-DE"/>
              <a:t>options</a:t>
            </a:r>
            <a:r>
              <a:rPr lang="de-DE"/>
              <a:t>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used</a:t>
            </a:r>
            <a:r>
              <a:rPr lang="de-DE"/>
              <a:t> on </a:t>
            </a:r>
            <a:r>
              <a:rPr lang="de-DE"/>
              <a:t>command</a:t>
            </a:r>
            <a:r>
              <a:rPr lang="de-DE"/>
              <a:t>-line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determine</a:t>
            </a:r>
            <a:r>
              <a:rPr lang="de-DE"/>
              <a:t> </a:t>
            </a:r>
            <a:r>
              <a:rPr lang="de-DE"/>
              <a:t>any</a:t>
            </a:r>
            <a:r>
              <a:rPr lang="de-DE"/>
              <a:t> </a:t>
            </a:r>
            <a:r>
              <a:rPr lang="de-DE"/>
              <a:t>package</a:t>
            </a:r>
            <a:r>
              <a:rPr lang="de-DE"/>
              <a:t> </a:t>
            </a:r>
            <a:r>
              <a:rPr lang="de-DE"/>
              <a:t>or</a:t>
            </a:r>
            <a:r>
              <a:rPr lang="de-DE"/>
              <a:t> </a:t>
            </a:r>
            <a:r>
              <a:rPr lang="de-DE"/>
              <a:t>output</a:t>
            </a:r>
            <a:endParaRPr lang="de-DE"/>
          </a:p>
          <a:p>
            <a:pPr>
              <a:defRPr/>
            </a:pPr>
            <a:r>
              <a:rPr lang="de-DE" b="1" i="1"/>
              <a:t>mpirun</a:t>
            </a:r>
            <a:r>
              <a:rPr lang="de-DE" i="1"/>
              <a:t> </a:t>
            </a:r>
            <a:r>
              <a:rPr lang="de-DE" b="1" i="1"/>
              <a:t>–</a:t>
            </a:r>
            <a:r>
              <a:rPr lang="de-DE" b="1" i="1"/>
              <a:t>np</a:t>
            </a:r>
            <a:r>
              <a:rPr lang="de-DE" i="1"/>
              <a:t> 8 </a:t>
            </a:r>
            <a:r>
              <a:rPr lang="de-DE" i="1"/>
              <a:t>lmp</a:t>
            </a:r>
            <a:r>
              <a:rPr lang="de-DE" i="1"/>
              <a:t> </a:t>
            </a:r>
            <a:r>
              <a:rPr lang="de-DE" b="1" i="1"/>
              <a:t>–sf</a:t>
            </a:r>
            <a:r>
              <a:rPr lang="de-DE" i="1"/>
              <a:t> </a:t>
            </a:r>
            <a:r>
              <a:rPr lang="de-DE" i="1"/>
              <a:t>kk</a:t>
            </a:r>
            <a:r>
              <a:rPr lang="de-DE" b="1" i="1"/>
              <a:t> –k</a:t>
            </a:r>
            <a:r>
              <a:rPr lang="de-DE" i="1"/>
              <a:t> on </a:t>
            </a:r>
            <a:r>
              <a:rPr lang="de-DE" b="1" i="1"/>
              <a:t>g</a:t>
            </a:r>
            <a:r>
              <a:rPr lang="de-DE" i="1"/>
              <a:t> 8 </a:t>
            </a:r>
            <a:r>
              <a:rPr lang="de-DE" b="1" i="1"/>
              <a:t>–</a:t>
            </a:r>
            <a:r>
              <a:rPr lang="de-DE" b="1" i="1"/>
              <a:t>pk</a:t>
            </a:r>
            <a:r>
              <a:rPr lang="de-DE" i="1"/>
              <a:t> </a:t>
            </a:r>
            <a:r>
              <a:rPr lang="de-DE" i="1"/>
              <a:t>kokkos</a:t>
            </a:r>
            <a:r>
              <a:rPr lang="de-DE" i="1"/>
              <a:t> </a:t>
            </a:r>
            <a:r>
              <a:rPr lang="de-DE" i="1"/>
              <a:t>gpu</a:t>
            </a:r>
            <a:r>
              <a:rPr lang="de-DE" i="1"/>
              <a:t>/</a:t>
            </a:r>
            <a:r>
              <a:rPr lang="de-DE" i="1"/>
              <a:t>aware</a:t>
            </a:r>
            <a:r>
              <a:rPr lang="de-DE" i="1"/>
              <a:t> on  </a:t>
            </a:r>
            <a:r>
              <a:rPr lang="de-DE" b="1" i="1"/>
              <a:t>-l</a:t>
            </a:r>
            <a:r>
              <a:rPr lang="de-DE" i="1"/>
              <a:t>  </a:t>
            </a:r>
            <a:r>
              <a:rPr lang="de-DE" i="1"/>
              <a:t>log.lmp_kk</a:t>
            </a:r>
            <a:r>
              <a:rPr lang="de-DE" i="1"/>
              <a:t> </a:t>
            </a:r>
            <a:r>
              <a:rPr lang="de-DE" b="1" i="1"/>
              <a:t>–i</a:t>
            </a:r>
            <a:r>
              <a:rPr lang="de-DE" i="1"/>
              <a:t> </a:t>
            </a:r>
            <a:r>
              <a:rPr lang="de-DE" i="1"/>
              <a:t>in.myscript</a:t>
            </a:r>
            <a:endParaRPr lang="de-DE" i="1"/>
          </a:p>
        </p:txBody>
      </p:sp>
      <p:sp>
        <p:nvSpPr>
          <p:cNvPr id="1153934161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13</a:t>
            </a:fld>
            <a:endParaRPr lang="de-DE"/>
          </a:p>
        </p:txBody>
      </p:sp>
      <p:graphicFrame>
        <p:nvGraphicFramePr>
          <p:cNvPr id="866474341" name="Tabelle 4"/>
          <p:cNvGraphicFramePr>
            <a:graphicFrameLocks xmlns:a="http://schemas.openxmlformats.org/drawingml/2006/main" noGrp="1"/>
          </p:cNvGraphicFramePr>
          <p:nvPr/>
        </p:nvGraphicFramePr>
        <p:xfrm rot="0">
          <a:off x="2190750" y="3162300"/>
          <a:ext cx="8168640" cy="301751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2722880"/>
                <a:gridCol w="2722880"/>
                <a:gridCol w="2722880"/>
              </a:tblGrid>
              <a:tr h="365342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-i</a:t>
                      </a:r>
                      <a:r>
                        <a:rPr lang="de-DE"/>
                        <a:t>: </a:t>
                      </a:r>
                      <a:r>
                        <a:rPr lang="de-DE"/>
                        <a:t>specify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the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input</a:t>
                      </a:r>
                      <a:r>
                        <a:rPr lang="de-DE"/>
                        <a:t> </a:t>
                      </a:r>
                      <a:r>
                        <a:rPr lang="de-DE"/>
                        <a:t>script</a:t>
                      </a:r>
                      <a:r>
                        <a:rPr lang="de-DE"/>
                        <a:t> </a:t>
                      </a:r>
                      <a:r>
                        <a:rPr lang="de-DE"/>
                        <a:t>file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-k</a:t>
                      </a:r>
                      <a:r>
                        <a:rPr lang="de-DE" b="0"/>
                        <a:t>: </a:t>
                      </a:r>
                      <a:r>
                        <a:rPr lang="de-DE" b="0"/>
                        <a:t>enable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or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disable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kokkos</a:t>
                      </a:r>
                      <a:r>
                        <a:rPr lang="de-DE" b="0"/>
                        <a:t> support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</a:t>
                      </a:r>
                      <a:r>
                        <a:rPr lang="de-DE" b="1"/>
                        <a:t>nb</a:t>
                      </a:r>
                      <a:r>
                        <a:rPr lang="de-DE" b="0"/>
                        <a:t>: turn off </a:t>
                      </a:r>
                      <a:r>
                        <a:rPr lang="de-DE" b="0"/>
                        <a:t>buffering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for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output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file</a:t>
                      </a:r>
                      <a:r>
                        <a:rPr lang="de-DE" b="0"/>
                        <a:t> and </a:t>
                      </a:r>
                      <a:r>
                        <a:rPr lang="de-DE" b="0"/>
                        <a:t>commit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output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immediately</a:t>
                      </a:r>
                      <a:r>
                        <a:rPr lang="de-DE" b="0"/>
                        <a:t>, </a:t>
                      </a:r>
                      <a:r>
                        <a:rPr lang="de-DE" b="0"/>
                        <a:t>useful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for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debuging</a:t>
                      </a:r>
                      <a:r>
                        <a:rPr lang="de-DE" b="0"/>
                        <a:t> </a:t>
                      </a:r>
                      <a:endParaRPr lang="de-DE" b="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-e</a:t>
                      </a:r>
                      <a:r>
                        <a:rPr lang="de-DE"/>
                        <a:t>: </a:t>
                      </a:r>
                      <a:r>
                        <a:rPr lang="de-DE"/>
                        <a:t>output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to</a:t>
                      </a:r>
                      <a:r>
                        <a:rPr lang="de-DE"/>
                        <a:t> screen, log </a:t>
                      </a:r>
                      <a:r>
                        <a:rPr lang="de-DE"/>
                        <a:t>file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or</a:t>
                      </a:r>
                      <a:r>
                        <a:rPr lang="de-DE"/>
                        <a:t> </a:t>
                      </a:r>
                      <a:r>
                        <a:rPr lang="de-DE"/>
                        <a:t>both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</a:t>
                      </a:r>
                      <a:r>
                        <a:rPr lang="de-DE" b="1"/>
                        <a:t>pk</a:t>
                      </a:r>
                      <a:r>
                        <a:rPr lang="de-DE" b="0"/>
                        <a:t>: </a:t>
                      </a:r>
                      <a:r>
                        <a:rPr lang="de-DE" b="0"/>
                        <a:t>invoke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accelerator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packages</a:t>
                      </a:r>
                      <a:r>
                        <a:rPr lang="de-DE" b="0"/>
                        <a:t> </a:t>
                      </a:r>
                      <a:endParaRPr lang="de-DE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-p</a:t>
                      </a:r>
                      <a:r>
                        <a:rPr lang="de-DE"/>
                        <a:t>: </a:t>
                      </a:r>
                      <a:r>
                        <a:rPr lang="de-DE"/>
                        <a:t>invoke</a:t>
                      </a:r>
                      <a:r>
                        <a:rPr lang="de-DE"/>
                        <a:t> multi-partition </a:t>
                      </a:r>
                      <a:r>
                        <a:rPr lang="de-DE"/>
                        <a:t>mode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to</a:t>
                      </a:r>
                      <a:r>
                        <a:rPr lang="de-DE"/>
                        <a:t> </a:t>
                      </a:r>
                      <a:r>
                        <a:rPr lang="de-DE"/>
                        <a:t>run</a:t>
                      </a:r>
                      <a:r>
                        <a:rPr lang="de-DE"/>
                        <a:t> multi-</a:t>
                      </a:r>
                      <a:r>
                        <a:rPr lang="de-DE"/>
                        <a:t>replica</a:t>
                      </a:r>
                      <a:r>
                        <a:rPr lang="de-DE"/>
                        <a:t> </a:t>
                      </a:r>
                      <a:r>
                        <a:rPr lang="de-DE"/>
                        <a:t>simulations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</a:t>
                      </a:r>
                      <a:r>
                        <a:rPr lang="de-DE" b="1"/>
                        <a:t>l</a:t>
                      </a:r>
                      <a:r>
                        <a:rPr lang="de-DE"/>
                        <a:t>:specify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the</a:t>
                      </a:r>
                      <a:r>
                        <a:rPr lang="de-DE"/>
                        <a:t> log </a:t>
                      </a:r>
                      <a:r>
                        <a:rPr lang="de-DE"/>
                        <a:t>file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to</a:t>
                      </a:r>
                      <a:r>
                        <a:rPr lang="de-DE"/>
                        <a:t> </a:t>
                      </a:r>
                      <a:r>
                        <a:rPr lang="de-DE"/>
                        <a:t>write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information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-sf</a:t>
                      </a:r>
                      <a:r>
                        <a:rPr lang="de-DE" b="0"/>
                        <a:t>: </a:t>
                      </a:r>
                      <a:r>
                        <a:rPr lang="de-DE" b="0"/>
                        <a:t>along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with</a:t>
                      </a:r>
                      <a:r>
                        <a:rPr lang="de-DE" b="0"/>
                        <a:t> –</a:t>
                      </a:r>
                      <a:r>
                        <a:rPr lang="de-DE" b="0"/>
                        <a:t>pk</a:t>
                      </a:r>
                      <a:r>
                        <a:rPr lang="de-DE" b="0"/>
                        <a:t>, </a:t>
                      </a:r>
                      <a:r>
                        <a:rPr lang="de-DE" b="0"/>
                        <a:t>it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invokes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accelerator</a:t>
                      </a:r>
                      <a:r>
                        <a:rPr lang="de-DE" b="0"/>
                        <a:t> </a:t>
                      </a:r>
                      <a:r>
                        <a:rPr lang="de-DE" b="0"/>
                        <a:t>packages</a:t>
                      </a:r>
                      <a:r>
                        <a:rPr lang="de-DE" b="0"/>
                        <a:t>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de-DE" b="1"/>
                        <a:t>-</a:t>
                      </a:r>
                      <a:r>
                        <a:rPr lang="de-DE" b="1"/>
                        <a:t>mpicolor</a:t>
                      </a:r>
                      <a:r>
                        <a:rPr lang="de-DE" b="0"/>
                        <a:t>: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to</a:t>
                      </a:r>
                      <a:r>
                        <a:rPr lang="de-DE"/>
                        <a:t> launch </a:t>
                      </a:r>
                      <a:r>
                        <a:rPr lang="de-DE"/>
                        <a:t>more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than</a:t>
                      </a:r>
                      <a:r>
                        <a:rPr lang="de-DE"/>
                        <a:t> </a:t>
                      </a:r>
                      <a:r>
                        <a:rPr lang="de-DE"/>
                        <a:t>one</a:t>
                      </a:r>
                      <a:r>
                        <a:rPr lang="de-DE"/>
                        <a:t> </a:t>
                      </a:r>
                      <a:r>
                        <a:rPr lang="de-DE"/>
                        <a:t>executable</a:t>
                      </a:r>
                      <a:endParaRPr lang="de-DE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296105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16061395" name="Rectangl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980930935" name="Group 28"/>
          <p:cNvGrpSpPr>
            <a:grpSpLocks noChangeAspect="1" noGrp="1" noMove="1" noResize="1" noRot="1" noUngrp="1"/>
          </p:cNvGrpSpPr>
          <p:nvPr/>
        </p:nvGrpSpPr>
        <p:grpSpPr bwMode="auto"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0" name="Oval 29"/>
            <p:cNvSpPr/>
            <p:nvPr/>
          </p:nvSpPr>
          <p:spPr bwMode="auto"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1" name="Oval 30"/>
            <p:cNvSpPr/>
            <p:nvPr/>
          </p:nvSpPr>
          <p:spPr bwMode="auto">
            <a:xfrm rot="16199998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" name="Oval 31"/>
            <p:cNvSpPr/>
            <p:nvPr/>
          </p:nvSpPr>
          <p:spPr bwMode="auto">
            <a:xfrm rot="16199998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" name="Oval 32"/>
            <p:cNvSpPr/>
            <p:nvPr/>
          </p:nvSpPr>
          <p:spPr bwMode="auto"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" name="Oval 33"/>
            <p:cNvSpPr/>
            <p:nvPr/>
          </p:nvSpPr>
          <p:spPr bwMode="auto"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" name="Oval 34"/>
            <p:cNvSpPr/>
            <p:nvPr/>
          </p:nvSpPr>
          <p:spPr bwMode="auto"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39856225" name="Rectangle 3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6199998">
            <a:off x="10438146" y="1042605"/>
            <a:ext cx="2796461" cy="711252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62523361" name="Group 38"/>
          <p:cNvGrpSpPr>
            <a:grpSpLocks noChangeAspect="1" noGrp="1" noMove="1" noResize="1" noRot="1" noUngrp="1"/>
          </p:cNvGrpSpPr>
          <p:nvPr/>
        </p:nvGrpSpPr>
        <p:grpSpPr bwMode="auto"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0" name="Straight Connector 39"/>
            <p:cNvCxnSpPr/>
            <p:nvPr/>
          </p:nvCxnSpPr>
          <p:spPr bwMode="auto"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 bwMode="auto"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 bwMode="auto"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 bwMode="auto"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4322009" name="Rectangle 4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0800000">
            <a:off x="-1" y="6140785"/>
            <a:ext cx="6095997" cy="711252"/>
          </a:xfrm>
          <a:prstGeom prst="rect">
            <a:avLst/>
          </a:prstGeom>
          <a:gradFill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109968621" name="Group 46"/>
          <p:cNvGrpSpPr>
            <a:grpSpLocks noChangeAspect="1" noGrp="1" noMove="1" noResize="1" noRot="1" noUngrp="1"/>
          </p:cNvGrpSpPr>
          <p:nvPr/>
        </p:nvGrpSpPr>
        <p:grpSpPr bwMode="auto"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8" name="Straight Connector 47"/>
            <p:cNvCxnSpPr/>
            <p:nvPr/>
          </p:nvCxnSpPr>
          <p:spPr bwMode="auto"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 bwMode="auto"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 bwMode="auto"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 bwMode="auto"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6691345" name="Titel 1"/>
          <p:cNvSpPr>
            <a:spLocks noGrp="1"/>
          </p:cNvSpPr>
          <p:nvPr>
            <p:ph type="title"/>
          </p:nvPr>
        </p:nvSpPr>
        <p:spPr bwMode="auto">
          <a:xfrm>
            <a:off x="630936" y="630936"/>
            <a:ext cx="5465064" cy="5626947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>
              <a:defRPr/>
            </a:pPr>
            <a:r>
              <a:rPr lang="de-DE" sz="4800">
                <a:solidFill>
                  <a:schemeClr val="bg1"/>
                </a:solidFill>
              </a:rPr>
              <a:t>LAMMPS OUTPUT</a:t>
            </a:r>
            <a:endParaRPr/>
          </a:p>
        </p:txBody>
      </p:sp>
      <p:sp>
        <p:nvSpPr>
          <p:cNvPr id="678394873" name="Inhaltsplatzhalter 2"/>
          <p:cNvSpPr>
            <a:spLocks noGrp="1"/>
          </p:cNvSpPr>
          <p:nvPr>
            <p:ph idx="1"/>
          </p:nvPr>
        </p:nvSpPr>
        <p:spPr bwMode="auto">
          <a:xfrm>
            <a:off x="6502152" y="630936"/>
            <a:ext cx="4978592" cy="56269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de-DE">
                <a:solidFill>
                  <a:schemeClr val="bg1"/>
                </a:solidFill>
              </a:rPr>
              <a:t>Log </a:t>
            </a:r>
            <a:r>
              <a:rPr lang="de-DE">
                <a:solidFill>
                  <a:schemeClr val="bg1"/>
                </a:solidFill>
              </a:rPr>
              <a:t>file</a:t>
            </a:r>
            <a:endParaRPr lang="de-DE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de-DE">
                <a:solidFill>
                  <a:schemeClr val="bg1"/>
                </a:solidFill>
              </a:rPr>
              <a:t>Screen </a:t>
            </a:r>
            <a:r>
              <a:rPr lang="de-DE">
                <a:solidFill>
                  <a:schemeClr val="bg1"/>
                </a:solidFill>
              </a:rPr>
              <a:t>output</a:t>
            </a:r>
            <a:endParaRPr lang="de-DE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de-DE">
                <a:solidFill>
                  <a:schemeClr val="bg1"/>
                </a:solidFill>
              </a:rPr>
              <a:t>Export </a:t>
            </a:r>
            <a:r>
              <a:rPr lang="de-DE">
                <a:solidFill>
                  <a:schemeClr val="bg1"/>
                </a:solidFill>
              </a:rPr>
              <a:t>of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data</a:t>
            </a:r>
            <a:r>
              <a:rPr lang="de-DE">
                <a:solidFill>
                  <a:schemeClr val="bg1"/>
                </a:solidFill>
              </a:rPr>
              <a:t> in different </a:t>
            </a:r>
            <a:r>
              <a:rPr lang="de-DE">
                <a:solidFill>
                  <a:schemeClr val="bg1"/>
                </a:solidFill>
              </a:rPr>
              <a:t>format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for</a:t>
            </a:r>
            <a:r>
              <a:rPr lang="de-DE">
                <a:solidFill>
                  <a:schemeClr val="bg1"/>
                </a:solidFill>
              </a:rPr>
              <a:t> post-</a:t>
            </a:r>
            <a:r>
              <a:rPr lang="de-DE">
                <a:solidFill>
                  <a:schemeClr val="bg1"/>
                </a:solidFill>
              </a:rPr>
              <a:t>processing</a:t>
            </a:r>
            <a:r>
              <a:rPr lang="de-DE">
                <a:solidFill>
                  <a:schemeClr val="bg1"/>
                </a:solidFill>
              </a:rPr>
              <a:t>, *.</a:t>
            </a:r>
            <a:r>
              <a:rPr lang="de-DE">
                <a:solidFill>
                  <a:schemeClr val="bg1"/>
                </a:solidFill>
              </a:rPr>
              <a:t>vtk</a:t>
            </a:r>
            <a:r>
              <a:rPr lang="de-DE">
                <a:solidFill>
                  <a:schemeClr val="bg1"/>
                </a:solidFill>
              </a:rPr>
              <a:t>, *.h5md, </a:t>
            </a:r>
            <a:r>
              <a:rPr lang="de-DE">
                <a:solidFill>
                  <a:schemeClr val="bg1"/>
                </a:solidFill>
              </a:rPr>
              <a:t>lammps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>
                <a:solidFill>
                  <a:schemeClr val="bg1"/>
                </a:solidFill>
              </a:rPr>
              <a:t>dump</a:t>
            </a:r>
            <a:r>
              <a:rPr lang="de-DE">
                <a:solidFill>
                  <a:schemeClr val="bg1"/>
                </a:solidFill>
              </a:rPr>
              <a:t>, ...  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>
              <a:defRPr/>
            </a:pPr>
            <a:endParaRPr lang="de-DE" sz="18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de-DE" sz="1800">
              <a:solidFill>
                <a:schemeClr val="bg1"/>
              </a:solidFill>
            </a:endParaRPr>
          </a:p>
        </p:txBody>
      </p:sp>
      <p:sp>
        <p:nvSpPr>
          <p:cNvPr id="1298373388" name="Foliennummernplatzhalter 3"/>
          <p:cNvSpPr>
            <a:spLocks noGrp="1"/>
          </p:cNvSpPr>
          <p:nvPr>
            <p:ph type="sldNum" sz="quarter" idx="12"/>
          </p:nvPr>
        </p:nvSpPr>
        <p:spPr bwMode="auto">
          <a:xfrm>
            <a:off x="0" y="6309360"/>
            <a:ext cx="640080" cy="54864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  <a:defRPr/>
            </a:pPr>
            <a:fld id="{802006FE-6571-4354-8775-F8708372C227}" type="slidenum">
              <a:rPr lang="de-DE">
                <a:solidFill>
                  <a:schemeClr val="bg1"/>
                </a:solidFill>
              </a:rPr>
              <a:t>14</a:t>
            </a:fld>
            <a:endParaRPr lang="de-DE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364435" name="Inhaltsplatzhalter 4" descr="Ein Bild, das Text, Screenshot, Schrift, Dokument enthält.&#10;&#10;KI-generierte Inhalte können fehlerhaft sein.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5000625" y="3895125"/>
            <a:ext cx="6096000" cy="2726938"/>
          </a:xfrm>
          <a:prstGeom prst="rect">
            <a:avLst/>
          </a:prstGeom>
        </p:spPr>
      </p:pic>
      <p:sp>
        <p:nvSpPr>
          <p:cNvPr id="1366212438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15</a:t>
            </a:fld>
            <a:endParaRPr lang="de-DE"/>
          </a:p>
        </p:txBody>
      </p:sp>
      <p:sp>
        <p:nvSpPr>
          <p:cNvPr id="869739024" name="Textfeld 5"/>
          <p:cNvSpPr txBox="1"/>
          <p:nvPr/>
        </p:nvSpPr>
        <p:spPr bwMode="auto">
          <a:xfrm>
            <a:off x="353075" y="5433032"/>
            <a:ext cx="4489212" cy="914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de-DE"/>
              <a:t>Columns </a:t>
            </a:r>
            <a:r>
              <a:rPr lang="de-DE"/>
              <a:t>of</a:t>
            </a:r>
            <a:r>
              <a:rPr lang="de-DE"/>
              <a:t> </a:t>
            </a:r>
            <a:r>
              <a:rPr lang="de-DE" b="1"/>
              <a:t>thermodynamic</a:t>
            </a:r>
            <a:r>
              <a:rPr lang="de-DE" b="1"/>
              <a:t> </a:t>
            </a:r>
            <a:r>
              <a:rPr lang="de-DE" b="1"/>
              <a:t>quantities</a:t>
            </a:r>
            <a:r>
              <a:rPr lang="de-DE" b="1"/>
              <a:t> </a:t>
            </a:r>
            <a:r>
              <a:rPr lang="de-DE"/>
              <a:t>that</a:t>
            </a:r>
            <a:r>
              <a:rPr lang="de-DE"/>
              <a:t> </a:t>
            </a:r>
            <a:r>
              <a:rPr lang="de-DE"/>
              <a:t>are</a:t>
            </a:r>
            <a:r>
              <a:rPr lang="de-DE"/>
              <a:t> </a:t>
            </a:r>
            <a:r>
              <a:rPr lang="de-DE"/>
              <a:t>defined</a:t>
            </a:r>
            <a:r>
              <a:rPr lang="de-DE"/>
              <a:t> via </a:t>
            </a:r>
            <a:r>
              <a:rPr lang="de-DE" i="1"/>
              <a:t>thermo_modify</a:t>
            </a:r>
            <a:r>
              <a:rPr lang="de-DE"/>
              <a:t> out at </a:t>
            </a:r>
            <a:r>
              <a:rPr lang="de-DE"/>
              <a:t>every</a:t>
            </a:r>
            <a:r>
              <a:rPr lang="de-DE"/>
              <a:t> </a:t>
            </a:r>
            <a:r>
              <a:rPr lang="de-DE"/>
              <a:t>times</a:t>
            </a:r>
            <a:endParaRPr/>
          </a:p>
        </p:txBody>
      </p:sp>
      <p:sp>
        <p:nvSpPr>
          <p:cNvPr id="1769154694" name="Ellipse 6"/>
          <p:cNvSpPr/>
          <p:nvPr/>
        </p:nvSpPr>
        <p:spPr bwMode="auto">
          <a:xfrm>
            <a:off x="4835699" y="3824221"/>
            <a:ext cx="3350712" cy="33402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836819096" name="Grafik 8" descr="Ein Bild, das Text, Screenshot, Schrift, Dokument enthält.&#10;&#10;KI-generierte Inhalte können fehlerhaft sein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05388" y="519113"/>
            <a:ext cx="6086475" cy="3095625"/>
          </a:xfrm>
          <a:prstGeom prst="rect">
            <a:avLst/>
          </a:prstGeom>
        </p:spPr>
      </p:pic>
      <p:sp>
        <p:nvSpPr>
          <p:cNvPr id="1369549152" name="Textfeld 5"/>
          <p:cNvSpPr txBox="1"/>
          <p:nvPr/>
        </p:nvSpPr>
        <p:spPr bwMode="auto">
          <a:xfrm>
            <a:off x="352554" y="1862462"/>
            <a:ext cx="3967654" cy="17377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>
            <a:defPPr>
              <a:defRPr lang="de-DE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  <a:defRPr/>
            </a:pPr>
            <a:r>
              <a:rPr lang="de-DE" b="1"/>
              <a:t>Substitution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variables </a:t>
            </a:r>
            <a:r>
              <a:rPr lang="de-DE"/>
              <a:t>with</a:t>
            </a:r>
            <a:r>
              <a:rPr lang="de-DE"/>
              <a:t> </a:t>
            </a:r>
            <a:r>
              <a:rPr lang="de-DE"/>
              <a:t>values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Returns</a:t>
            </a:r>
            <a:r>
              <a:rPr lang="de-DE" b="1"/>
              <a:t> </a:t>
            </a:r>
            <a:r>
              <a:rPr lang="de-DE" b="1"/>
              <a:t>warnings</a:t>
            </a:r>
            <a:r>
              <a:rPr lang="de-DE"/>
              <a:t> and </a:t>
            </a:r>
            <a:r>
              <a:rPr lang="de-DE" b="1"/>
              <a:t>errors</a:t>
            </a:r>
            <a:endParaRPr lang="de-DE" b="1"/>
          </a:p>
          <a:p>
            <a:pPr marL="285750" indent="-285750">
              <a:buFont typeface="Arial"/>
              <a:buChar char="•"/>
              <a:defRPr/>
            </a:pPr>
            <a:r>
              <a:rPr lang="de-DE" b="1"/>
              <a:t>Pre</a:t>
            </a:r>
            <a:r>
              <a:rPr lang="de-DE" b="1"/>
              <a:t>-run </a:t>
            </a:r>
            <a:r>
              <a:rPr lang="de-DE" b="1"/>
              <a:t>info</a:t>
            </a:r>
            <a:r>
              <a:rPr lang="de-DE"/>
              <a:t>: Information on </a:t>
            </a:r>
            <a:r>
              <a:rPr lang="de-DE"/>
              <a:t>neighbor</a:t>
            </a:r>
            <a:r>
              <a:rPr lang="de-DE"/>
              <a:t> </a:t>
            </a:r>
            <a:r>
              <a:rPr lang="de-DE"/>
              <a:t>list</a:t>
            </a:r>
            <a:r>
              <a:rPr lang="de-DE"/>
              <a:t> and </a:t>
            </a:r>
            <a:r>
              <a:rPr lang="de-DE"/>
              <a:t>memory</a:t>
            </a:r>
            <a:r>
              <a:rPr lang="de-DE"/>
              <a:t> </a:t>
            </a:r>
            <a:r>
              <a:rPr lang="de-DE"/>
              <a:t>usage.</a:t>
            </a:r>
            <a:r>
              <a:rPr lang="de-DE"/>
              <a:t> 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endParaRPr lang="de-DE"/>
          </a:p>
        </p:txBody>
      </p:sp>
      <p:sp>
        <p:nvSpPr>
          <p:cNvPr id="2078775344" name="Ellipse 10"/>
          <p:cNvSpPr/>
          <p:nvPr/>
        </p:nvSpPr>
        <p:spPr bwMode="auto">
          <a:xfrm>
            <a:off x="4997623" y="3281296"/>
            <a:ext cx="3617412" cy="45785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86890265" name="Ellipse 11"/>
          <p:cNvSpPr/>
          <p:nvPr/>
        </p:nvSpPr>
        <p:spPr bwMode="auto">
          <a:xfrm>
            <a:off x="4835698" y="423796"/>
            <a:ext cx="2226762" cy="33402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06078306" name="Textfeld 12"/>
          <p:cNvSpPr txBox="1"/>
          <p:nvPr/>
        </p:nvSpPr>
        <p:spPr bwMode="auto">
          <a:xfrm>
            <a:off x="605424" y="354903"/>
            <a:ext cx="26304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l">
              <a:defRPr/>
            </a:pPr>
            <a:r>
              <a:rPr lang="de-DE" sz="2800"/>
              <a:t>Log.lammps</a:t>
            </a:r>
            <a:endParaRPr lang="de-DE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8342075" name="Inhaltsplatzhalter 4" descr="Ein Bild, das Text, Schrift, Screenshot, Zahl enthält.&#10;&#10;KI-generierte Inhalte können fehlerhaft sein.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rcRect l="0" t="0" r="-575" b="48366"/>
          <a:stretch/>
        </p:blipFill>
        <p:spPr bwMode="auto">
          <a:xfrm>
            <a:off x="275647" y="1644650"/>
            <a:ext cx="5468460" cy="3313882"/>
          </a:xfrm>
          <a:prstGeom prst="rect">
            <a:avLst/>
          </a:prstGeom>
        </p:spPr>
      </p:pic>
      <p:sp>
        <p:nvSpPr>
          <p:cNvPr id="198353655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16</a:t>
            </a:fld>
            <a:endParaRPr lang="de-DE"/>
          </a:p>
        </p:txBody>
      </p:sp>
      <p:sp>
        <p:nvSpPr>
          <p:cNvPr id="944070257" name="Textfeld 5"/>
          <p:cNvSpPr txBox="1"/>
          <p:nvPr/>
        </p:nvSpPr>
        <p:spPr bwMode="auto">
          <a:xfrm>
            <a:off x="5739399" y="334809"/>
            <a:ext cx="5621432" cy="64011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de-DE" b="1"/>
              <a:t>Post-run </a:t>
            </a:r>
            <a:r>
              <a:rPr lang="de-DE" b="1"/>
              <a:t>info</a:t>
            </a:r>
            <a:r>
              <a:rPr lang="de-DE" b="1"/>
              <a:t>: </a:t>
            </a:r>
            <a:r>
              <a:rPr lang="de-DE" b="1"/>
              <a:t>performance</a:t>
            </a:r>
            <a:r>
              <a:rPr lang="de-DE" b="1"/>
              <a:t>, CPU </a:t>
            </a:r>
            <a:r>
              <a:rPr lang="de-DE" b="1"/>
              <a:t>usage</a:t>
            </a:r>
            <a:r>
              <a:rPr lang="de-DE" b="1"/>
              <a:t> and </a:t>
            </a:r>
            <a:r>
              <a:rPr lang="de-DE" b="1"/>
              <a:t>timing</a:t>
            </a:r>
            <a:r>
              <a:rPr lang="de-DE"/>
              <a:t>.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Use </a:t>
            </a:r>
            <a:r>
              <a:rPr lang="de-DE"/>
              <a:t>performance</a:t>
            </a:r>
            <a:r>
              <a:rPr lang="de-DE"/>
              <a:t> </a:t>
            </a:r>
            <a:r>
              <a:rPr lang="de-DE"/>
              <a:t>output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 b="1"/>
              <a:t>benchmarking</a:t>
            </a:r>
            <a:r>
              <a:rPr lang="de-DE" b="1"/>
              <a:t> </a:t>
            </a:r>
            <a:r>
              <a:rPr lang="de-DE"/>
              <a:t>or</a:t>
            </a:r>
            <a:r>
              <a:rPr lang="de-DE" b="1"/>
              <a:t> </a:t>
            </a:r>
            <a:r>
              <a:rPr lang="de-DE" b="1"/>
              <a:t>calculation</a:t>
            </a:r>
            <a:r>
              <a:rPr lang="de-DE" b="1"/>
              <a:t> </a:t>
            </a:r>
            <a:r>
              <a:rPr lang="de-DE" b="1"/>
              <a:t>of</a:t>
            </a:r>
            <a:r>
              <a:rPr lang="de-DE" b="1"/>
              <a:t> </a:t>
            </a:r>
            <a:r>
              <a:rPr lang="de-DE" b="1"/>
              <a:t>resources</a:t>
            </a:r>
            <a:r>
              <a:rPr lang="de-DE"/>
              <a:t> (CPU-</a:t>
            </a:r>
            <a:r>
              <a:rPr lang="de-DE"/>
              <a:t>hour</a:t>
            </a:r>
            <a:r>
              <a:rPr lang="de-DE"/>
              <a:t>). </a:t>
            </a:r>
            <a:r>
              <a:rPr lang="de-DE"/>
              <a:t>Using</a:t>
            </a:r>
            <a:r>
              <a:rPr lang="de-DE"/>
              <a:t> </a:t>
            </a:r>
            <a:r>
              <a:rPr lang="de-DE"/>
              <a:t>this</a:t>
            </a:r>
            <a:r>
              <a:rPr lang="de-DE"/>
              <a:t> </a:t>
            </a:r>
            <a:r>
              <a:rPr lang="de-DE"/>
              <a:t>data</a:t>
            </a:r>
            <a:r>
              <a:rPr lang="de-DE"/>
              <a:t> </a:t>
            </a:r>
            <a:r>
              <a:rPr lang="de-DE"/>
              <a:t>you</a:t>
            </a:r>
            <a:r>
              <a:rPr lang="de-DE"/>
              <a:t> </a:t>
            </a:r>
            <a:r>
              <a:rPr lang="de-DE"/>
              <a:t>know</a:t>
            </a:r>
            <a:r>
              <a:rPr lang="de-DE"/>
              <a:t> </a:t>
            </a:r>
            <a:r>
              <a:rPr lang="de-DE"/>
              <a:t>how</a:t>
            </a:r>
            <a:r>
              <a:rPr lang="de-DE"/>
              <a:t> </a:t>
            </a:r>
            <a:r>
              <a:rPr lang="de-DE"/>
              <a:t>long</a:t>
            </a:r>
            <a:r>
              <a:rPr lang="de-DE"/>
              <a:t> a </a:t>
            </a:r>
            <a:r>
              <a:rPr lang="de-DE"/>
              <a:t>simulation</a:t>
            </a:r>
            <a:r>
              <a:rPr lang="de-DE"/>
              <a:t> will </a:t>
            </a:r>
            <a:r>
              <a:rPr lang="de-DE"/>
              <a:t>take</a:t>
            </a:r>
            <a:r>
              <a:rPr lang="de-DE"/>
              <a:t>.</a:t>
            </a:r>
            <a:endParaRPr/>
          </a:p>
          <a:p>
            <a:pPr>
              <a:defRPr/>
            </a:pP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CPU </a:t>
            </a:r>
            <a:r>
              <a:rPr lang="de-DE"/>
              <a:t>usage</a:t>
            </a:r>
            <a:r>
              <a:rPr lang="de-DE"/>
              <a:t> </a:t>
            </a:r>
            <a:r>
              <a:rPr lang="de-DE"/>
              <a:t>percentage</a:t>
            </a:r>
            <a:r>
              <a:rPr lang="de-DE"/>
              <a:t> per MPI </a:t>
            </a:r>
            <a:r>
              <a:rPr lang="de-DE"/>
              <a:t>task</a:t>
            </a:r>
            <a:r>
              <a:rPr lang="de-DE"/>
              <a:t>, </a:t>
            </a:r>
            <a:r>
              <a:rPr lang="de-DE"/>
              <a:t>lower</a:t>
            </a:r>
            <a:r>
              <a:rPr lang="de-DE"/>
              <a:t> </a:t>
            </a:r>
            <a:r>
              <a:rPr lang="de-DE"/>
              <a:t>percentage</a:t>
            </a:r>
            <a:r>
              <a:rPr lang="de-DE"/>
              <a:t> </a:t>
            </a:r>
            <a:r>
              <a:rPr lang="de-DE"/>
              <a:t>corresponds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delay</a:t>
            </a:r>
            <a:r>
              <a:rPr lang="de-DE"/>
              <a:t> </a:t>
            </a:r>
            <a:r>
              <a:rPr lang="de-DE"/>
              <a:t>because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I/O and </a:t>
            </a:r>
            <a:r>
              <a:rPr lang="de-DE"/>
              <a:t>insufficient</a:t>
            </a:r>
            <a:r>
              <a:rPr lang="de-DE"/>
              <a:t> </a:t>
            </a:r>
            <a:r>
              <a:rPr lang="de-DE"/>
              <a:t>thread</a:t>
            </a:r>
            <a:r>
              <a:rPr lang="de-DE"/>
              <a:t> </a:t>
            </a:r>
            <a:r>
              <a:rPr lang="de-DE"/>
              <a:t>utilization.</a:t>
            </a:r>
            <a:endParaRPr lang="de-DE"/>
          </a:p>
          <a:p>
            <a:pPr>
              <a:defRPr/>
            </a:pP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GPU </a:t>
            </a:r>
            <a:r>
              <a:rPr lang="de-DE"/>
              <a:t>offload</a:t>
            </a:r>
            <a:r>
              <a:rPr lang="de-DE"/>
              <a:t> </a:t>
            </a:r>
            <a:r>
              <a:rPr lang="de-DE"/>
              <a:t>leads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less</a:t>
            </a:r>
            <a:r>
              <a:rPr lang="de-DE"/>
              <a:t> </a:t>
            </a:r>
            <a:r>
              <a:rPr lang="de-DE"/>
              <a:t>percentage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CPU </a:t>
            </a:r>
            <a:r>
              <a:rPr lang="de-DE"/>
              <a:t>usage.</a:t>
            </a:r>
            <a:r>
              <a:rPr lang="de-DE"/>
              <a:t> </a:t>
            </a:r>
            <a:endParaRPr/>
          </a:p>
          <a:p>
            <a:pPr>
              <a:defRPr/>
            </a:pP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Use </a:t>
            </a:r>
            <a:r>
              <a:rPr lang="de-DE"/>
              <a:t>timing</a:t>
            </a:r>
            <a:r>
              <a:rPr lang="de-DE"/>
              <a:t> breakdown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identify</a:t>
            </a:r>
            <a:r>
              <a:rPr lang="de-DE"/>
              <a:t> </a:t>
            </a:r>
            <a:r>
              <a:rPr lang="de-DE"/>
              <a:t>computation</a:t>
            </a:r>
            <a:r>
              <a:rPr lang="de-DE"/>
              <a:t> </a:t>
            </a:r>
            <a:r>
              <a:rPr lang="de-DE"/>
              <a:t>bottlenecks.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Pair</a:t>
            </a:r>
            <a:r>
              <a:rPr lang="de-DE"/>
              <a:t>: non-</a:t>
            </a:r>
            <a:r>
              <a:rPr lang="de-DE"/>
              <a:t>bonded</a:t>
            </a:r>
            <a:r>
              <a:rPr lang="de-DE"/>
              <a:t> </a:t>
            </a:r>
            <a:r>
              <a:rPr lang="de-DE"/>
              <a:t>force</a:t>
            </a:r>
            <a:r>
              <a:rPr lang="de-DE"/>
              <a:t> </a:t>
            </a:r>
            <a:r>
              <a:rPr lang="de-DE"/>
              <a:t>computations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Neigh</a:t>
            </a:r>
            <a:r>
              <a:rPr lang="de-DE"/>
              <a:t>: </a:t>
            </a:r>
            <a:r>
              <a:rPr lang="de-DE"/>
              <a:t>neighbor</a:t>
            </a:r>
            <a:r>
              <a:rPr lang="de-DE"/>
              <a:t> </a:t>
            </a:r>
            <a:r>
              <a:rPr lang="de-DE"/>
              <a:t>list</a:t>
            </a:r>
            <a:r>
              <a:rPr lang="de-DE"/>
              <a:t> </a:t>
            </a:r>
            <a:r>
              <a:rPr lang="de-DE"/>
              <a:t>construction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Comm</a:t>
            </a:r>
            <a:r>
              <a:rPr lang="de-DE"/>
              <a:t>: inter-</a:t>
            </a:r>
            <a:r>
              <a:rPr lang="de-DE"/>
              <a:t>processor</a:t>
            </a:r>
            <a:r>
              <a:rPr lang="de-DE"/>
              <a:t> </a:t>
            </a:r>
            <a:r>
              <a:rPr lang="de-DE"/>
              <a:t>communcation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atoms</a:t>
            </a:r>
            <a:r>
              <a:rPr lang="de-DE"/>
              <a:t> and </a:t>
            </a:r>
            <a:r>
              <a:rPr lang="de-DE"/>
              <a:t>their</a:t>
            </a:r>
            <a:r>
              <a:rPr lang="de-DE"/>
              <a:t> </a:t>
            </a:r>
            <a:r>
              <a:rPr lang="de-DE"/>
              <a:t>propertieses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Output</a:t>
            </a:r>
            <a:r>
              <a:rPr lang="de-DE"/>
              <a:t>: </a:t>
            </a:r>
            <a:r>
              <a:rPr lang="de-DE"/>
              <a:t>output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thermodynamic</a:t>
            </a:r>
            <a:r>
              <a:rPr lang="de-DE"/>
              <a:t> </a:t>
            </a:r>
            <a:r>
              <a:rPr lang="de-DE"/>
              <a:t>info</a:t>
            </a:r>
            <a:r>
              <a:rPr lang="de-DE"/>
              <a:t> and </a:t>
            </a:r>
            <a:r>
              <a:rPr lang="de-DE"/>
              <a:t>dump</a:t>
            </a:r>
            <a:r>
              <a:rPr lang="de-DE"/>
              <a:t> </a:t>
            </a:r>
            <a:r>
              <a:rPr lang="de-DE"/>
              <a:t>files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Modify</a:t>
            </a:r>
            <a:r>
              <a:rPr lang="de-DE"/>
              <a:t>: fixes and </a:t>
            </a:r>
            <a:r>
              <a:rPr lang="de-DE"/>
              <a:t>computes</a:t>
            </a:r>
            <a:endParaRPr lang="de-DE"/>
          </a:p>
        </p:txBody>
      </p:sp>
      <p:sp>
        <p:nvSpPr>
          <p:cNvPr id="36568483" name="Ellipse 1"/>
          <p:cNvSpPr/>
          <p:nvPr/>
        </p:nvSpPr>
        <p:spPr bwMode="auto">
          <a:xfrm>
            <a:off x="271006" y="1646911"/>
            <a:ext cx="1070583" cy="34172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44561150" name="Ellipse 2"/>
          <p:cNvSpPr/>
          <p:nvPr/>
        </p:nvSpPr>
        <p:spPr bwMode="auto">
          <a:xfrm>
            <a:off x="271005" y="1885035"/>
            <a:ext cx="918183" cy="34172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434998022" name="Ellipse 6"/>
          <p:cNvSpPr/>
          <p:nvPr/>
        </p:nvSpPr>
        <p:spPr bwMode="auto">
          <a:xfrm>
            <a:off x="268787" y="2397951"/>
            <a:ext cx="2319011" cy="43932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9530044" name="Inhaltsplatzhalter 4" descr="Ein Bild, das Text, Schrift, Screenshot, Zahl enthält.&#10;&#10;KI-generierte Inhalte können fehlerhaft sein.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rcRect l="0" t="51196" r="1680" b="0"/>
          <a:stretch/>
        </p:blipFill>
        <p:spPr bwMode="auto">
          <a:xfrm>
            <a:off x="440527" y="1448594"/>
            <a:ext cx="5653017" cy="3276603"/>
          </a:xfrm>
          <a:prstGeom prst="rect">
            <a:avLst/>
          </a:prstGeom>
        </p:spPr>
      </p:pic>
      <p:sp>
        <p:nvSpPr>
          <p:cNvPr id="1557550011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17</a:t>
            </a:fld>
            <a:endParaRPr lang="de-DE"/>
          </a:p>
        </p:txBody>
      </p:sp>
      <p:sp>
        <p:nvSpPr>
          <p:cNvPr id="1819006241" name="Textfeld 8"/>
          <p:cNvSpPr txBox="1"/>
          <p:nvPr/>
        </p:nvSpPr>
        <p:spPr bwMode="auto">
          <a:xfrm>
            <a:off x="6471779" y="1607505"/>
            <a:ext cx="4225694" cy="2834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de-DE" i="1"/>
              <a:t>Nlocal</a:t>
            </a:r>
            <a:r>
              <a:rPr lang="de-DE"/>
              <a:t>: </a:t>
            </a:r>
            <a:r>
              <a:rPr lang="de-DE"/>
              <a:t>number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atoms</a:t>
            </a:r>
            <a:r>
              <a:rPr lang="de-DE"/>
              <a:t> </a:t>
            </a:r>
            <a:r>
              <a:rPr lang="de-DE"/>
              <a:t>owned</a:t>
            </a:r>
            <a:r>
              <a:rPr lang="de-DE"/>
              <a:t> </a:t>
            </a:r>
            <a:r>
              <a:rPr lang="de-DE"/>
              <a:t>by</a:t>
            </a:r>
            <a:r>
              <a:rPr lang="de-DE"/>
              <a:t> </a:t>
            </a:r>
            <a:r>
              <a:rPr lang="de-DE"/>
              <a:t>each</a:t>
            </a:r>
            <a:r>
              <a:rPr lang="de-DE"/>
              <a:t> MPI rank. C</a:t>
            </a:r>
            <a:r>
              <a:rPr lang="de-DE"/>
              <a:t>loser</a:t>
            </a:r>
            <a:r>
              <a:rPr lang="de-DE"/>
              <a:t> min and </a:t>
            </a:r>
            <a:r>
              <a:rPr lang="de-DE"/>
              <a:t>max</a:t>
            </a:r>
            <a:r>
              <a:rPr lang="de-DE"/>
              <a:t> </a:t>
            </a:r>
            <a:r>
              <a:rPr lang="de-DE"/>
              <a:t>means better</a:t>
            </a:r>
            <a:r>
              <a:rPr lang="de-DE"/>
              <a:t>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load</a:t>
            </a:r>
            <a:r>
              <a:rPr lang="de-DE"/>
              <a:t> </a:t>
            </a:r>
            <a:r>
              <a:rPr lang="de-DE"/>
              <a:t>balance</a:t>
            </a:r>
            <a:r>
              <a:rPr lang="de-DE"/>
              <a:t>.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Histogram</a:t>
            </a:r>
            <a:r>
              <a:rPr lang="de-DE"/>
              <a:t>: </a:t>
            </a:r>
            <a:r>
              <a:rPr lang="de-DE"/>
              <a:t>distribution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atoms</a:t>
            </a:r>
            <a:r>
              <a:rPr lang="de-DE"/>
              <a:t> </a:t>
            </a:r>
            <a:r>
              <a:rPr lang="de-DE"/>
              <a:t>counts</a:t>
            </a:r>
            <a:r>
              <a:rPr lang="de-DE"/>
              <a:t> </a:t>
            </a:r>
            <a:r>
              <a:rPr lang="de-DE"/>
              <a:t>across</a:t>
            </a:r>
            <a:r>
              <a:rPr lang="de-DE"/>
              <a:t> </a:t>
            </a:r>
            <a:r>
              <a:rPr lang="de-DE"/>
              <a:t>ranks</a:t>
            </a:r>
            <a:r>
              <a:rPr lang="de-DE"/>
              <a:t> in 10 </a:t>
            </a:r>
            <a:r>
              <a:rPr lang="de-DE"/>
              <a:t>equal</a:t>
            </a:r>
            <a:r>
              <a:rPr lang="de-DE"/>
              <a:t> </a:t>
            </a:r>
            <a:r>
              <a:rPr lang="de-DE"/>
              <a:t>bins</a:t>
            </a:r>
            <a:r>
              <a:rPr lang="de-DE"/>
              <a:t> 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Nghost</a:t>
            </a:r>
            <a:r>
              <a:rPr lang="de-DE"/>
              <a:t> : </a:t>
            </a:r>
            <a:r>
              <a:rPr lang="de-DE"/>
              <a:t>number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ghost </a:t>
            </a:r>
            <a:r>
              <a:rPr lang="de-DE"/>
              <a:t>atoms</a:t>
            </a:r>
            <a:r>
              <a:rPr lang="de-DE"/>
              <a:t> per rank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 i="1"/>
              <a:t>Neighs</a:t>
            </a:r>
            <a:r>
              <a:rPr lang="de-DE"/>
              <a:t>: </a:t>
            </a:r>
            <a:r>
              <a:rPr lang="de-DE"/>
              <a:t>number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neighbor</a:t>
            </a:r>
            <a:r>
              <a:rPr lang="de-DE"/>
              <a:t> </a:t>
            </a:r>
            <a:r>
              <a:rPr lang="de-DE"/>
              <a:t>pairs</a:t>
            </a:r>
            <a:r>
              <a:rPr lang="de-DE"/>
              <a:t> per rank. This </a:t>
            </a:r>
            <a:r>
              <a:rPr lang="de-DE"/>
              <a:t>is</a:t>
            </a:r>
            <a:r>
              <a:rPr lang="de-DE"/>
              <a:t> </a:t>
            </a:r>
            <a:r>
              <a:rPr lang="de-DE"/>
              <a:t>directly</a:t>
            </a:r>
            <a:r>
              <a:rPr lang="de-DE"/>
              <a:t> </a:t>
            </a:r>
            <a:r>
              <a:rPr lang="de-DE"/>
              <a:t>related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computational</a:t>
            </a:r>
            <a:r>
              <a:rPr lang="de-DE"/>
              <a:t> </a:t>
            </a:r>
            <a:r>
              <a:rPr lang="de-DE"/>
              <a:t>cost</a:t>
            </a:r>
            <a:endParaRPr lang="de-DE"/>
          </a:p>
        </p:txBody>
      </p:sp>
      <p:sp>
        <p:nvSpPr>
          <p:cNvPr id="1307709669" name="Ellipse 9"/>
          <p:cNvSpPr/>
          <p:nvPr/>
        </p:nvSpPr>
        <p:spPr bwMode="auto">
          <a:xfrm>
            <a:off x="444803" y="1522173"/>
            <a:ext cx="793315" cy="28914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921160963" name="Ellipse 10"/>
          <p:cNvSpPr/>
          <p:nvPr/>
        </p:nvSpPr>
        <p:spPr bwMode="auto">
          <a:xfrm>
            <a:off x="444803" y="1807923"/>
            <a:ext cx="993340" cy="27961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032867471" name="Ellipse 11"/>
          <p:cNvSpPr/>
          <p:nvPr/>
        </p:nvSpPr>
        <p:spPr bwMode="auto">
          <a:xfrm>
            <a:off x="444803" y="2084148"/>
            <a:ext cx="793315" cy="26056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056709670" name="Ellipse 12"/>
          <p:cNvSpPr/>
          <p:nvPr/>
        </p:nvSpPr>
        <p:spPr bwMode="auto">
          <a:xfrm>
            <a:off x="442064" y="2341845"/>
            <a:ext cx="993470" cy="30584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107506963" name="Ellipse 13"/>
          <p:cNvSpPr/>
          <p:nvPr/>
        </p:nvSpPr>
        <p:spPr bwMode="auto">
          <a:xfrm flipH="0" flipV="0">
            <a:off x="463853" y="2647687"/>
            <a:ext cx="955238" cy="234234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40105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Kokkos</a:t>
            </a:r>
            <a:r>
              <a:rPr lang="de-DE"/>
              <a:t> on LAMMPS</a:t>
            </a:r>
            <a:endParaRPr lang="de-DE"/>
          </a:p>
        </p:txBody>
      </p:sp>
      <p:sp>
        <p:nvSpPr>
          <p:cNvPr id="931082072" name="Inhaltsplatzhalter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Kokkos</a:t>
            </a:r>
            <a:r>
              <a:rPr lang="de-DE"/>
              <a:t> </a:t>
            </a:r>
            <a:r>
              <a:rPr lang="de-DE"/>
              <a:t>is</a:t>
            </a:r>
            <a:r>
              <a:rPr lang="de-DE"/>
              <a:t> a </a:t>
            </a:r>
            <a:r>
              <a:rPr lang="de-DE"/>
              <a:t>templated</a:t>
            </a:r>
            <a:r>
              <a:rPr lang="de-DE"/>
              <a:t> </a:t>
            </a:r>
            <a:r>
              <a:rPr lang="de-DE"/>
              <a:t>library</a:t>
            </a:r>
            <a:r>
              <a:rPr lang="de-DE"/>
              <a:t> </a:t>
            </a:r>
            <a:r>
              <a:rPr lang="de-DE"/>
              <a:t>developed</a:t>
            </a:r>
            <a:r>
              <a:rPr lang="de-DE"/>
              <a:t> in C++ and </a:t>
            </a:r>
            <a:r>
              <a:rPr lang="de-DE"/>
              <a:t>compatible</a:t>
            </a:r>
            <a:r>
              <a:rPr lang="de-DE"/>
              <a:t> </a:t>
            </a:r>
            <a:r>
              <a:rPr lang="de-DE"/>
              <a:t>with</a:t>
            </a:r>
            <a:r>
              <a:rPr lang="de-DE"/>
              <a:t> C++ </a:t>
            </a:r>
            <a:r>
              <a:rPr lang="de-DE"/>
              <a:t>standard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/>
              <a:t>Kokkos</a:t>
            </a:r>
            <a:r>
              <a:rPr lang="de-DE"/>
              <a:t> </a:t>
            </a:r>
            <a:r>
              <a:rPr lang="de-DE"/>
              <a:t>provides</a:t>
            </a:r>
            <a:r>
              <a:rPr lang="de-DE"/>
              <a:t> </a:t>
            </a:r>
            <a:r>
              <a:rPr lang="de-DE"/>
              <a:t>offloading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computation</a:t>
            </a:r>
            <a:r>
              <a:rPr lang="de-DE"/>
              <a:t> Kernels on </a:t>
            </a:r>
            <a:r>
              <a:rPr lang="de-DE"/>
              <a:t>various</a:t>
            </a:r>
            <a:r>
              <a:rPr lang="de-DE"/>
              <a:t> </a:t>
            </a:r>
            <a:r>
              <a:rPr lang="de-DE"/>
              <a:t>hardware</a:t>
            </a:r>
            <a:r>
              <a:rPr lang="de-DE"/>
              <a:t> (</a:t>
            </a:r>
            <a:r>
              <a:rPr lang="de-DE"/>
              <a:t>vendor-agnostic</a:t>
            </a:r>
            <a:r>
              <a:rPr lang="de-DE"/>
              <a:t>) </a:t>
            </a:r>
            <a:r>
              <a:rPr lang="de-DE"/>
              <a:t>with</a:t>
            </a:r>
            <a:r>
              <a:rPr lang="de-DE"/>
              <a:t> an </a:t>
            </a:r>
            <a:r>
              <a:rPr lang="de-DE"/>
              <a:t>acceptable</a:t>
            </a:r>
            <a:r>
              <a:rPr lang="de-DE"/>
              <a:t> </a:t>
            </a:r>
            <a:r>
              <a:rPr lang="de-DE"/>
              <a:t>performance</a:t>
            </a:r>
            <a:r>
              <a:rPr lang="de-DE"/>
              <a:t>.  </a:t>
            </a:r>
            <a:endParaRPr/>
          </a:p>
          <a:p>
            <a:pPr>
              <a:defRPr/>
            </a:pPr>
            <a:r>
              <a:rPr lang="de-DE"/>
              <a:t>After </a:t>
            </a:r>
            <a:r>
              <a:rPr lang="de-DE"/>
              <a:t>installation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LAMMPS, </a:t>
            </a:r>
            <a:r>
              <a:rPr lang="de-DE"/>
              <a:t>the</a:t>
            </a:r>
            <a:r>
              <a:rPr lang="de-DE"/>
              <a:t> </a:t>
            </a:r>
            <a:r>
              <a:rPr lang="de-DE"/>
              <a:t>styles</a:t>
            </a:r>
            <a:r>
              <a:rPr lang="de-DE"/>
              <a:t> </a:t>
            </a:r>
            <a:r>
              <a:rPr lang="de-DE"/>
              <a:t>that</a:t>
            </a:r>
            <a:r>
              <a:rPr lang="de-DE"/>
              <a:t> </a:t>
            </a:r>
            <a:r>
              <a:rPr lang="de-DE"/>
              <a:t>has</a:t>
            </a:r>
            <a:r>
              <a:rPr lang="de-DE"/>
              <a:t> </a:t>
            </a:r>
            <a:r>
              <a:rPr lang="de-DE"/>
              <a:t>Kokkos</a:t>
            </a:r>
            <a:r>
              <a:rPr lang="de-DE"/>
              <a:t> support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checked</a:t>
            </a:r>
            <a:r>
              <a:rPr lang="de-DE"/>
              <a:t> </a:t>
            </a:r>
            <a:r>
              <a:rPr lang="de-DE"/>
              <a:t>using</a:t>
            </a:r>
            <a:r>
              <a:rPr lang="de-DE"/>
              <a:t> </a:t>
            </a:r>
            <a:r>
              <a:rPr lang="de-DE" b="1" i="1"/>
              <a:t>lmp</a:t>
            </a:r>
            <a:r>
              <a:rPr lang="de-DE" b="1" i="1"/>
              <a:t> –h </a:t>
            </a:r>
            <a:r>
              <a:rPr lang="de-DE" b="1" i="1"/>
              <a:t>kokkos</a:t>
            </a:r>
            <a:r>
              <a:rPr lang="de-DE"/>
              <a:t> </a:t>
            </a:r>
            <a:endParaRPr/>
          </a:p>
          <a:p>
            <a:pPr>
              <a:defRPr/>
            </a:pPr>
            <a:r>
              <a:rPr lang="de-DE"/>
              <a:t>It</a:t>
            </a:r>
            <a:r>
              <a:rPr lang="de-DE"/>
              <a:t> </a:t>
            </a:r>
            <a:r>
              <a:rPr lang="de-DE"/>
              <a:t>supports</a:t>
            </a:r>
            <a:r>
              <a:rPr lang="de-DE"/>
              <a:t> GPU, shared-memory and </a:t>
            </a:r>
            <a:r>
              <a:rPr lang="de-DE"/>
              <a:t>distributed</a:t>
            </a:r>
            <a:r>
              <a:rPr lang="de-DE"/>
              <a:t> </a:t>
            </a:r>
            <a:r>
              <a:rPr lang="de-DE"/>
              <a:t>memory</a:t>
            </a:r>
            <a:r>
              <a:rPr lang="de-DE"/>
              <a:t>. </a:t>
            </a:r>
            <a:endParaRPr/>
          </a:p>
          <a:p>
            <a:pPr marL="0" indent="0">
              <a:buNone/>
              <a:defRPr/>
            </a:pPr>
            <a:endParaRPr lang="de-DE"/>
          </a:p>
          <a:p>
            <a:pPr marL="0" indent="0">
              <a:buNone/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981184506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18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94713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How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invoke</a:t>
            </a:r>
            <a:r>
              <a:rPr lang="de-DE"/>
              <a:t> </a:t>
            </a:r>
            <a:r>
              <a:rPr lang="de-DE"/>
              <a:t>Kokkos</a:t>
            </a:r>
            <a:r>
              <a:rPr lang="de-DE"/>
              <a:t> on </a:t>
            </a:r>
            <a:r>
              <a:rPr lang="de-DE"/>
              <a:t>run</a:t>
            </a:r>
            <a:r>
              <a:rPr lang="de-DE"/>
              <a:t> </a:t>
            </a:r>
            <a:r>
              <a:rPr lang="de-DE"/>
              <a:t>command</a:t>
            </a:r>
            <a:endParaRPr/>
          </a:p>
        </p:txBody>
      </p:sp>
      <p:sp>
        <p:nvSpPr>
          <p:cNvPr id="2122943245" name="Inhaltsplatzhalter 2"/>
          <p:cNvSpPr>
            <a:spLocks noGrp="1"/>
          </p:cNvSpPr>
          <p:nvPr>
            <p:ph idx="1"/>
          </p:nvPr>
        </p:nvSpPr>
        <p:spPr bwMode="auto">
          <a:xfrm>
            <a:off x="838200" y="1501775"/>
            <a:ext cx="10515600" cy="485616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de-DE" b="1">
                <a:latin typeface="Comic Sans MS"/>
              </a:rPr>
              <a:t>neigh</a:t>
            </a:r>
            <a:r>
              <a:rPr lang="de-DE"/>
              <a:t>:</a:t>
            </a:r>
            <a:r>
              <a:rPr lang="de-DE" i="1"/>
              <a:t> half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 GPU. </a:t>
            </a:r>
            <a:r>
              <a:rPr lang="de-DE"/>
              <a:t>Determines</a:t>
            </a:r>
            <a:r>
              <a:rPr lang="de-DE"/>
              <a:t> </a:t>
            </a:r>
            <a:r>
              <a:rPr lang="de-DE"/>
              <a:t>how</a:t>
            </a:r>
            <a:r>
              <a:rPr lang="de-DE"/>
              <a:t> a </a:t>
            </a:r>
            <a:r>
              <a:rPr lang="de-DE"/>
              <a:t>neighbor</a:t>
            </a:r>
            <a:r>
              <a:rPr lang="de-DE"/>
              <a:t> </a:t>
            </a:r>
            <a:r>
              <a:rPr lang="de-DE"/>
              <a:t>list</a:t>
            </a:r>
            <a:r>
              <a:rPr lang="de-DE"/>
              <a:t> </a:t>
            </a:r>
            <a:r>
              <a:rPr lang="de-DE"/>
              <a:t>is</a:t>
            </a:r>
            <a:r>
              <a:rPr lang="de-DE"/>
              <a:t> </a:t>
            </a:r>
            <a:r>
              <a:rPr lang="de-DE"/>
              <a:t>built</a:t>
            </a:r>
            <a:endParaRPr lang="de-DE"/>
          </a:p>
          <a:p>
            <a:pPr>
              <a:defRPr/>
            </a:pPr>
            <a:r>
              <a:rPr lang="de-DE" b="1">
                <a:latin typeface="Comic Sans MS"/>
              </a:rPr>
              <a:t>newton</a:t>
            </a:r>
            <a:r>
              <a:rPr lang="de-DE"/>
              <a:t>: </a:t>
            </a:r>
            <a:r>
              <a:rPr lang="de-DE" i="1"/>
              <a:t>off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 GPU. Set Newton </a:t>
            </a:r>
            <a:r>
              <a:rPr lang="de-DE"/>
              <a:t>flags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/>
              <a:t>pairwise</a:t>
            </a:r>
            <a:r>
              <a:rPr lang="de-DE"/>
              <a:t> and </a:t>
            </a:r>
            <a:r>
              <a:rPr lang="de-DE"/>
              <a:t>bonded</a:t>
            </a:r>
            <a:r>
              <a:rPr lang="de-DE"/>
              <a:t> </a:t>
            </a:r>
            <a:r>
              <a:rPr lang="de-DE"/>
              <a:t>interactions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 b="1">
                <a:latin typeface="Comic Sans MS"/>
              </a:rPr>
              <a:t>binsize</a:t>
            </a:r>
            <a:r>
              <a:rPr lang="de-DE"/>
              <a:t>: </a:t>
            </a:r>
            <a:r>
              <a:rPr lang="de-DE"/>
              <a:t>set</a:t>
            </a:r>
            <a:r>
              <a:rPr lang="de-DE"/>
              <a:t>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size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bins</a:t>
            </a:r>
            <a:r>
              <a:rPr lang="de-DE"/>
              <a:t> </a:t>
            </a:r>
            <a:r>
              <a:rPr lang="de-DE"/>
              <a:t>used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bin </a:t>
            </a:r>
            <a:r>
              <a:rPr lang="de-DE"/>
              <a:t>atoms</a:t>
            </a:r>
            <a:r>
              <a:rPr lang="de-DE"/>
              <a:t> in </a:t>
            </a:r>
            <a:r>
              <a:rPr lang="de-DE"/>
              <a:t>neighbor</a:t>
            </a:r>
            <a:r>
              <a:rPr lang="de-DE"/>
              <a:t> </a:t>
            </a:r>
            <a:r>
              <a:rPr lang="de-DE"/>
              <a:t>list</a:t>
            </a:r>
            <a:r>
              <a:rPr lang="de-DE"/>
              <a:t>. </a:t>
            </a:r>
            <a:endParaRPr/>
          </a:p>
          <a:p>
            <a:pPr>
              <a:defRPr/>
            </a:pPr>
            <a:r>
              <a:rPr lang="de-DE" b="1">
                <a:latin typeface="Comic Sans MS"/>
              </a:rPr>
              <a:t>comm</a:t>
            </a:r>
            <a:r>
              <a:rPr lang="de-DE"/>
              <a:t>: </a:t>
            </a:r>
            <a:r>
              <a:rPr lang="de-DE" i="1"/>
              <a:t>no</a:t>
            </a:r>
            <a:r>
              <a:rPr lang="de-DE" i="1"/>
              <a:t>, host, </a:t>
            </a:r>
            <a:r>
              <a:rPr lang="de-DE" i="1"/>
              <a:t>device</a:t>
            </a:r>
            <a:r>
              <a:rPr lang="de-DE" i="1"/>
              <a:t>.</a:t>
            </a:r>
            <a:r>
              <a:rPr lang="de-DE"/>
              <a:t> </a:t>
            </a:r>
            <a:r>
              <a:rPr lang="de-DE"/>
              <a:t>It</a:t>
            </a:r>
            <a:r>
              <a:rPr lang="de-DE"/>
              <a:t> </a:t>
            </a:r>
            <a:r>
              <a:rPr lang="de-DE"/>
              <a:t>determines</a:t>
            </a:r>
            <a:r>
              <a:rPr lang="de-DE"/>
              <a:t> </a:t>
            </a:r>
            <a:r>
              <a:rPr lang="de-DE"/>
              <a:t>packing</a:t>
            </a:r>
            <a:r>
              <a:rPr lang="de-DE"/>
              <a:t> and </a:t>
            </a:r>
            <a:r>
              <a:rPr lang="de-DE"/>
              <a:t>unpacking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data</a:t>
            </a:r>
            <a:r>
              <a:rPr lang="de-DE"/>
              <a:t> </a:t>
            </a:r>
            <a:r>
              <a:rPr lang="de-DE"/>
              <a:t>that should be perfromed </a:t>
            </a:r>
            <a:r>
              <a:rPr lang="de-DE"/>
              <a:t>by</a:t>
            </a:r>
            <a:r>
              <a:rPr lang="de-DE"/>
              <a:t> CPU </a:t>
            </a:r>
            <a:r>
              <a:rPr lang="de-DE"/>
              <a:t>or</a:t>
            </a:r>
            <a:r>
              <a:rPr lang="de-DE"/>
              <a:t> GPU </a:t>
            </a:r>
            <a:r>
              <a:rPr lang="de-DE"/>
              <a:t>when</a:t>
            </a:r>
            <a:r>
              <a:rPr lang="de-DE"/>
              <a:t> </a:t>
            </a:r>
            <a:r>
              <a:rPr lang="de-DE"/>
              <a:t>communicating</a:t>
            </a:r>
            <a:r>
              <a:rPr lang="de-DE"/>
              <a:t> per-atom </a:t>
            </a:r>
            <a:r>
              <a:rPr lang="de-DE"/>
              <a:t>data</a:t>
            </a:r>
            <a:r>
              <a:rPr lang="de-DE"/>
              <a:t>. </a:t>
            </a:r>
            <a:r>
              <a:rPr lang="de-DE"/>
              <a:t>For</a:t>
            </a:r>
            <a:r>
              <a:rPr lang="de-DE"/>
              <a:t> GPUs </a:t>
            </a:r>
            <a:r>
              <a:rPr lang="de-DE" i="1"/>
              <a:t>device</a:t>
            </a:r>
            <a:r>
              <a:rPr lang="de-DE"/>
              <a:t> </a:t>
            </a:r>
            <a:r>
              <a:rPr lang="de-DE"/>
              <a:t>is</a:t>
            </a:r>
            <a:r>
              <a:rPr lang="de-DE"/>
              <a:t> </a:t>
            </a:r>
            <a:r>
              <a:rPr lang="de-DE"/>
              <a:t>faster</a:t>
            </a:r>
            <a:r>
              <a:rPr lang="de-DE"/>
              <a:t> </a:t>
            </a:r>
            <a:r>
              <a:rPr lang="de-DE"/>
              <a:t>when</a:t>
            </a:r>
            <a:r>
              <a:rPr lang="de-DE"/>
              <a:t> all style </a:t>
            </a:r>
            <a:r>
              <a:rPr lang="de-DE"/>
              <a:t>are</a:t>
            </a:r>
            <a:r>
              <a:rPr lang="de-DE"/>
              <a:t> </a:t>
            </a:r>
            <a:r>
              <a:rPr lang="de-DE"/>
              <a:t>Kokkos-enabled</a:t>
            </a:r>
            <a:r>
              <a:rPr lang="de-DE"/>
              <a:t>.</a:t>
            </a:r>
            <a:endParaRPr/>
          </a:p>
          <a:p>
            <a:pPr>
              <a:defRPr/>
            </a:pPr>
            <a:r>
              <a:rPr lang="de-DE" b="1">
                <a:latin typeface="Comic Sans MS"/>
              </a:rPr>
              <a:t>gpu</a:t>
            </a:r>
            <a:r>
              <a:rPr lang="de-DE" b="1">
                <a:latin typeface="Comic Sans MS"/>
              </a:rPr>
              <a:t>/</a:t>
            </a:r>
            <a:r>
              <a:rPr lang="de-DE" b="1">
                <a:latin typeface="Comic Sans MS"/>
              </a:rPr>
              <a:t>aware</a:t>
            </a:r>
            <a:r>
              <a:rPr lang="de-DE"/>
              <a:t>: </a:t>
            </a:r>
            <a:r>
              <a:rPr lang="de-DE" i="1"/>
              <a:t>on. </a:t>
            </a:r>
            <a:r>
              <a:rPr lang="de-DE"/>
              <a:t>This </a:t>
            </a:r>
            <a:r>
              <a:rPr lang="de-DE"/>
              <a:t>allows</a:t>
            </a:r>
            <a:r>
              <a:rPr lang="de-DE"/>
              <a:t> GPU </a:t>
            </a:r>
            <a:r>
              <a:rPr lang="de-DE"/>
              <a:t>buffers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sent</a:t>
            </a:r>
            <a:r>
              <a:rPr lang="de-DE"/>
              <a:t> </a:t>
            </a:r>
            <a:r>
              <a:rPr lang="de-DE"/>
              <a:t>directly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MPI </a:t>
            </a:r>
            <a:r>
              <a:rPr lang="de-DE"/>
              <a:t>sender</a:t>
            </a:r>
            <a:r>
              <a:rPr lang="de-DE"/>
              <a:t>/</a:t>
            </a:r>
            <a:r>
              <a:rPr lang="de-DE"/>
              <a:t>reciever</a:t>
            </a:r>
            <a:r>
              <a:rPr lang="de-DE"/>
              <a:t>. Check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availability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gpu</a:t>
            </a:r>
            <a:r>
              <a:rPr lang="de-DE"/>
              <a:t>-aware </a:t>
            </a:r>
            <a:r>
              <a:rPr lang="de-DE"/>
              <a:t>mpi</a:t>
            </a:r>
            <a:r>
              <a:rPr lang="de-DE"/>
              <a:t> on </a:t>
            </a:r>
            <a:r>
              <a:rPr lang="de-DE"/>
              <a:t>your</a:t>
            </a:r>
            <a:r>
              <a:rPr lang="de-DE"/>
              <a:t> </a:t>
            </a:r>
            <a:r>
              <a:rPr lang="de-DE"/>
              <a:t>system</a:t>
            </a:r>
            <a:r>
              <a:rPr lang="de-DE"/>
              <a:t>.  </a:t>
            </a:r>
            <a:endParaRPr/>
          </a:p>
          <a:p>
            <a:pPr>
              <a:defRPr/>
            </a:pPr>
            <a:r>
              <a:rPr lang="de-DE" i="1"/>
              <a:t>mpirun</a:t>
            </a:r>
            <a:r>
              <a:rPr lang="de-DE" i="1"/>
              <a:t> –</a:t>
            </a:r>
            <a:r>
              <a:rPr lang="de-DE" i="1"/>
              <a:t>np</a:t>
            </a:r>
            <a:r>
              <a:rPr lang="de-DE" i="1"/>
              <a:t> 4 –sf </a:t>
            </a:r>
            <a:r>
              <a:rPr lang="de-DE" i="1"/>
              <a:t>kk</a:t>
            </a:r>
            <a:r>
              <a:rPr lang="de-DE" i="1"/>
              <a:t> –k on g 4 –</a:t>
            </a:r>
            <a:r>
              <a:rPr lang="de-DE" i="1"/>
              <a:t>pk</a:t>
            </a:r>
            <a:r>
              <a:rPr lang="de-DE" i="1"/>
              <a:t> </a:t>
            </a:r>
            <a:r>
              <a:rPr lang="de-DE" i="1"/>
              <a:t>kokkos</a:t>
            </a:r>
            <a:r>
              <a:rPr lang="de-DE" i="1"/>
              <a:t> </a:t>
            </a:r>
            <a:r>
              <a:rPr lang="de-DE" i="1"/>
              <a:t>newton</a:t>
            </a:r>
            <a:r>
              <a:rPr lang="de-DE" i="1"/>
              <a:t> off </a:t>
            </a:r>
            <a:r>
              <a:rPr lang="de-DE" i="1"/>
              <a:t>neigh</a:t>
            </a:r>
            <a:r>
              <a:rPr lang="de-DE" i="1"/>
              <a:t> half </a:t>
            </a:r>
            <a:r>
              <a:rPr lang="de-DE" i="1"/>
              <a:t>comm</a:t>
            </a:r>
            <a:r>
              <a:rPr lang="de-DE" i="1"/>
              <a:t> </a:t>
            </a:r>
            <a:r>
              <a:rPr lang="de-DE" i="1"/>
              <a:t>device</a:t>
            </a:r>
            <a:r>
              <a:rPr lang="de-DE" i="1"/>
              <a:t> </a:t>
            </a:r>
            <a:r>
              <a:rPr lang="de-DE" i="1"/>
              <a:t>gpu</a:t>
            </a:r>
            <a:r>
              <a:rPr lang="de-DE" i="1"/>
              <a:t>/</a:t>
            </a:r>
            <a:r>
              <a:rPr lang="de-DE" i="1"/>
              <a:t>aware</a:t>
            </a:r>
            <a:r>
              <a:rPr lang="de-DE" i="1"/>
              <a:t> on –in </a:t>
            </a:r>
            <a:r>
              <a:rPr lang="de-DE" i="1"/>
              <a:t>in.your_script</a:t>
            </a:r>
            <a:r>
              <a:rPr lang="de-DE"/>
              <a:t>  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127534864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19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Elmira Birang</cp:lastModifiedBy>
  <cp:revision>1437</cp:revision>
  <dcterms:created xsi:type="dcterms:W3CDTF">2025-09-05T13:11:55Z</dcterms:created>
  <dcterms:modified xsi:type="dcterms:W3CDTF">2025-11-17T14:17:54Z</dcterms:modified>
</cp:coreProperties>
</file>