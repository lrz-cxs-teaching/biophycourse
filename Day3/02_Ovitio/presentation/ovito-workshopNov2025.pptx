
<file path=[Content_Types].xml><?xml version="1.0" encoding="utf-8"?>
<Types xmlns="http://schemas.openxmlformats.org/package/2006/content-types">
  <Default Extension="jpg" ContentType="image/jpeg"/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avi" ContentType="video/avi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diagrams/layout1.xml" ContentType="application/vnd.openxmlformats-officedocument.drawingml.diagramLayout+xml"/>
  <Override PartName="/ppt/slideLayouts/slideLayout2.xml" ContentType="application/vnd.openxmlformats-officedocument.presentationml.slideLayout+xml"/>
  <Override PartName="/ppt/diagrams/drawing1.xml" ContentType="application/vnd.openxmlformats-officedocument.drawingml.diagramDrawing+xml"/>
  <Override PartName="/ppt/presProps.xml" ContentType="application/vnd.openxmlformats-officedocument.presentationml.presProps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quickStyle1.xml" ContentType="application/vnd.openxmlformats-officedocument.drawingml.diagramQuickStyl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7" d="100"/>
          <a:sy n="117" d="100"/>
        </p:scale>
        <p:origin x="126" y="40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dk2">
        <a:alpha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dk2">
        <a:tint val="5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lign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bgImgPlace1">
    <dgm:fillClrLst hueDir="cw" meth="repeat">
      <a:schemeClr val="dk2">
        <a:tint val="50000"/>
      </a:schemeClr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callout">
    <dgm:fillClrLst hueDir="cw" meth="repeat">
      <a:schemeClr val="dk2"/>
    </dgm:fillClrLst>
    <dgm:linClrLst hueDir="cw" meth="repeat">
      <a:schemeClr val="dk2">
        <a:tint val="5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asst0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dk2"/>
    </dgm:fillClrLst>
    <dgm:linClrLst hueDir="cw" meth="repeat">
      <a:schemeClr val="lt2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dk2">
        <a:tint val="60000"/>
      </a:schemeClr>
    </dgm:fillClrLst>
    <dgm:linClrLst hueDir="cw" meth="repeat">
      <a:schemeClr val="dk2">
        <a:tint val="60000"/>
      </a:schemeClr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2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3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2D4">
    <dgm:fillClrLst hueDir="cw" meth="repeat">
      <a:schemeClr val="dk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2"/>
    </dgm:txFillClrLst>
    <dgm:txEffectClrLst hueDir="cw" meth="span"/>
  </dgm:styleLbl>
  <dgm:styleLbl name="parChTrans1D1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dk2"/>
    </dgm:fillClrLst>
    <dgm:linClrLst hueDir="cw" meth="repeat">
      <a:schemeClr val="dk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dk2"/>
    </dgm:fillClrLst>
    <dgm:linClrLst hueDir="cw" meth="repeat">
      <a:schemeClr val="dk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2"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2"/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dk2">
        <a:alpha val="90000"/>
        <a:tint val="40000"/>
      </a:schemeClr>
    </dgm:fillClrLst>
    <dgm:linClrLst hueDir="cw" meth="repeat">
      <a:schemeClr val="dk2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2">
        <a:alpha val="9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dk2">
        <a:tint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dk2">
        <a:shade val="8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dk2">
        <a:tint val="50000"/>
        <a:alpha val="40000"/>
      </a:schemeClr>
    </dgm:fillClrLst>
    <dgm:linClrLst hueDir="cw" meth="repeat">
      <a:schemeClr val="dk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dk2">
        <a:tint val="60000"/>
      </a:schemeClr>
    </dgm:fillClrLst>
    <dgm:linClrLst hueDir="cw" meth="repeat">
      <a:schemeClr val="l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2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113980A-5E56-4DFE-A1D2-7AD0BC60CA56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 bwMode="auto"/>
    </dgm:pt>
    <dgm:pt modelId="{4234380E-E0B1-4303-B23E-A0A9B5922822}" type="node">
      <dgm:prSet phldrT="[Text]"/>
      <dgm:spPr bwMode="auto"/>
      <dgm:t>
        <a:bodyPr/>
        <a:lstStyle/>
        <a:p>
          <a:pPr>
            <a:defRPr/>
          </a:pPr>
          <a:r>
            <a:rPr lang="de-DE"/>
            <a:t>LAMMPS – MD Simulation</a:t>
          </a:r>
          <a:endParaRPr/>
        </a:p>
      </dgm:t>
    </dgm:pt>
    <dgm:pt modelId="{BB67B95A-8AE0-4ADF-8D25-D6399FB3C8A6}" type="parTrans" cxnId="{45F49A9D-27CF-4E69-BBBD-D9D8730DD154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32646515-53C5-4617-B5A0-D34D781C43CA}" type="sibTrans" cxnId="{45F49A9D-27CF-4E69-BBBD-D9D8730DD154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C08EDD1C-6541-423D-851C-2CC14B89E3D1}" type="node">
      <dgm:prSet phldrT="[Text]"/>
      <dgm:spPr bwMode="auto"/>
      <dgm:t>
        <a:bodyPr/>
        <a:lstStyle/>
        <a:p>
          <a:pPr>
            <a:defRPr/>
          </a:pPr>
          <a:r>
            <a:rPr lang="de-DE"/>
            <a:t>Dump </a:t>
          </a:r>
          <a:r>
            <a:rPr lang="de-DE"/>
            <a:t>file</a:t>
          </a:r>
          <a:endParaRPr lang="de-DE"/>
        </a:p>
      </dgm:t>
    </dgm:pt>
    <dgm:pt modelId="{5DC46FDC-37B3-4770-A94D-18F25FC62510}" type="parTrans" cxnId="{28835D75-054C-4E29-A54E-789A639CFCB8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6BC354CB-1B41-4575-A61B-1583C3DDC753}" type="sibTrans" cxnId="{28835D75-054C-4E29-A54E-789A639CFCB8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EDEE2601-A97D-44D7-AA12-3DB352D0A264}" type="node">
      <dgm:prSet phldrT="[Text]"/>
      <dgm:spPr bwMode="auto"/>
      <dgm:t>
        <a:bodyPr/>
        <a:lstStyle/>
        <a:p>
          <a:pPr>
            <a:defRPr/>
          </a:pPr>
          <a:r>
            <a:rPr lang="de-DE"/>
            <a:t>Visualization</a:t>
          </a:r>
          <a:r>
            <a:rPr lang="de-DE"/>
            <a:t> </a:t>
          </a:r>
          <a:r>
            <a:rPr lang="de-DE"/>
            <a:t>by</a:t>
          </a:r>
          <a:r>
            <a:rPr lang="de-DE"/>
            <a:t> </a:t>
          </a:r>
          <a:r>
            <a:rPr lang="de-DE"/>
            <a:t>Ovito</a:t>
          </a:r>
          <a:endParaRPr lang="de-DE"/>
        </a:p>
      </dgm:t>
    </dgm:pt>
    <dgm:pt modelId="{6DD09604-D0BA-43BD-A00F-BEAF73D58626}" type="parTrans" cxnId="{A948499D-3D47-43F4-86B2-B6280A9496B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FADDCFD1-118B-4814-8B03-7D6585CABA6B}" type="sibTrans" cxnId="{A948499D-3D47-43F4-86B2-B6280A9496B6}">
      <dgm:prSet/>
      <dgm:spPr bwMode="auto"/>
      <dgm:t>
        <a:bodyPr/>
        <a:lstStyle/>
        <a:p>
          <a:pPr>
            <a:defRPr/>
          </a:pPr>
          <a:endParaRPr lang="de-DE"/>
        </a:p>
      </dgm:t>
    </dgm:pt>
    <dgm:pt modelId="{34168231-C3ED-40B7-B912-FA7AAD0C8E8D}" type="pres">
      <dgm:prSet presAssocID="{C113980A-5E56-4DFE-A1D2-7AD0BC60CA56}" presName="Name0" presStyleCnt="0">
        <dgm:presLayoutVars>
          <dgm:dir val="norm"/>
          <dgm:resizeHandles val="exact"/>
        </dgm:presLayoutVars>
      </dgm:prSet>
      <dgm:spPr bwMode="auto"/>
    </dgm:pt>
    <dgm:pt modelId="{2CB7174A-991F-4D05-95A3-646C6D291B9F}" type="pres">
      <dgm:prSet presAssocID="{4234380E-E0B1-4303-B23E-A0A9B5922822}" presName="node" presStyleLbl="node1" presStyleIdx="0" presStyleCnt="3">
        <dgm:presLayoutVars>
          <dgm:bulletEnabled val="1"/>
        </dgm:presLayoutVars>
      </dgm:prSet>
      <dgm:spPr bwMode="auto"/>
    </dgm:pt>
    <dgm:pt modelId="{23FB308A-07D3-488D-8C4A-E4A2597A0519}" type="pres">
      <dgm:prSet presAssocID="{32646515-53C5-4617-B5A0-D34D781C43CA}" presName="sibTrans" presStyleLbl="sibTrans2D1" presStyleIdx="0" presStyleCnt="2"/>
      <dgm:spPr bwMode="auto"/>
    </dgm:pt>
    <dgm:pt modelId="{09AE78A7-9F88-434B-A260-052AF0670B6A}" type="pres">
      <dgm:prSet presAssocID="{32646515-53C5-4617-B5A0-D34D781C43CA}" presName="connectorText" presStyleLbl="sibTrans2D1" presStyleIdx="0" presStyleCnt="2"/>
      <dgm:spPr bwMode="auto"/>
    </dgm:pt>
    <dgm:pt modelId="{BEDFF75F-2C24-4597-9635-E8749D4FD9FB}" type="pres">
      <dgm:prSet presAssocID="{C08EDD1C-6541-423D-851C-2CC14B89E3D1}" presName="node" presStyleLbl="node1" presStyleIdx="1" presStyleCnt="3">
        <dgm:presLayoutVars>
          <dgm:bulletEnabled val="1"/>
        </dgm:presLayoutVars>
      </dgm:prSet>
      <dgm:spPr bwMode="auto"/>
    </dgm:pt>
    <dgm:pt modelId="{9EB0F95A-DA3A-4061-A943-C5A1A07B3DF8}" type="pres">
      <dgm:prSet presAssocID="{6BC354CB-1B41-4575-A61B-1583C3DDC753}" presName="sibTrans" presStyleLbl="sibTrans2D1" presStyleIdx="1" presStyleCnt="2"/>
      <dgm:spPr bwMode="auto"/>
    </dgm:pt>
    <dgm:pt modelId="{F64F8BBD-5CF4-4F6E-B207-ED07C879ADDB}" type="pres">
      <dgm:prSet presAssocID="{6BC354CB-1B41-4575-A61B-1583C3DDC753}" presName="connectorText" presStyleLbl="sibTrans2D1" presStyleIdx="1" presStyleCnt="2"/>
      <dgm:spPr bwMode="auto"/>
    </dgm:pt>
    <dgm:pt modelId="{3E20DB97-1D73-45D7-BB52-D664DAD855D5}" type="pres">
      <dgm:prSet presAssocID="{EDEE2601-A97D-44D7-AA12-3DB352D0A264}" presName="node" presStyleLbl="node1" presStyleIdx="2" presStyleCnt="3">
        <dgm:presLayoutVars>
          <dgm:bulletEnabled val="1"/>
        </dgm:presLayoutVars>
      </dgm:prSet>
      <dgm:spPr bwMode="auto"/>
    </dgm:pt>
  </dgm:ptLst>
  <dgm:cxnLst>
    <dgm:cxn modelId="{E9506B25-E26B-4AB5-930A-5E274AC92472}" type="presOf" srcId="{EDEE2601-A97D-44D7-AA12-3DB352D0A264}" destId="{3E20DB97-1D73-45D7-BB52-D664DAD855D5}" srcOrd="0" destOrd="0" presId="urn:microsoft.com/office/officeart/2005/8/layout/process1"/>
    <dgm:cxn modelId="{E782D926-C0A5-46D2-B04C-695E82EB953D}" type="presOf" srcId="{6BC354CB-1B41-4575-A61B-1583C3DDC753}" destId="{9EB0F95A-DA3A-4061-A943-C5A1A07B3DF8}" srcOrd="0" destOrd="0" presId="urn:microsoft.com/office/officeart/2005/8/layout/process1"/>
    <dgm:cxn modelId="{77734341-F907-4304-9C9F-146D9059B5F8}" type="presOf" srcId="{32646515-53C5-4617-B5A0-D34D781C43CA}" destId="{09AE78A7-9F88-434B-A260-052AF0670B6A}" srcOrd="1" destOrd="0" presId="urn:microsoft.com/office/officeart/2005/8/layout/process1"/>
    <dgm:cxn modelId="{46E7B145-D6D6-472E-9D7F-0B81C949FB15}" type="presOf" srcId="{C113980A-5E56-4DFE-A1D2-7AD0BC60CA56}" destId="{34168231-C3ED-40B7-B912-FA7AAD0C8E8D}" srcOrd="0" destOrd="0" presId="urn:microsoft.com/office/officeart/2005/8/layout/process1"/>
    <dgm:cxn modelId="{92849D54-04B8-4EC7-8BC5-12ED036597E5}" type="presOf" srcId="{C08EDD1C-6541-423D-851C-2CC14B89E3D1}" destId="{BEDFF75F-2C24-4597-9635-E8749D4FD9FB}" srcOrd="0" destOrd="0" presId="urn:microsoft.com/office/officeart/2005/8/layout/process1"/>
    <dgm:cxn modelId="{28835D75-054C-4E29-A54E-789A639CFCB8}" type="parOf" srcId="{C113980A-5E56-4DFE-A1D2-7AD0BC60CA56}" destId="{C08EDD1C-6541-423D-851C-2CC14B89E3D1}" srcOrd="1" destOrd="0" parTransId="{5DC46FDC-37B3-4770-A94D-18F25FC62510}" sibTransId="{6BC354CB-1B41-4575-A61B-1583C3DDC753}"/>
    <dgm:cxn modelId="{ADACD197-153C-4FFE-917B-9188EEE43B7E}" type="presOf" srcId="{4234380E-E0B1-4303-B23E-A0A9B5922822}" destId="{2CB7174A-991F-4D05-95A3-646C6D291B9F}" srcOrd="0" destOrd="0" presId="urn:microsoft.com/office/officeart/2005/8/layout/process1"/>
    <dgm:cxn modelId="{A948499D-3D47-43F4-86B2-B6280A9496B6}" type="parOf" srcId="{C113980A-5E56-4DFE-A1D2-7AD0BC60CA56}" destId="{EDEE2601-A97D-44D7-AA12-3DB352D0A264}" srcOrd="2" destOrd="0" parTransId="{6DD09604-D0BA-43BD-A00F-BEAF73D58626}" sibTransId="{FADDCFD1-118B-4814-8B03-7D6585CABA6B}"/>
    <dgm:cxn modelId="{45F49A9D-27CF-4E69-BBBD-D9D8730DD154}" type="parOf" srcId="{C113980A-5E56-4DFE-A1D2-7AD0BC60CA56}" destId="{4234380E-E0B1-4303-B23E-A0A9B5922822}" srcOrd="0" destOrd="0" parTransId="{BB67B95A-8AE0-4ADF-8D25-D6399FB3C8A6}" sibTransId="{32646515-53C5-4617-B5A0-D34D781C43CA}"/>
    <dgm:cxn modelId="{DA11BCA2-A481-4554-AF2D-36F0812761B8}" type="presOf" srcId="{32646515-53C5-4617-B5A0-D34D781C43CA}" destId="{23FB308A-07D3-488D-8C4A-E4A2597A0519}" srcOrd="0" destOrd="0" presId="urn:microsoft.com/office/officeart/2005/8/layout/process1"/>
    <dgm:cxn modelId="{533FFAA6-1CC4-421F-A25E-0717EA41D116}" type="presOf" srcId="{6BC354CB-1B41-4575-A61B-1583C3DDC753}" destId="{F64F8BBD-5CF4-4F6E-B207-ED07C879ADDB}" srcOrd="1" destOrd="0" presId="urn:microsoft.com/office/officeart/2005/8/layout/process1"/>
    <dgm:cxn modelId="{B6287ED6-4950-42CB-9EA3-4A9C4F352BB3}" type="presParOf" srcId="{34168231-C3ED-40B7-B912-FA7AAD0C8E8D}" destId="{2CB7174A-991F-4D05-95A3-646C6D291B9F}" srcOrd="0" destOrd="0" presId="urn:microsoft.com/office/officeart/2005/8/layout/process1"/>
    <dgm:cxn modelId="{FFDD0ED9-D5B4-487D-9BB8-56F5D93AF27A}" type="presParOf" srcId="{34168231-C3ED-40B7-B912-FA7AAD0C8E8D}" destId="{23FB308A-07D3-488D-8C4A-E4A2597A0519}" srcOrd="1" destOrd="0" presId="urn:microsoft.com/office/officeart/2005/8/layout/process1"/>
    <dgm:cxn modelId="{F6040752-E48B-44BC-A439-DA0F5CBE0F15}" type="presParOf" srcId="{23FB308A-07D3-488D-8C4A-E4A2597A0519}" destId="{09AE78A7-9F88-434B-A260-052AF0670B6A}" srcOrd="0" destOrd="0" presId="urn:microsoft.com/office/officeart/2005/8/layout/process1"/>
    <dgm:cxn modelId="{52C3B6CF-D03C-413D-8A6F-52A9AC70B520}" type="presParOf" srcId="{34168231-C3ED-40B7-B912-FA7AAD0C8E8D}" destId="{BEDFF75F-2C24-4597-9635-E8749D4FD9FB}" srcOrd="2" destOrd="0" presId="urn:microsoft.com/office/officeart/2005/8/layout/process1"/>
    <dgm:cxn modelId="{FE54943A-EE66-4212-8144-CBB1FB0EF965}" type="presParOf" srcId="{34168231-C3ED-40B7-B912-FA7AAD0C8E8D}" destId="{9EB0F95A-DA3A-4061-A943-C5A1A07B3DF8}" srcOrd="3" destOrd="0" presId="urn:microsoft.com/office/officeart/2005/8/layout/process1"/>
    <dgm:cxn modelId="{FCF4FA1A-BA32-489E-8E7C-618121C5D15B}" type="presParOf" srcId="{9EB0F95A-DA3A-4061-A943-C5A1A07B3DF8}" destId="{F64F8BBD-5CF4-4F6E-B207-ED07C879ADDB}" srcOrd="0" destOrd="0" presId="urn:microsoft.com/office/officeart/2005/8/layout/process1"/>
    <dgm:cxn modelId="{A370A9A3-7E1C-497A-9ADD-35760BA269EC}" type="presParOf" srcId="{34168231-C3ED-40B7-B912-FA7AAD0C8E8D}" destId="{3E20DB97-1D73-45D7-BB52-D664DAD855D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916516970" name=""/>
      <dsp:cNvGrpSpPr/>
    </dsp:nvGrpSpPr>
    <dsp:grpSpPr bwMode="auto">
      <a:xfrm rot="0">
        <a:off x="0" y="0"/>
        <a:ext cx="7145076" cy="1931084"/>
        <a:chOff x="0" y="0"/>
        <a:chExt cx="7145076" cy="1931084"/>
      </a:xfrm>
    </dsp:grpSpPr>
    <dsp:sp modelId="{2CB7174A-991F-4D05-95A3-646C6D291B9F}">
      <dsp:nvSpPr>
        <dsp:cNvPr id="0" name=""/>
        <dsp:cNvSpPr/>
      </dsp:nvSpPr>
      <dsp:spPr bwMode="auto">
        <a:xfrm rot="0" flipH="0" flipV="0">
          <a:off x="0" y="401457"/>
          <a:ext cx="1880283" cy="11281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2"/>
        </a:lnRef>
        <a:fillRef idx="1">
          <a:schemeClr val="dk2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de-DE"/>
            <a:t>LAMMPS – MD Simulation</a:t>
          </a:r>
          <a:endParaRPr/>
        </a:p>
      </dsp:txBody>
      <dsp:txXfrm rot="0">
        <a:off x="33042" y="434500"/>
        <a:ext cx="1814197" cy="1062083"/>
      </dsp:txXfrm>
    </dsp:sp>
    <dsp:sp modelId="{23FB308A-07D3-488D-8C4A-E4A2597A0519}">
      <dsp:nvSpPr>
        <dsp:cNvPr id="0" name=""/>
        <dsp:cNvSpPr/>
      </dsp:nvSpPr>
      <dsp:spPr bwMode="auto">
        <a:xfrm rot="0" flipH="0" flipV="0">
          <a:off x="2068311" y="732386"/>
          <a:ext cx="398620" cy="466310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dk2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EDFF75F-2C24-4597-9635-E8749D4FD9FB}">
      <dsp:nvSpPr>
        <dsp:cNvPr id="0" name=""/>
        <dsp:cNvSpPr/>
      </dsp:nvSpPr>
      <dsp:spPr bwMode="auto">
        <a:xfrm rot="0" flipH="0" flipV="0">
          <a:off x="2632396" y="401457"/>
          <a:ext cx="1880283" cy="11281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2"/>
        </a:lnRef>
        <a:fillRef idx="1">
          <a:schemeClr val="dk2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de-DE"/>
            <a:t>Dump </a:t>
          </a:r>
          <a:r>
            <a:rPr lang="de-DE"/>
            <a:t>file</a:t>
          </a:r>
          <a:endParaRPr lang="de-DE"/>
        </a:p>
      </dsp:txBody>
      <dsp:txXfrm rot="0">
        <a:off x="2665439" y="434500"/>
        <a:ext cx="1814197" cy="1062083"/>
      </dsp:txXfrm>
    </dsp:sp>
    <dsp:sp modelId="{9EB0F95A-DA3A-4061-A943-C5A1A07B3DF8}">
      <dsp:nvSpPr>
        <dsp:cNvPr id="0" name=""/>
        <dsp:cNvSpPr/>
      </dsp:nvSpPr>
      <dsp:spPr bwMode="auto">
        <a:xfrm rot="0" flipH="0" flipV="0">
          <a:off x="4700707" y="732386"/>
          <a:ext cx="398620" cy="466310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dk2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3E20DB97-1D73-45D7-BB52-D664DAD855D5}">
      <dsp:nvSpPr>
        <dsp:cNvPr id="0" name=""/>
        <dsp:cNvSpPr/>
      </dsp:nvSpPr>
      <dsp:spPr bwMode="auto">
        <a:xfrm rot="0" flipH="0" flipV="0">
          <a:off x="5264792" y="401457"/>
          <a:ext cx="1880283" cy="11281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2"/>
        </a:lnRef>
        <a:fillRef idx="1">
          <a:schemeClr val="dk2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de-DE"/>
            <a:t>Visualization</a:t>
          </a:r>
          <a:r>
            <a:rPr lang="de-DE"/>
            <a:t> </a:t>
          </a:r>
          <a:r>
            <a:rPr lang="de-DE"/>
            <a:t>by</a:t>
          </a:r>
          <a:r>
            <a:rPr lang="de-DE"/>
            <a:t> </a:t>
          </a:r>
          <a:r>
            <a:rPr lang="de-DE"/>
            <a:t>Ovito</a:t>
          </a:r>
          <a:endParaRPr lang="de-DE"/>
        </a:p>
      </dsp:txBody>
      <dsp:txXfrm rot="0">
        <a:off x="5297835" y="434500"/>
        <a:ext cx="1814197" cy="1062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h" for="ch" ptType="node" refPtType="all" refType="none" refFor="self" op="equ" fact="1.000000" val="0"/>
      <dgm:constr type="primFontSz" for="ch" ptType="node" refPtType="all" refType="none" refFor="self" op="equ" fact="1.000000" val="65"/>
      <dgm:constr type="w" for="ch" ptType="sibTrans" refPtType="node" refType="w" refFor="ch" op="equ" fact="0.400000" val="0"/>
      <dgm:constr type="h" for="ch" ptType="sibTrans" refPtType="all" refType="none" refFor="self" op="equ" fact="1.000000" val="0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h" for="self" ptType="all" val="NaN" fact="1.5" max="NaN"/>
          <dgm:rule type="primFontSz" for="self" ptType="all" val="5" fact="NaN" max="NaN"/>
          <dgm:rule type="h" for="self" ptType="all" val="INF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  <dgm:constr type="begPad" for="self" ptType="all" refPtType="all" refType="connDist" refFor="self" op="none" fact="0.250000" val="0"/>
            <dgm:constr type="endPad" for="self" ptType="all" refPtType="all" refType="connDist" refFor="self" op="none" fact="0.220000" val="0"/>
          </dgm:constrLst>
          <dgm:ruleLst/>
          <dgm:layoutNode name="connectorText">
            <dgm:alg type="tx">
              <dgm:param type="autoTxRot" val="grav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0511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15853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09829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98133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89733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61649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23FB0-2D95-68C9-0880-2B63F44FC5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936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0952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177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C0E148-BA27-7D10-4229-7FA16CF2D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180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1052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7132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639E54-0606-E2E5-ECF2-ABE79BCF16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373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020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782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83765-96C3-D5DC-005F-E7923338A9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617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286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8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C001D-7997-B013-2A1B-DE76765D02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985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9311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975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443989-7E03-A58F-D39E-7D9A17CD0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039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157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161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B2F8CD-81E0-8752-DC7D-9815C69CA6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641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6578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774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9F2399-C05A-22EB-AEC9-37FC4EAD2C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809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733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667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F86435-0CA0-4845-E95B-BC0811B05C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356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975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21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F23CF3-DEB1-A9E2-2634-1449150BB8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294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321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688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A66BCC-B876-DAFB-5118-E7E03AB8E9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759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302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497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D5A20-10A2-94B6-3F84-0A1A0EA99D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006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4779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784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479433-37EF-E147-FD5A-8DA8C7A0E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029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3845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5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4684C6-2D7A-3960-4B47-4293BFE9C1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742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034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769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42AF4C-F3C3-0CA8-F6C6-794125B1EE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309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8726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439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536118-A738-9C7C-9082-6DC2E9EF2F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009625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25344677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sp>
        <p:nvSpPr>
          <p:cNvPr id="27900317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890444041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1262859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43651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416521542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7704553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686901471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6465706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631244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5994609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659091186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46400017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9513424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19522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240000724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65591702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5702898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086140162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519891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43525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47296070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0997444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93585998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62360751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073264070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207455489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4107494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7606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01622676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61967242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3511501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238194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219066240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20469997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96036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968917722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0398358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2387118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770261244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2847494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959143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795090291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93251005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258157603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2033260828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2060526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0917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33959782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8104439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617741001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3514374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04101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810714364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4575350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102225443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147226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415974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78306634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7817957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D3EB3054-B75A-4BD7-8B3E-8DC0F614FAF3}" type="datetimeFigureOut">
              <a:rPr lang="de-DE"/>
              <a:t>16.10.2025</a:t>
            </a:fld>
            <a:endParaRPr lang="de-DE"/>
          </a:p>
        </p:txBody>
      </p:sp>
      <p:sp>
        <p:nvSpPr>
          <p:cNvPr id="96826134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0597319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02006FE-6571-4354-8775-F8708372C227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ovito.org/" TargetMode="External"/><Relationship Id="rId4" Type="http://schemas.openxmlformats.org/officeDocument/2006/relationships/image" Target="../media/image2.png"/><Relationship Id="rId5" Type="http://schemas.microsoft.com/office/2007/relationships/diagramDrawing" Target="../diagrams/drawing1.xml" /><Relationship Id="rId6" Type="http://schemas.openxmlformats.org/officeDocument/2006/relationships/diagramData" Target="../diagrams/data1.xml" /><Relationship Id="rId7" Type="http://schemas.openxmlformats.org/officeDocument/2006/relationships/diagramColors" Target="../diagrams/colors1.xml" /><Relationship Id="rId8" Type="http://schemas.openxmlformats.org/officeDocument/2006/relationships/diagramLayout" Target="../diagrams/layout1.xml" /><Relationship Id="rId9" Type="http://schemas.openxmlformats.org/officeDocument/2006/relationships/diagramQuickStyle" Target="../diagrams/quickStyle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ovito.org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microsoft.com/office/2007/relationships/media" Target="../media/media1.avi"/><Relationship Id="rId6" Type="http://schemas.openxmlformats.org/officeDocument/2006/relationships/video" Target="../media/media1.avi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13552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5837" y="2347912"/>
            <a:ext cx="10220324" cy="2162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795532274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552586" name="Rectangle 3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5519114" name="Rectangle 4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71304213" name="Rectangle 4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1491943" name="Titel 1"/>
          <p:cNvSpPr>
            <a:spLocks noGrp="1"/>
          </p:cNvSpPr>
          <p:nvPr>
            <p:ph type="ctrTitle"/>
          </p:nvPr>
        </p:nvSpPr>
        <p:spPr bwMode="auto">
          <a:xfrm>
            <a:off x="350778" y="5443817"/>
            <a:ext cx="6962072" cy="1159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de-DE" sz="2000" b="1" i="0" u="none" strike="noStrike" cap="none" spc="0">
                <a:solidFill>
                  <a:schemeClr val="bg1"/>
                </a:solidFill>
                <a:latin typeface="Abyssinica SIL"/>
                <a:ea typeface="Abyssinica SIL"/>
                <a:cs typeface="Abyssinica SIL"/>
              </a:rPr>
              <a:t>Introduction to Molecular Modelling and Computational Chemistry on HPC Systems at LRZ</a:t>
            </a:r>
            <a:br>
              <a:rPr lang="de-DE" sz="2000">
                <a:solidFill>
                  <a:schemeClr val="bg1"/>
                </a:solidFill>
                <a:latin typeface="Aptos"/>
              </a:rPr>
            </a:br>
            <a:r>
              <a:rPr lang="de-DE" sz="1200">
                <a:solidFill>
                  <a:schemeClr val="bg1"/>
                </a:solidFill>
                <a:latin typeface="Aptos"/>
              </a:rPr>
              <a:t>Leibniz Computing Centre, Garching, Germany.</a:t>
            </a:r>
            <a:br>
              <a:rPr lang="de-DE" sz="1200">
                <a:solidFill>
                  <a:schemeClr val="bg1"/>
                </a:solidFill>
                <a:latin typeface="Aptos"/>
              </a:rPr>
            </a:br>
            <a:r>
              <a:rPr lang="de-DE" sz="1200">
                <a:solidFill>
                  <a:schemeClr val="bg1"/>
                </a:solidFill>
                <a:latin typeface="Aptos"/>
              </a:rPr>
              <a:t>November 2025</a:t>
            </a:r>
            <a:br>
              <a:rPr lang="de-DE" sz="1200">
                <a:solidFill>
                  <a:schemeClr val="bg1"/>
                </a:solidFill>
                <a:latin typeface="Aptos"/>
              </a:rPr>
            </a:br>
            <a:r>
              <a:rPr lang="de-DE" sz="1200">
                <a:solidFill>
                  <a:schemeClr val="bg1"/>
                </a:solidFill>
                <a:latin typeface="Aptos"/>
              </a:rPr>
              <a:t>Dr.-Ing. Elmira birang</a:t>
            </a:r>
            <a:endParaRPr lang="de-DE" sz="20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72536974" name="Untertitel 2"/>
          <p:cNvSpPr>
            <a:spLocks noGrp="1"/>
          </p:cNvSpPr>
          <p:nvPr>
            <p:ph type="subTitle" idx="1"/>
          </p:nvPr>
        </p:nvSpPr>
        <p:spPr bwMode="auto">
          <a:xfrm>
            <a:off x="8456522" y="5633764"/>
            <a:ext cx="340855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defRPr/>
            </a:pPr>
            <a:r>
              <a:rPr lang="de-DE" sz="2000" u="sng">
                <a:solidFill>
                  <a:srgbClr val="FFFFFF"/>
                </a:solidFill>
                <a:hlinkClick r:id="rId3" tooltip=""/>
              </a:rPr>
              <a:t>https://www.ovito.org/</a:t>
            </a:r>
            <a:endParaRPr lang="de-DE"/>
          </a:p>
        </p:txBody>
      </p:sp>
      <p:pic>
        <p:nvPicPr>
          <p:cNvPr id="1398542303" name="Grafik 4" descr="Ein Bild, das Ballon, Reißnagel enthält.&#10;&#10;KI-generierte Inhalte können fehlerhaft sein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49344" y="37658"/>
            <a:ext cx="11327549" cy="4361106"/>
          </a:xfrm>
          <a:prstGeom prst="rect">
            <a:avLst/>
          </a:prstGeom>
        </p:spPr>
      </p:pic>
      <p:graphicFrame>
        <p:nvGraphicFramePr>
          <p:cNvPr id="1119886672" name="Diagramm 8"/>
          <p:cNvGraphicFramePr>
            <a:graphicFrameLocks xmlns:a="http://schemas.openxmlformats.org/drawingml/2006/main"/>
          </p:cNvGraphicFramePr>
          <p:nvPr/>
        </p:nvGraphicFramePr>
        <p:xfrm rot="0">
          <a:off x="4580710" y="3526971"/>
          <a:ext cx="7145076" cy="1931084"/>
          <a:chOff x="0" y="0"/>
          <a:chExt cx="7145076" cy="1931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8" r:qs="rId9" r:cs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022399817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341313048" name="Freeform: Shap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 fill="norm" stroke="1" extrusionOk="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 useBgFill="1">
        <p:nvSpPr>
          <p:cNvPr id="2115957705" name="Freeform: Shape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 fill="norm" stroke="1" extrusionOk="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04369151" name="Titel 1"/>
          <p:cNvSpPr>
            <a:spLocks noGrp="1"/>
          </p:cNvSpPr>
          <p:nvPr>
            <p:ph type="title"/>
          </p:nvPr>
        </p:nvSpPr>
        <p:spPr bwMode="auto">
          <a:xfrm>
            <a:off x="621792" y="1161288"/>
            <a:ext cx="3602735" cy="45262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sz="4000"/>
              <a:t>Main features</a:t>
            </a:r>
            <a:endParaRPr/>
          </a:p>
        </p:txBody>
      </p:sp>
      <p:sp>
        <p:nvSpPr>
          <p:cNvPr id="674682210" name="Rectangle 1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42443207" name="Inhaltsplatzhalter 2"/>
          <p:cNvSpPr>
            <a:spLocks noGrp="1"/>
          </p:cNvSpPr>
          <p:nvPr>
            <p:ph idx="1"/>
          </p:nvPr>
        </p:nvSpPr>
        <p:spPr bwMode="auto"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 sz="2000"/>
              <a:t>Visualize</a:t>
            </a:r>
            <a:r>
              <a:rPr lang="de-DE" sz="2000"/>
              <a:t> and </a:t>
            </a:r>
            <a:r>
              <a:rPr lang="de-DE" sz="2000"/>
              <a:t>explore</a:t>
            </a:r>
            <a:r>
              <a:rPr lang="de-DE" sz="2000"/>
              <a:t> </a:t>
            </a:r>
            <a:r>
              <a:rPr lang="de-DE" sz="2000"/>
              <a:t>particle</a:t>
            </a:r>
            <a:r>
              <a:rPr lang="de-DE" sz="2000"/>
              <a:t> </a:t>
            </a:r>
            <a:r>
              <a:rPr lang="de-DE" sz="2000"/>
              <a:t>simulations</a:t>
            </a:r>
            <a:r>
              <a:rPr lang="de-DE" sz="2000"/>
              <a:t> </a:t>
            </a:r>
            <a:r>
              <a:rPr lang="de-DE" sz="2000"/>
              <a:t>of</a:t>
            </a:r>
            <a:r>
              <a:rPr lang="de-DE" sz="2000"/>
              <a:t> </a:t>
            </a:r>
            <a:r>
              <a:rPr lang="de-DE" sz="2000"/>
              <a:t>any</a:t>
            </a:r>
            <a:r>
              <a:rPr lang="de-DE" sz="2000"/>
              <a:t> </a:t>
            </a:r>
            <a:r>
              <a:rPr lang="de-DE" sz="2000"/>
              <a:t>kind</a:t>
            </a:r>
            <a:r>
              <a:rPr lang="de-DE" sz="2000"/>
              <a:t> and </a:t>
            </a:r>
            <a:r>
              <a:rPr lang="de-DE" sz="2000"/>
              <a:t>size</a:t>
            </a:r>
            <a:r>
              <a:rPr lang="de-DE" sz="2000"/>
              <a:t>. </a:t>
            </a:r>
            <a:r>
              <a:rPr lang="de-DE" sz="2000"/>
              <a:t>From</a:t>
            </a:r>
            <a:r>
              <a:rPr lang="de-DE" sz="2000"/>
              <a:t> ab initio </a:t>
            </a:r>
            <a:r>
              <a:rPr lang="de-DE" sz="2000"/>
              <a:t>to</a:t>
            </a:r>
            <a:r>
              <a:rPr lang="de-DE" sz="2000"/>
              <a:t> large-</a:t>
            </a:r>
            <a:r>
              <a:rPr lang="de-DE" sz="2000"/>
              <a:t>scale</a:t>
            </a:r>
            <a:r>
              <a:rPr lang="de-DE" sz="2000"/>
              <a:t> </a:t>
            </a:r>
            <a:r>
              <a:rPr lang="de-DE" sz="2000"/>
              <a:t>models</a:t>
            </a:r>
            <a:r>
              <a:rPr lang="de-DE" sz="2000"/>
              <a:t> </a:t>
            </a:r>
            <a:r>
              <a:rPr lang="de-DE" sz="2000"/>
              <a:t>with</a:t>
            </a:r>
            <a:r>
              <a:rPr lang="de-DE" sz="2000"/>
              <a:t> 100M+ </a:t>
            </a:r>
            <a:r>
              <a:rPr lang="de-DE" sz="2000"/>
              <a:t>atoms</a:t>
            </a:r>
            <a:r>
              <a:rPr lang="de-DE" sz="2000"/>
              <a:t> </a:t>
            </a:r>
            <a:r>
              <a:rPr lang="de-DE" sz="2000"/>
              <a:t>or</a:t>
            </a:r>
            <a:r>
              <a:rPr lang="de-DE" sz="2000"/>
              <a:t> </a:t>
            </a:r>
            <a:r>
              <a:rPr lang="de-DE" sz="2000"/>
              <a:t>particles</a:t>
            </a:r>
            <a:r>
              <a:rPr lang="de-DE" sz="2000"/>
              <a:t>.</a:t>
            </a:r>
            <a:endParaRPr/>
          </a:p>
          <a:p>
            <a:pPr>
              <a:defRPr/>
            </a:pPr>
            <a:r>
              <a:rPr lang="de-DE" sz="2000"/>
              <a:t>Many </a:t>
            </a:r>
            <a:r>
              <a:rPr lang="de-DE" sz="2000"/>
              <a:t>features</a:t>
            </a:r>
            <a:r>
              <a:rPr lang="de-DE" sz="2000"/>
              <a:t> </a:t>
            </a:r>
            <a:r>
              <a:rPr lang="de-DE" sz="2000"/>
              <a:t>are</a:t>
            </a:r>
            <a:r>
              <a:rPr lang="de-DE" sz="2000"/>
              <a:t> </a:t>
            </a:r>
            <a:r>
              <a:rPr lang="de-DE" sz="2000"/>
              <a:t>available</a:t>
            </a:r>
            <a:r>
              <a:rPr lang="de-DE" sz="2000"/>
              <a:t> </a:t>
            </a:r>
            <a:r>
              <a:rPr lang="de-DE" sz="2000"/>
              <a:t>free</a:t>
            </a:r>
            <a:r>
              <a:rPr lang="de-DE" sz="2000"/>
              <a:t> </a:t>
            </a:r>
            <a:r>
              <a:rPr lang="de-DE" sz="2000"/>
              <a:t>of</a:t>
            </a:r>
            <a:r>
              <a:rPr lang="de-DE" sz="2000"/>
              <a:t> </a:t>
            </a:r>
            <a:r>
              <a:rPr lang="de-DE" sz="2000"/>
              <a:t>charge</a:t>
            </a:r>
            <a:r>
              <a:rPr lang="de-DE" sz="2000"/>
              <a:t> </a:t>
            </a:r>
            <a:r>
              <a:rPr lang="de-DE" sz="2000"/>
              <a:t>under</a:t>
            </a:r>
            <a:r>
              <a:rPr lang="de-DE" sz="2000"/>
              <a:t> an open source </a:t>
            </a:r>
            <a:r>
              <a:rPr lang="de-DE" sz="2000"/>
              <a:t>license</a:t>
            </a:r>
            <a:r>
              <a:rPr lang="de-DE" sz="2000"/>
              <a:t>. </a:t>
            </a:r>
            <a:endParaRPr/>
          </a:p>
          <a:p>
            <a:pPr>
              <a:defRPr/>
            </a:pPr>
            <a:r>
              <a:rPr lang="de-DE" sz="2000"/>
              <a:t>Additional </a:t>
            </a:r>
            <a:r>
              <a:rPr lang="de-DE" sz="2000"/>
              <a:t>analysis</a:t>
            </a:r>
            <a:r>
              <a:rPr lang="de-DE" sz="2000"/>
              <a:t>, </a:t>
            </a:r>
            <a:r>
              <a:rPr lang="de-DE" sz="2000"/>
              <a:t>visualization</a:t>
            </a:r>
            <a:r>
              <a:rPr lang="de-DE" sz="2000"/>
              <a:t>, and </a:t>
            </a:r>
            <a:r>
              <a:rPr lang="de-DE" sz="2000"/>
              <a:t>automation</a:t>
            </a:r>
            <a:r>
              <a:rPr lang="de-DE" sz="2000"/>
              <a:t> </a:t>
            </a:r>
            <a:r>
              <a:rPr lang="de-DE" sz="2000"/>
              <a:t>functions</a:t>
            </a:r>
            <a:r>
              <a:rPr lang="de-DE" sz="2000"/>
              <a:t> </a:t>
            </a:r>
            <a:r>
              <a:rPr lang="de-DE" sz="2000"/>
              <a:t>are</a:t>
            </a:r>
            <a:r>
              <a:rPr lang="de-DE" sz="2000"/>
              <a:t> </a:t>
            </a:r>
            <a:r>
              <a:rPr lang="de-DE" sz="2000"/>
              <a:t>available</a:t>
            </a:r>
            <a:r>
              <a:rPr lang="de-DE" sz="2000"/>
              <a:t> on OVITO Pro </a:t>
            </a:r>
            <a:r>
              <a:rPr lang="de-DE" sz="2000"/>
              <a:t>version</a:t>
            </a:r>
            <a:r>
              <a:rPr lang="de-DE" sz="2000"/>
              <a:t>. </a:t>
            </a:r>
            <a:endParaRPr/>
          </a:p>
          <a:p>
            <a:pPr>
              <a:defRPr/>
            </a:pPr>
            <a:r>
              <a:rPr lang="de-DE" sz="2000" u="sng">
                <a:ea typeface="+mn-lt"/>
                <a:cs typeface="+mn-lt"/>
                <a:hlinkClick r:id="rId3" tooltip=""/>
              </a:rPr>
              <a:t>https://www.ovito.org/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is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the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home</a:t>
            </a:r>
            <a:r>
              <a:rPr lang="de-DE" sz="2000">
                <a:ea typeface="+mn-lt"/>
                <a:cs typeface="+mn-lt"/>
              </a:rPr>
              <a:t>- </a:t>
            </a:r>
            <a:r>
              <a:rPr lang="de-DE" sz="2000">
                <a:ea typeface="+mn-lt"/>
                <a:cs typeface="+mn-lt"/>
              </a:rPr>
              <a:t>page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of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software</a:t>
            </a:r>
            <a:r>
              <a:rPr lang="de-DE" sz="2000">
                <a:ea typeface="+mn-lt"/>
                <a:cs typeface="+mn-lt"/>
              </a:rPr>
              <a:t>, </a:t>
            </a:r>
            <a:r>
              <a:rPr lang="de-DE" sz="2000">
                <a:ea typeface="+mn-lt"/>
                <a:cs typeface="+mn-lt"/>
              </a:rPr>
              <a:t>it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includes</a:t>
            </a:r>
            <a:r>
              <a:rPr lang="de-DE" sz="2000">
                <a:ea typeface="+mn-lt"/>
                <a:cs typeface="+mn-lt"/>
              </a:rPr>
              <a:t> user-</a:t>
            </a:r>
            <a:r>
              <a:rPr lang="de-DE" sz="2000">
                <a:ea typeface="+mn-lt"/>
                <a:cs typeface="+mn-lt"/>
              </a:rPr>
              <a:t>friendly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installation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>
                <a:ea typeface="+mn-lt"/>
                <a:cs typeface="+mn-lt"/>
              </a:rPr>
              <a:t>steps</a:t>
            </a:r>
            <a:r>
              <a:rPr lang="de-DE" sz="2000">
                <a:ea typeface="+mn-lt"/>
                <a:cs typeface="+mn-lt"/>
              </a:rPr>
              <a:t>. </a:t>
            </a:r>
            <a:endParaRPr lang="de-DE" sz="2000"/>
          </a:p>
          <a:p>
            <a:pPr>
              <a:defRPr/>
            </a:pPr>
            <a:endParaRPr lang="de-DE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446510" name="Rectangle 3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668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3258172" name="Rectangle 3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256865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33763859" name="Grafik 4" descr="Ein Bild, das Screenshot, Text, Rechteck, Reihe enthält.&#10;&#10;KI-generierte Inhalte können fehlerhaft sein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21035" y="1704110"/>
            <a:ext cx="5129784" cy="3449779"/>
          </a:xfrm>
          <a:prstGeom prst="rect">
            <a:avLst/>
          </a:prstGeom>
        </p:spPr>
      </p:pic>
      <p:sp>
        <p:nvSpPr>
          <p:cNvPr id="836214341" name="Rectangle 4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60304717" name="Inhaltsplatzhalter 3" descr="Ein Bild, das Text, Screenshot, Diagramm, Rechteck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4"/>
          <a:stretch/>
        </p:blipFill>
        <p:spPr bwMode="auto">
          <a:xfrm>
            <a:off x="641180" y="2415868"/>
            <a:ext cx="5129784" cy="2026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835196" name="Down Arrow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8">
            <a:off x="800100" y="1491342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666364" name="Titel 1"/>
          <p:cNvSpPr>
            <a:spLocks noGrp="1"/>
          </p:cNvSpPr>
          <p:nvPr>
            <p:ph type="title"/>
          </p:nvPr>
        </p:nvSpPr>
        <p:spPr bwMode="auto"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defRPr/>
            </a:pPr>
            <a:r>
              <a:rPr lang="en-US" sz="36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to GUI</a:t>
            </a:r>
            <a:endParaRPr/>
          </a:p>
          <a:p>
            <a:pPr algn="ctr">
              <a:defRPr/>
            </a:pPr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55709901" name="Inhaltsplatzhalter 6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4611495" y="1065225"/>
            <a:ext cx="7100137" cy="4351338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80551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 Input/Output</a:t>
            </a:r>
            <a:endParaRPr/>
          </a:p>
        </p:txBody>
      </p:sp>
      <p:pic>
        <p:nvPicPr>
          <p:cNvPr id="743336862" name="Inhaltsplatzhalter 3" descr="Ein Bild, das Text, Screenshot, Schrift, Display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147761" y="2119427"/>
            <a:ext cx="9569903" cy="2620735"/>
          </a:xfrm>
          <a:prstGeom prst="rect">
            <a:avLst/>
          </a:prstGeom>
        </p:spPr>
      </p:pic>
      <p:sp>
        <p:nvSpPr>
          <p:cNvPr id="1689084894" name="Ellipse 10"/>
          <p:cNvSpPr/>
          <p:nvPr/>
        </p:nvSpPr>
        <p:spPr bwMode="auto">
          <a:xfrm>
            <a:off x="1284513" y="3940629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/>
              <a:t>1</a:t>
            </a:r>
            <a:endParaRPr/>
          </a:p>
        </p:txBody>
      </p:sp>
      <p:sp>
        <p:nvSpPr>
          <p:cNvPr id="2097006341" name="Ellipse 11"/>
          <p:cNvSpPr/>
          <p:nvPr/>
        </p:nvSpPr>
        <p:spPr bwMode="auto">
          <a:xfrm>
            <a:off x="1796141" y="3940629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2</a:t>
            </a:r>
            <a:endParaRPr/>
          </a:p>
        </p:txBody>
      </p:sp>
      <p:sp>
        <p:nvSpPr>
          <p:cNvPr id="113874144" name="Ellipse 12"/>
          <p:cNvSpPr/>
          <p:nvPr/>
        </p:nvSpPr>
        <p:spPr bwMode="auto">
          <a:xfrm>
            <a:off x="2460170" y="3940628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3</a:t>
            </a:r>
            <a:endParaRPr/>
          </a:p>
        </p:txBody>
      </p:sp>
      <p:sp>
        <p:nvSpPr>
          <p:cNvPr id="948541061" name="Ellipse 13"/>
          <p:cNvSpPr/>
          <p:nvPr/>
        </p:nvSpPr>
        <p:spPr bwMode="auto">
          <a:xfrm>
            <a:off x="2960912" y="3940628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4</a:t>
            </a:r>
            <a:endParaRPr/>
          </a:p>
        </p:txBody>
      </p:sp>
      <p:sp>
        <p:nvSpPr>
          <p:cNvPr id="1731914153" name="Ellipse 14"/>
          <p:cNvSpPr/>
          <p:nvPr/>
        </p:nvSpPr>
        <p:spPr bwMode="auto">
          <a:xfrm>
            <a:off x="4811484" y="3940629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5</a:t>
            </a:r>
            <a:endParaRPr/>
          </a:p>
        </p:txBody>
      </p:sp>
      <p:sp>
        <p:nvSpPr>
          <p:cNvPr id="510458194" name="Ellipse 15"/>
          <p:cNvSpPr/>
          <p:nvPr/>
        </p:nvSpPr>
        <p:spPr bwMode="auto">
          <a:xfrm>
            <a:off x="5355770" y="3940629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6</a:t>
            </a:r>
            <a:endParaRPr/>
          </a:p>
        </p:txBody>
      </p:sp>
      <p:sp>
        <p:nvSpPr>
          <p:cNvPr id="261385418" name="Ellipse 16"/>
          <p:cNvSpPr/>
          <p:nvPr/>
        </p:nvSpPr>
        <p:spPr bwMode="auto">
          <a:xfrm>
            <a:off x="5932712" y="3940628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7</a:t>
            </a:r>
            <a:endParaRPr/>
          </a:p>
        </p:txBody>
      </p:sp>
      <p:sp>
        <p:nvSpPr>
          <p:cNvPr id="594558524" name="Ellipse 17"/>
          <p:cNvSpPr/>
          <p:nvPr/>
        </p:nvSpPr>
        <p:spPr bwMode="auto">
          <a:xfrm>
            <a:off x="6564083" y="3940629"/>
            <a:ext cx="326571" cy="3483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8</a:t>
            </a:r>
            <a:endParaRPr/>
          </a:p>
        </p:txBody>
      </p:sp>
      <p:sp>
        <p:nvSpPr>
          <p:cNvPr id="539733503" name="Textfeld 18"/>
          <p:cNvSpPr txBox="1"/>
          <p:nvPr/>
        </p:nvSpPr>
        <p:spPr bwMode="auto">
          <a:xfrm>
            <a:off x="840240" y="5111749"/>
            <a:ext cx="389096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de-DE"/>
              <a:t>Load a </a:t>
            </a:r>
            <a:r>
              <a:rPr lang="de-DE"/>
              <a:t>file</a:t>
            </a:r>
            <a:r>
              <a:rPr lang="de-DE"/>
              <a:t> </a:t>
            </a:r>
            <a:r>
              <a:rPr lang="de-DE"/>
              <a:t>from</a:t>
            </a:r>
            <a:r>
              <a:rPr lang="de-DE"/>
              <a:t> </a:t>
            </a:r>
            <a:r>
              <a:rPr lang="de-DE"/>
              <a:t>local</a:t>
            </a:r>
            <a:r>
              <a:rPr lang="de-DE"/>
              <a:t> </a:t>
            </a:r>
            <a:r>
              <a:rPr lang="de-DE"/>
              <a:t>machine</a:t>
            </a:r>
            <a:endParaRPr lang="de-DE"/>
          </a:p>
          <a:p>
            <a:pPr marL="342900" indent="-342900">
              <a:buAutoNum type="arabicPeriod"/>
              <a:defRPr/>
            </a:pPr>
            <a:r>
              <a:rPr lang="de-DE"/>
              <a:t>Load a </a:t>
            </a:r>
            <a:r>
              <a:rPr lang="de-DE"/>
              <a:t>file</a:t>
            </a:r>
            <a:r>
              <a:rPr lang="de-DE"/>
              <a:t> </a:t>
            </a:r>
            <a:r>
              <a:rPr lang="de-DE"/>
              <a:t>from</a:t>
            </a:r>
            <a:r>
              <a:rPr lang="de-DE"/>
              <a:t> remote </a:t>
            </a:r>
            <a:r>
              <a:rPr lang="de-DE"/>
              <a:t>machine</a:t>
            </a:r>
            <a:r>
              <a:rPr lang="de-DE"/>
              <a:t> </a:t>
            </a:r>
            <a:r>
              <a:rPr lang="de-DE"/>
              <a:t>using</a:t>
            </a:r>
            <a:r>
              <a:rPr lang="de-DE"/>
              <a:t> </a:t>
            </a:r>
            <a:r>
              <a:rPr lang="de-DE"/>
              <a:t>OpenSSH</a:t>
            </a:r>
            <a:endParaRPr/>
          </a:p>
          <a:p>
            <a:pPr marL="342900" indent="-342900">
              <a:buAutoNum type="arabicPeriod"/>
              <a:defRPr/>
            </a:pPr>
            <a:r>
              <a:rPr lang="de-DE"/>
              <a:t>Save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current</a:t>
            </a:r>
            <a:r>
              <a:rPr lang="de-DE"/>
              <a:t> </a:t>
            </a:r>
            <a:r>
              <a:rPr lang="de-DE"/>
              <a:t>session</a:t>
            </a:r>
            <a:endParaRPr lang="de-DE"/>
          </a:p>
          <a:p>
            <a:pPr marL="342900" indent="-342900">
              <a:buAutoNum type="arabicPeriod"/>
              <a:defRPr/>
            </a:pPr>
            <a:r>
              <a:rPr lang="de-DE"/>
              <a:t>Load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saved</a:t>
            </a:r>
            <a:r>
              <a:rPr lang="de-DE"/>
              <a:t> session</a:t>
            </a:r>
            <a:endParaRPr/>
          </a:p>
        </p:txBody>
      </p:sp>
      <p:sp>
        <p:nvSpPr>
          <p:cNvPr id="335491170" name="Textfeld 19"/>
          <p:cNvSpPr txBox="1"/>
          <p:nvPr/>
        </p:nvSpPr>
        <p:spPr bwMode="auto">
          <a:xfrm flipH="0" flipV="0">
            <a:off x="5684382" y="5111748"/>
            <a:ext cx="4729542" cy="11890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de-DE"/>
              <a:t>5.   </a:t>
            </a:r>
            <a:r>
              <a:rPr lang="de-DE"/>
              <a:t>Make</a:t>
            </a:r>
            <a:r>
              <a:rPr lang="de-DE"/>
              <a:t> </a:t>
            </a:r>
            <a:r>
              <a:rPr lang="de-DE"/>
              <a:t>mouse</a:t>
            </a:r>
            <a:r>
              <a:rPr lang="de-DE"/>
              <a:t> </a:t>
            </a:r>
            <a:r>
              <a:rPr lang="de-DE"/>
              <a:t>left-click</a:t>
            </a:r>
            <a:r>
              <a:rPr lang="de-DE"/>
              <a:t> </a:t>
            </a:r>
            <a:r>
              <a:rPr lang="de-DE"/>
              <a:t>button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Select</a:t>
            </a:r>
            <a:endParaRPr lang="de-DE"/>
          </a:p>
          <a:p>
            <a:pPr>
              <a:defRPr/>
            </a:pPr>
            <a:r>
              <a:rPr lang="de-DE"/>
              <a:t>6.   </a:t>
            </a:r>
            <a:r>
              <a:rPr lang="de-DE"/>
              <a:t>Make</a:t>
            </a:r>
            <a:r>
              <a:rPr lang="de-DE"/>
              <a:t> </a:t>
            </a:r>
            <a:r>
              <a:rPr lang="de-DE"/>
              <a:t>mouse</a:t>
            </a:r>
            <a:r>
              <a:rPr lang="de-DE"/>
              <a:t> </a:t>
            </a:r>
            <a:r>
              <a:rPr lang="de-DE"/>
              <a:t>left-click</a:t>
            </a:r>
            <a:r>
              <a:rPr lang="de-DE"/>
              <a:t> </a:t>
            </a:r>
            <a:r>
              <a:rPr lang="de-DE"/>
              <a:t>button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Move </a:t>
            </a:r>
            <a:endParaRPr/>
          </a:p>
          <a:p>
            <a:pPr>
              <a:defRPr/>
            </a:pPr>
            <a:r>
              <a:rPr lang="de-DE"/>
              <a:t>7.   </a:t>
            </a:r>
            <a:r>
              <a:rPr lang="de-DE"/>
              <a:t>Make</a:t>
            </a:r>
            <a:r>
              <a:rPr lang="de-DE"/>
              <a:t> </a:t>
            </a:r>
            <a:r>
              <a:rPr lang="de-DE"/>
              <a:t>mouse</a:t>
            </a:r>
            <a:r>
              <a:rPr lang="de-DE"/>
              <a:t> </a:t>
            </a:r>
            <a:r>
              <a:rPr lang="de-DE"/>
              <a:t>left-click</a:t>
            </a:r>
            <a:r>
              <a:rPr lang="de-DE"/>
              <a:t> </a:t>
            </a:r>
            <a:r>
              <a:rPr lang="de-DE"/>
              <a:t>buttoon to Rotate</a:t>
            </a:r>
            <a:endParaRPr lang="de-DE"/>
          </a:p>
          <a:p>
            <a:pPr>
              <a:defRPr/>
            </a:pPr>
            <a:r>
              <a:rPr lang="de-DE"/>
              <a:t>8.   </a:t>
            </a:r>
            <a:r>
              <a:rPr lang="de-DE"/>
              <a:t>Render</a:t>
            </a:r>
            <a:r>
              <a:rPr lang="de-DE"/>
              <a:t> </a:t>
            </a:r>
            <a:r>
              <a:rPr lang="de-DE"/>
              <a:t>active</a:t>
            </a:r>
            <a:r>
              <a:rPr lang="de-DE"/>
              <a:t> </a:t>
            </a:r>
            <a:r>
              <a:rPr lang="de-DE"/>
              <a:t>view</a:t>
            </a:r>
            <a:r>
              <a:rPr lang="de-DE"/>
              <a:t>-point</a:t>
            </a:r>
            <a:endParaRPr/>
          </a:p>
        </p:txBody>
      </p:sp>
      <p:sp>
        <p:nvSpPr>
          <p:cNvPr id="659810379" name="Textfeld 2"/>
          <p:cNvSpPr txBox="1"/>
          <p:nvPr/>
        </p:nvSpPr>
        <p:spPr bwMode="auto">
          <a:xfrm>
            <a:off x="5843451" y="199638"/>
            <a:ext cx="5669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/>
              <a:t>Supported </a:t>
            </a:r>
            <a:r>
              <a:rPr lang="de-DE"/>
              <a:t>input</a:t>
            </a:r>
            <a:r>
              <a:rPr lang="de-DE"/>
              <a:t> </a:t>
            </a:r>
            <a:r>
              <a:rPr lang="de-DE"/>
              <a:t>file</a:t>
            </a:r>
            <a:r>
              <a:rPr lang="de-DE"/>
              <a:t> </a:t>
            </a:r>
            <a:r>
              <a:rPr lang="de-DE"/>
              <a:t>formats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XYZ (</a:t>
            </a:r>
            <a:r>
              <a:rPr lang="de-DE"/>
              <a:t>basic</a:t>
            </a:r>
            <a:r>
              <a:rPr lang="de-DE"/>
              <a:t> and </a:t>
            </a:r>
            <a:r>
              <a:rPr lang="de-DE"/>
              <a:t>extended</a:t>
            </a:r>
            <a:r>
              <a:rPr lang="de-DE"/>
              <a:t> </a:t>
            </a:r>
            <a:r>
              <a:rPr lang="de-DE"/>
              <a:t>variants</a:t>
            </a:r>
            <a:r>
              <a:rPr lang="de-DE"/>
              <a:t>)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NetCDF</a:t>
            </a:r>
            <a:r>
              <a:rPr lang="de-DE"/>
              <a:t> (</a:t>
            </a:r>
            <a:r>
              <a:rPr lang="de-DE"/>
              <a:t>written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‘</a:t>
            </a:r>
            <a:r>
              <a:rPr lang="de-DE"/>
              <a:t>dump</a:t>
            </a:r>
            <a:r>
              <a:rPr lang="de-DE"/>
              <a:t> </a:t>
            </a:r>
            <a:r>
              <a:rPr lang="de-DE"/>
              <a:t>netcdf</a:t>
            </a:r>
            <a:r>
              <a:rPr lang="de-DE"/>
              <a:t>’ </a:t>
            </a:r>
            <a:r>
              <a:rPr lang="de-DE"/>
              <a:t>command</a:t>
            </a:r>
            <a:r>
              <a:rPr lang="de-DE"/>
              <a:t>)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CFG, GSD/HOOMD, IMD, PDB, GALAMOST, DL_POLY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Ab </a:t>
            </a:r>
            <a:r>
              <a:rPr lang="de-DE"/>
              <a:t>initio</a:t>
            </a:r>
            <a:r>
              <a:rPr lang="de-DE"/>
              <a:t> </a:t>
            </a:r>
            <a:r>
              <a:rPr lang="de-DE"/>
              <a:t>codes</a:t>
            </a:r>
            <a:r>
              <a:rPr lang="de-DE"/>
              <a:t>: POSCAR, FHI-</a:t>
            </a:r>
            <a:r>
              <a:rPr lang="de-DE"/>
              <a:t>aims</a:t>
            </a:r>
            <a:r>
              <a:rPr lang="de-DE"/>
              <a:t>, QE, CASTE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Volumetric</a:t>
            </a:r>
            <a:r>
              <a:rPr lang="de-DE"/>
              <a:t>: XSF, Cube, CHGCAR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 </a:t>
            </a:r>
            <a:r>
              <a:rPr lang="de-DE"/>
              <a:t>Geometry</a:t>
            </a:r>
            <a:r>
              <a:rPr lang="de-DE"/>
              <a:t>: OBJ, STL, VTK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107935" name="Titel 1"/>
          <p:cNvSpPr>
            <a:spLocks noGrp="1"/>
          </p:cNvSpPr>
          <p:nvPr>
            <p:ph type="title"/>
          </p:nvPr>
        </p:nvSpPr>
        <p:spPr bwMode="auto">
          <a:xfrm>
            <a:off x="457200" y="29845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Movie and Zoom</a:t>
            </a:r>
            <a:endParaRPr/>
          </a:p>
        </p:txBody>
      </p:sp>
      <p:pic>
        <p:nvPicPr>
          <p:cNvPr id="1868654651" name="Inhaltsplatzhalter 3" descr="Ein Bild, das Schrift, Text, Screenshot, weiß enthält.&#10;&#10;KI-generierte Inhalte können fehlerhaft sein.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7546522" y="1023938"/>
            <a:ext cx="4114800" cy="1200150"/>
          </a:xfrm>
          <a:prstGeom prst="rect">
            <a:avLst/>
          </a:prstGeom>
        </p:spPr>
      </p:pic>
      <p:sp>
        <p:nvSpPr>
          <p:cNvPr id="2018650096" name="Ellipse 5"/>
          <p:cNvSpPr/>
          <p:nvPr/>
        </p:nvSpPr>
        <p:spPr bwMode="auto">
          <a:xfrm>
            <a:off x="7821385" y="2177710"/>
            <a:ext cx="393246" cy="453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/>
              <a:t>1</a:t>
            </a:r>
            <a:endParaRPr/>
          </a:p>
        </p:txBody>
      </p:sp>
      <p:sp>
        <p:nvSpPr>
          <p:cNvPr id="892056875" name="Ellipse 7"/>
          <p:cNvSpPr/>
          <p:nvPr/>
        </p:nvSpPr>
        <p:spPr bwMode="auto">
          <a:xfrm>
            <a:off x="8707210" y="939460"/>
            <a:ext cx="393246" cy="453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2</a:t>
            </a:r>
            <a:endParaRPr/>
          </a:p>
        </p:txBody>
      </p:sp>
      <p:sp>
        <p:nvSpPr>
          <p:cNvPr id="1485702043" name="Ellipse 9"/>
          <p:cNvSpPr/>
          <p:nvPr/>
        </p:nvSpPr>
        <p:spPr bwMode="auto">
          <a:xfrm>
            <a:off x="10212160" y="2206285"/>
            <a:ext cx="393246" cy="453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3</a:t>
            </a:r>
            <a:endParaRPr/>
          </a:p>
        </p:txBody>
      </p:sp>
      <p:sp>
        <p:nvSpPr>
          <p:cNvPr id="1840170607" name="Ellipse 11"/>
          <p:cNvSpPr/>
          <p:nvPr/>
        </p:nvSpPr>
        <p:spPr bwMode="auto">
          <a:xfrm>
            <a:off x="10678885" y="2225335"/>
            <a:ext cx="393246" cy="453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4</a:t>
            </a:r>
            <a:endParaRPr/>
          </a:p>
        </p:txBody>
      </p:sp>
      <p:sp>
        <p:nvSpPr>
          <p:cNvPr id="118888028" name="Ellipse 13"/>
          <p:cNvSpPr/>
          <p:nvPr/>
        </p:nvSpPr>
        <p:spPr bwMode="auto">
          <a:xfrm>
            <a:off x="11164660" y="2225335"/>
            <a:ext cx="393246" cy="4531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de-DE"/>
              <a:t>5</a:t>
            </a:r>
            <a:endParaRPr/>
          </a:p>
        </p:txBody>
      </p:sp>
      <p:sp>
        <p:nvSpPr>
          <p:cNvPr id="359618698" name="Textfeld 15"/>
          <p:cNvSpPr txBox="1"/>
          <p:nvPr/>
        </p:nvSpPr>
        <p:spPr bwMode="auto">
          <a:xfrm>
            <a:off x="387804" y="1287733"/>
            <a:ext cx="53925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de-DE"/>
              <a:t>Enter frame </a:t>
            </a:r>
            <a:r>
              <a:rPr lang="de-DE"/>
              <a:t>number</a:t>
            </a:r>
            <a:endParaRPr/>
          </a:p>
          <a:p>
            <a:pPr marL="342900" indent="-342900">
              <a:buAutoNum type="arabicPeriod"/>
              <a:defRPr/>
            </a:pPr>
            <a:r>
              <a:rPr lang="de-DE"/>
              <a:t>Play all </a:t>
            </a:r>
            <a:r>
              <a:rPr lang="de-DE"/>
              <a:t>frames</a:t>
            </a:r>
            <a:r>
              <a:rPr lang="de-DE"/>
              <a:t> </a:t>
            </a:r>
            <a:r>
              <a:rPr lang="de-DE"/>
              <a:t>as</a:t>
            </a:r>
            <a:r>
              <a:rPr lang="de-DE"/>
              <a:t> multiple </a:t>
            </a:r>
            <a:r>
              <a:rPr lang="de-DE"/>
              <a:t>files</a:t>
            </a:r>
            <a:r>
              <a:rPr lang="de-DE"/>
              <a:t> </a:t>
            </a:r>
            <a:r>
              <a:rPr lang="de-DE"/>
              <a:t>can</a:t>
            </a:r>
            <a:r>
              <a:rPr lang="de-DE"/>
              <a:t> </a:t>
            </a:r>
            <a:r>
              <a:rPr lang="de-DE"/>
              <a:t>be</a:t>
            </a:r>
            <a:r>
              <a:rPr lang="de-DE"/>
              <a:t> </a:t>
            </a:r>
            <a:r>
              <a:rPr lang="de-DE"/>
              <a:t>loaded</a:t>
            </a:r>
            <a:r>
              <a:rPr lang="de-DE"/>
              <a:t> at </a:t>
            </a:r>
            <a:r>
              <a:rPr lang="de-DE"/>
              <a:t>once</a:t>
            </a:r>
            <a:r>
              <a:rPr lang="de-DE"/>
              <a:t> and </a:t>
            </a:r>
            <a:r>
              <a:rPr lang="de-DE"/>
              <a:t>make</a:t>
            </a:r>
            <a:r>
              <a:rPr lang="de-DE"/>
              <a:t> a </a:t>
            </a:r>
            <a:r>
              <a:rPr lang="de-DE"/>
              <a:t>movie</a:t>
            </a:r>
            <a:r>
              <a:rPr lang="de-DE"/>
              <a:t> </a:t>
            </a:r>
            <a:r>
              <a:rPr lang="de-DE"/>
              <a:t>from</a:t>
            </a:r>
            <a:r>
              <a:rPr lang="de-DE"/>
              <a:t> </a:t>
            </a:r>
            <a:r>
              <a:rPr lang="de-DE"/>
              <a:t>it</a:t>
            </a:r>
            <a:r>
              <a:rPr lang="de-DE"/>
              <a:t>   </a:t>
            </a:r>
            <a:endParaRPr lang="de-DE"/>
          </a:p>
          <a:p>
            <a:pPr marL="342900" indent="-342900">
              <a:buAutoNum type="arabicPeriod"/>
              <a:defRPr/>
            </a:pPr>
            <a:r>
              <a:rPr lang="de-DE"/>
              <a:t>Fit </a:t>
            </a:r>
            <a:r>
              <a:rPr lang="de-DE"/>
              <a:t>view</a:t>
            </a:r>
            <a:r>
              <a:rPr lang="de-DE"/>
              <a:t>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de-DE"/>
              <a:t>Adjust</a:t>
            </a:r>
            <a:r>
              <a:rPr lang="de-DE"/>
              <a:t> zoom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de-DE"/>
              <a:t>See </a:t>
            </a:r>
            <a:r>
              <a:rPr lang="de-DE"/>
              <a:t>one</a:t>
            </a:r>
            <a:r>
              <a:rPr lang="de-DE"/>
              <a:t> </a:t>
            </a:r>
            <a:r>
              <a:rPr lang="de-DE"/>
              <a:t>view</a:t>
            </a:r>
            <a:r>
              <a:rPr lang="de-DE"/>
              <a:t>-panel, </a:t>
            </a:r>
            <a:r>
              <a:rPr lang="de-DE"/>
              <a:t>re-click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exit</a:t>
            </a:r>
            <a:endParaRPr lang="de-DE"/>
          </a:p>
        </p:txBody>
      </p:sp>
      <p:pic>
        <p:nvPicPr>
          <p:cNvPr id="630116076" name="cu_spatial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 flipH="0" flipV="0">
            <a:off x="2518735" y="3118012"/>
            <a:ext cx="5426989" cy="3614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750" fill="hold"/>
                                        <p:tgtEl>
                                          <p:spTgt spid="6301160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30116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301160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011607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3011607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15798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Customized</a:t>
            </a:r>
            <a:r>
              <a:rPr lang="de-DE"/>
              <a:t> </a:t>
            </a:r>
            <a:r>
              <a:rPr lang="de-DE"/>
              <a:t>file</a:t>
            </a:r>
            <a:r>
              <a:rPr lang="de-DE"/>
              <a:t> </a:t>
            </a:r>
            <a:r>
              <a:rPr lang="de-DE"/>
              <a:t>mapping</a:t>
            </a:r>
            <a:endParaRPr lang="de-DE"/>
          </a:p>
        </p:txBody>
      </p:sp>
      <p:pic>
        <p:nvPicPr>
          <p:cNvPr id="1509335749" name="Inhaltsplatzhalter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3513581" y="1801133"/>
            <a:ext cx="5042590" cy="4811128"/>
          </a:xfrm>
          <a:prstGeom prst="rect">
            <a:avLst/>
          </a:prstGeom>
        </p:spPr>
      </p:pic>
      <p:sp>
        <p:nvSpPr>
          <p:cNvPr id="1259732552" name="Ellipse 4"/>
          <p:cNvSpPr/>
          <p:nvPr/>
        </p:nvSpPr>
        <p:spPr bwMode="auto">
          <a:xfrm>
            <a:off x="6539593" y="5600700"/>
            <a:ext cx="2122714" cy="96338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120159481" name="Ellipse 5"/>
          <p:cNvSpPr/>
          <p:nvPr/>
        </p:nvSpPr>
        <p:spPr bwMode="auto">
          <a:xfrm>
            <a:off x="6433457" y="5959929"/>
            <a:ext cx="2514600" cy="4408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069345029" name="Gerade Verbindung mit Pfeil 7"/>
          <p:cNvCxnSpPr/>
          <p:nvPr/>
        </p:nvCxnSpPr>
        <p:spPr bwMode="auto">
          <a:xfrm flipH="1" flipV="1">
            <a:off x="5584371" y="5075237"/>
            <a:ext cx="1094015" cy="9663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8437602" name="Inhaltsplatzhalter 3"/>
          <p:cNvPicPr>
            <a:picLocks noChangeAspect="1" noGrp="1"/>
          </p:cNvPicPr>
          <p:nvPr/>
        </p:nvPicPr>
        <p:blipFill rotWithShape="1">
          <a:blip r:embed="rId3"/>
          <a:srcRect l="1290" t="31785" r="57934" b="32002"/>
          <a:stretch/>
        </p:blipFill>
        <p:spPr bwMode="auto">
          <a:xfrm flipH="0" flipV="0">
            <a:off x="7224883" y="689183"/>
            <a:ext cx="4702551" cy="3984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400281" name="Titel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4196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de-DE"/>
              <a:t>Visualization</a:t>
            </a:r>
            <a:r>
              <a:rPr lang="de-DE"/>
              <a:t> </a:t>
            </a:r>
            <a:r>
              <a:rPr lang="de-DE"/>
              <a:t>elements</a:t>
            </a:r>
            <a:br>
              <a:rPr lang="de-DE"/>
            </a:br>
            <a:br>
              <a:rPr lang="de-DE"/>
            </a:br>
            <a:endParaRPr lang="de-DE"/>
          </a:p>
        </p:txBody>
      </p:sp>
      <p:pic>
        <p:nvPicPr>
          <p:cNvPr id="875834966" name="Inhaltsplatzhalter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8317770" y="1784804"/>
            <a:ext cx="2920645" cy="4351338"/>
          </a:xfrm>
          <a:prstGeom prst="rect">
            <a:avLst/>
          </a:prstGeom>
        </p:spPr>
      </p:pic>
      <p:pic>
        <p:nvPicPr>
          <p:cNvPr id="786371497" name="Inhaltsplatzhalter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38200" y="1904960"/>
            <a:ext cx="7100137" cy="4351338"/>
          </a:xfrm>
          <a:prstGeom prst="rect">
            <a:avLst/>
          </a:prstGeom>
        </p:spPr>
      </p:pic>
      <p:sp>
        <p:nvSpPr>
          <p:cNvPr id="2043670141" name="Ellipse 5"/>
          <p:cNvSpPr/>
          <p:nvPr/>
        </p:nvSpPr>
        <p:spPr bwMode="auto">
          <a:xfrm>
            <a:off x="6441621" y="1983921"/>
            <a:ext cx="1698172" cy="24819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680908246" name="Gerade Verbindung mit Pfeil 7"/>
          <p:cNvCxnSpPr>
            <a:endCxn id="875834966" idx="1"/>
          </p:cNvCxnSpPr>
          <p:nvPr/>
        </p:nvCxnSpPr>
        <p:spPr bwMode="auto">
          <a:xfrm>
            <a:off x="7988378" y="3960473"/>
            <a:ext cx="3293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131519" name="Textfeld 6"/>
          <p:cNvSpPr txBox="1"/>
          <p:nvPr/>
        </p:nvSpPr>
        <p:spPr bwMode="auto">
          <a:xfrm flipH="0" flipV="0">
            <a:off x="947055" y="849084"/>
            <a:ext cx="1078859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Visual elements are </a:t>
            </a:r>
            <a:r>
              <a:rPr lang="en-US" i="1"/>
              <a:t>graphical representations of data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en-US" b="1"/>
              <a:t>Particles, </a:t>
            </a:r>
            <a:r>
              <a:rPr lang="en-US" b="1"/>
              <a:t>Bonds, Vector arrows, Simulation cell, Surface meshes, </a:t>
            </a:r>
            <a:r>
              <a:rPr lang="en-US" b="1"/>
              <a:t>Polyhedral</a:t>
            </a:r>
            <a:r>
              <a:rPr lang="en-US" b="1"/>
              <a:t> Trajectory lines, Dislocation lines</a:t>
            </a:r>
            <a:r>
              <a:rPr b="1"/>
              <a:t>, ...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428761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714689" y="224394"/>
            <a:ext cx="10515600" cy="8557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Image Export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56375414" name="Inhaltsplatzhalt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0" t="0" r="-855" b="7775"/>
          <a:stretch/>
        </p:blipFill>
        <p:spPr bwMode="auto">
          <a:xfrm>
            <a:off x="8770779" y="182562"/>
            <a:ext cx="2887821" cy="6492875"/>
          </a:xfrm>
        </p:spPr>
      </p:pic>
      <p:pic>
        <p:nvPicPr>
          <p:cNvPr id="428847305" name="Inhaltsplatzhalter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4690" y="1080179"/>
            <a:ext cx="7665203" cy="4697640"/>
          </a:xfrm>
          <a:prstGeom prst="rect">
            <a:avLst/>
          </a:prstGeom>
        </p:spPr>
      </p:pic>
      <p:sp>
        <p:nvSpPr>
          <p:cNvPr id="1125573392" name="Ellipse 6"/>
          <p:cNvSpPr/>
          <p:nvPr/>
        </p:nvSpPr>
        <p:spPr bwMode="auto">
          <a:xfrm>
            <a:off x="7214715" y="1451987"/>
            <a:ext cx="211016" cy="19594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2093231106" name="Gerade Verbindung mit Pfeil 8"/>
          <p:cNvCxnSpPr/>
          <p:nvPr/>
        </p:nvCxnSpPr>
        <p:spPr bwMode="auto">
          <a:xfrm>
            <a:off x="7425732" y="1547446"/>
            <a:ext cx="1345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26477273" name="Rectangle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75211736" name="Titel 1"/>
          <p:cNvSpPr>
            <a:spLocks noGrp="1"/>
          </p:cNvSpPr>
          <p:nvPr>
            <p:ph type="title"/>
          </p:nvPr>
        </p:nvSpPr>
        <p:spPr bwMode="auto"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defRPr/>
            </a:pPr>
            <a:r>
              <a:rPr lang="en-US" sz="5200"/>
              <a:t>Particles menu</a:t>
            </a:r>
            <a:endParaRPr/>
          </a:p>
        </p:txBody>
      </p:sp>
      <p:pic>
        <p:nvPicPr>
          <p:cNvPr id="1419890133" name="Inhaltsplatzhalter 3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455873" y="1945781"/>
            <a:ext cx="7100137" cy="4351338"/>
          </a:xfrm>
        </p:spPr>
      </p:pic>
      <p:pic>
        <p:nvPicPr>
          <p:cNvPr id="73963731" name="Grafik 5"/>
          <p:cNvPicPr>
            <a:picLocks noChangeAspect="1"/>
          </p:cNvPicPr>
          <p:nvPr/>
        </p:nvPicPr>
        <p:blipFill rotWithShape="1">
          <a:blip r:embed="rId4"/>
          <a:srcRect l="0" t="0" r="25080" b="0"/>
          <a:stretch/>
        </p:blipFill>
        <p:spPr bwMode="auto">
          <a:xfrm flipH="0" flipV="0">
            <a:off x="4040926" y="3614615"/>
            <a:ext cx="8148023" cy="2682503"/>
          </a:xfrm>
          <a:prstGeom prst="rect">
            <a:avLst/>
          </a:prstGeom>
        </p:spPr>
      </p:pic>
      <p:sp>
        <p:nvSpPr>
          <p:cNvPr id="1656265554" name="Ellipse 6"/>
          <p:cNvSpPr/>
          <p:nvPr/>
        </p:nvSpPr>
        <p:spPr bwMode="auto">
          <a:xfrm>
            <a:off x="2906486" y="5796643"/>
            <a:ext cx="889907" cy="31024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637916303" name="Gerade Verbindung mit Pfeil 8"/>
          <p:cNvCxnSpPr/>
          <p:nvPr/>
        </p:nvCxnSpPr>
        <p:spPr bwMode="auto">
          <a:xfrm flipH="0" flipV="1">
            <a:off x="3796392" y="5914208"/>
            <a:ext cx="244533" cy="457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865805" name="Titel 1"/>
          <p:cNvSpPr>
            <a:spLocks noGrp="1"/>
          </p:cNvSpPr>
          <p:nvPr>
            <p:ph type="title"/>
          </p:nvPr>
        </p:nvSpPr>
        <p:spPr bwMode="auto">
          <a:xfrm>
            <a:off x="146437" y="199087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Modifier</a:t>
            </a:r>
            <a:r>
              <a:rPr lang="de-DE"/>
              <a:t> </a:t>
            </a:r>
            <a:r>
              <a:rPr lang="de-DE"/>
              <a:t>library</a:t>
            </a:r>
            <a:r>
              <a:rPr lang="de-DE"/>
              <a:t> – Post </a:t>
            </a:r>
            <a:r>
              <a:rPr lang="de-DE"/>
              <a:t>processing</a:t>
            </a:r>
            <a:endParaRPr lang="de-DE"/>
          </a:p>
        </p:txBody>
      </p:sp>
      <p:pic>
        <p:nvPicPr>
          <p:cNvPr id="821927210" name="Inhaltsplatzhalt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rcRect l="5288" t="0" r="1302" b="41334"/>
          <a:stretch/>
        </p:blipFill>
        <p:spPr bwMode="auto">
          <a:xfrm flipH="0" flipV="0">
            <a:off x="7244338" y="1367692"/>
            <a:ext cx="2567570" cy="5378355"/>
          </a:xfrm>
        </p:spPr>
      </p:pic>
      <p:pic>
        <p:nvPicPr>
          <p:cNvPr id="2031493070" name="Grafik 6"/>
          <p:cNvPicPr>
            <a:picLocks noChangeAspect="1"/>
          </p:cNvPicPr>
          <p:nvPr/>
        </p:nvPicPr>
        <p:blipFill rotWithShape="1">
          <a:blip r:embed="rId3"/>
          <a:srcRect l="4499" t="58203" r="-397" b="0"/>
          <a:stretch/>
        </p:blipFill>
        <p:spPr bwMode="auto">
          <a:xfrm>
            <a:off x="8889918" y="1308062"/>
            <a:ext cx="2918130" cy="4241875"/>
          </a:xfrm>
          <a:prstGeom prst="rect">
            <a:avLst/>
          </a:prstGeom>
        </p:spPr>
      </p:pic>
      <p:pic>
        <p:nvPicPr>
          <p:cNvPr id="2072557109" name="Inhaltsplatzhalter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6437" y="2242267"/>
            <a:ext cx="6601644" cy="4045835"/>
          </a:xfrm>
          <a:prstGeom prst="rect">
            <a:avLst/>
          </a:prstGeom>
        </p:spPr>
      </p:pic>
      <p:sp>
        <p:nvSpPr>
          <p:cNvPr id="2141887189" name="Ellipse 8"/>
          <p:cNvSpPr/>
          <p:nvPr/>
        </p:nvSpPr>
        <p:spPr bwMode="auto">
          <a:xfrm>
            <a:off x="5462546" y="2631882"/>
            <a:ext cx="1399430" cy="24649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397827405" name="Gerade Verbindung mit Pfeil 10"/>
          <p:cNvCxnSpPr>
            <a:stCxn id="2141887189" idx="6"/>
          </p:cNvCxnSpPr>
          <p:nvPr/>
        </p:nvCxnSpPr>
        <p:spPr bwMode="auto">
          <a:xfrm rot="0" flipH="0" flipV="1">
            <a:off x="6861975" y="2614698"/>
            <a:ext cx="482123" cy="1404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468855" name="Titel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Selection</a:t>
            </a:r>
            <a:r>
              <a:rPr lang="de-DE"/>
              <a:t> and </a:t>
            </a:r>
            <a:r>
              <a:rPr lang="de-DE"/>
              <a:t>deletion</a:t>
            </a:r>
            <a:endParaRPr lang="de-DE"/>
          </a:p>
        </p:txBody>
      </p:sp>
      <p:pic>
        <p:nvPicPr>
          <p:cNvPr id="596214686" name="Inhaltsplatzhalter 4"/>
          <p:cNvPicPr>
            <a:picLocks noChangeAspect="1" noGrp="1"/>
          </p:cNvPicPr>
          <p:nvPr>
            <p:ph sz="half" idx="1"/>
          </p:nvPr>
        </p:nvPicPr>
        <p:blipFill rotWithShape="1">
          <a:blip r:embed="rId3"/>
          <a:stretch/>
        </p:blipFill>
        <p:spPr bwMode="auto">
          <a:xfrm>
            <a:off x="6185934" y="1355417"/>
            <a:ext cx="6006066" cy="3030862"/>
          </a:xfrm>
        </p:spPr>
      </p:pic>
      <p:pic>
        <p:nvPicPr>
          <p:cNvPr id="1836368697" name="Grafik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34" y="1374467"/>
            <a:ext cx="6006066" cy="3030862"/>
          </a:xfrm>
          <a:prstGeom prst="rect">
            <a:avLst/>
          </a:prstGeom>
        </p:spPr>
      </p:pic>
      <p:pic>
        <p:nvPicPr>
          <p:cNvPr id="564722459" name="Grafik 10"/>
          <p:cNvPicPr>
            <a:picLocks noChangeAspect="1"/>
          </p:cNvPicPr>
          <p:nvPr/>
        </p:nvPicPr>
        <p:blipFill rotWithShape="1">
          <a:blip r:embed="rId3"/>
          <a:srcRect l="61939" t="0" r="0" b="50000"/>
          <a:stretch/>
        </p:blipFill>
        <p:spPr bwMode="auto">
          <a:xfrm>
            <a:off x="8752115" y="4527454"/>
            <a:ext cx="3167742" cy="2099976"/>
          </a:xfrm>
          <a:prstGeom prst="rect">
            <a:avLst/>
          </a:prstGeom>
        </p:spPr>
      </p:pic>
      <p:sp>
        <p:nvSpPr>
          <p:cNvPr id="822225909" name="Ellipse 11"/>
          <p:cNvSpPr/>
          <p:nvPr/>
        </p:nvSpPr>
        <p:spPr bwMode="auto">
          <a:xfrm>
            <a:off x="3529820" y="1252342"/>
            <a:ext cx="2566180" cy="145554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707269897" name="Gerade Verbindung mit Pfeil 13"/>
          <p:cNvCxnSpPr/>
          <p:nvPr/>
        </p:nvCxnSpPr>
        <p:spPr bwMode="auto">
          <a:xfrm>
            <a:off x="10703379" y="2824843"/>
            <a:ext cx="0" cy="29391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8409700" name="Grafik 17"/>
          <p:cNvPicPr>
            <a:picLocks noChangeAspect="1"/>
          </p:cNvPicPr>
          <p:nvPr/>
        </p:nvPicPr>
        <p:blipFill rotWithShape="1">
          <a:blip r:embed="rId4"/>
          <a:srcRect l="61072" t="-656" r="0" b="58683"/>
          <a:stretch/>
        </p:blipFill>
        <p:spPr bwMode="auto">
          <a:xfrm>
            <a:off x="2398599" y="4587810"/>
            <a:ext cx="3859463" cy="2099976"/>
          </a:xfrm>
          <a:prstGeom prst="rect">
            <a:avLst/>
          </a:prstGeom>
        </p:spPr>
      </p:pic>
      <p:sp>
        <p:nvSpPr>
          <p:cNvPr id="2107756253" name="Ellipse 18"/>
          <p:cNvSpPr/>
          <p:nvPr/>
        </p:nvSpPr>
        <p:spPr bwMode="auto">
          <a:xfrm>
            <a:off x="9420289" y="1173161"/>
            <a:ext cx="2566180" cy="16328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198181105" name="Gerade Verbindung mit Pfeil 20"/>
          <p:cNvCxnSpPr/>
          <p:nvPr/>
        </p:nvCxnSpPr>
        <p:spPr bwMode="auto">
          <a:xfrm>
            <a:off x="4812909" y="2707891"/>
            <a:ext cx="0" cy="18799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81508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Manual </a:t>
            </a:r>
            <a:r>
              <a:rPr lang="de-DE"/>
              <a:t>selection</a:t>
            </a:r>
            <a:r>
              <a:rPr lang="de-DE"/>
              <a:t> – </a:t>
            </a:r>
            <a:r>
              <a:rPr lang="de-DE"/>
              <a:t>Topology</a:t>
            </a:r>
            <a:r>
              <a:rPr lang="de-DE"/>
              <a:t> </a:t>
            </a:r>
            <a:r>
              <a:rPr lang="de-DE"/>
              <a:t>information</a:t>
            </a:r>
            <a:endParaRPr lang="de-DE"/>
          </a:p>
        </p:txBody>
      </p:sp>
      <p:pic>
        <p:nvPicPr>
          <p:cNvPr id="832091306" name="Inhaltsplatzhalt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flipH="0" flipV="0">
            <a:off x="838199" y="1326328"/>
            <a:ext cx="10143717" cy="5385527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94035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Compute Property</a:t>
            </a:r>
            <a:endParaRPr/>
          </a:p>
        </p:txBody>
      </p:sp>
      <p:pic>
        <p:nvPicPr>
          <p:cNvPr id="66894247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8803944" y="1874471"/>
            <a:ext cx="1959878" cy="4351338"/>
          </a:xfrm>
          <a:prstGeom prst="rect">
            <a:avLst/>
          </a:prstGeom>
        </p:spPr>
      </p:pic>
      <p:pic>
        <p:nvPicPr>
          <p:cNvPr id="743523551" name="Inhaltsplatzhalter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929321" y="2250188"/>
            <a:ext cx="6601644" cy="4045834"/>
          </a:xfrm>
          <a:prstGeom prst="rect">
            <a:avLst/>
          </a:prstGeom>
        </p:spPr>
      </p:pic>
      <p:sp>
        <p:nvSpPr>
          <p:cNvPr id="1846601953" name="Ellipse 8"/>
          <p:cNvSpPr/>
          <p:nvPr/>
        </p:nvSpPr>
        <p:spPr bwMode="auto">
          <a:xfrm>
            <a:off x="7245430" y="2639803"/>
            <a:ext cx="1399429" cy="24648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cxnSp>
        <p:nvCxnSpPr>
          <p:cNvPr id="627573549" name="Gerade Verbindung mit Pfeil 10"/>
          <p:cNvCxnSpPr>
            <a:stCxn id="1846601953" idx="6"/>
          </p:cNvCxnSpPr>
          <p:nvPr/>
        </p:nvCxnSpPr>
        <p:spPr bwMode="auto">
          <a:xfrm rot="0" flipH="0" flipV="0">
            <a:off x="8644860" y="2763048"/>
            <a:ext cx="799622" cy="18459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279676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81532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Python Script</a:t>
            </a:r>
            <a:br>
              <a:rPr/>
            </a:br>
            <a:endParaRPr/>
          </a:p>
        </p:txBody>
      </p:sp>
      <p:pic>
        <p:nvPicPr>
          <p:cNvPr id="133087456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959571" y="2759951"/>
            <a:ext cx="8020812" cy="3715419"/>
          </a:xfrm>
          <a:prstGeom prst="rect">
            <a:avLst/>
          </a:prstGeom>
        </p:spPr>
      </p:pic>
      <p:pic>
        <p:nvPicPr>
          <p:cNvPr id="667948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68990" y="3930851"/>
            <a:ext cx="2522338" cy="2544520"/>
          </a:xfrm>
          <a:prstGeom prst="rect">
            <a:avLst/>
          </a:prstGeom>
        </p:spPr>
      </p:pic>
      <p:sp>
        <p:nvSpPr>
          <p:cNvPr id="99937439" name=""/>
          <p:cNvSpPr txBox="1"/>
          <p:nvPr/>
        </p:nvSpPr>
        <p:spPr bwMode="auto">
          <a:xfrm rot="0" flipH="0" flipV="0">
            <a:off x="9998675" y="2369038"/>
            <a:ext cx="203495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21500482" name=""/>
          <p:cNvSpPr/>
          <p:nvPr/>
        </p:nvSpPr>
        <p:spPr bwMode="auto">
          <a:xfrm rot="0" flipH="0" flipV="0">
            <a:off x="9778204" y="2735158"/>
            <a:ext cx="2303910" cy="1245803"/>
          </a:xfrm>
          <a:prstGeom prst="wedgeRectCallout">
            <a:avLst>
              <a:gd name="adj1" fmla="val -20833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r>
              <a:rPr lang="de-DE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Calculation of atomistic frequency are done using python script.</a:t>
            </a:r>
            <a:endParaRPr/>
          </a:p>
        </p:txBody>
      </p:sp>
      <p:sp>
        <p:nvSpPr>
          <p:cNvPr id="382757022" name=""/>
          <p:cNvSpPr txBox="1"/>
          <p:nvPr/>
        </p:nvSpPr>
        <p:spPr bwMode="auto">
          <a:xfrm rot="0" flipH="0" flipV="0">
            <a:off x="3973653" y="3183140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7388282" name=""/>
          <p:cNvSpPr txBox="1"/>
          <p:nvPr/>
        </p:nvSpPr>
        <p:spPr bwMode="auto">
          <a:xfrm rot="0" flipH="0" flipV="0">
            <a:off x="888204" y="960640"/>
            <a:ext cx="5973851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OVITO‘s Python interface provides access to almost any program function and the data model.</a:t>
            </a:r>
            <a:endParaRPr lang="de-DE" sz="1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it to automate analysis or visualization tasks.</a:t>
            </a:r>
            <a:endParaRPr lang="de-DE" sz="1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Use it to integrate OVITO’s capabilities into custom analysis workflows. </a:t>
            </a:r>
            <a:endParaRPr lang="de-DE" sz="1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Open Visualization Tool </dc:title>
  <dc:creator/>
  <cp:lastModifiedBy>Elmira Birang</cp:lastModifiedBy>
  <cp:revision>258</cp:revision>
  <dcterms:created xsi:type="dcterms:W3CDTF">2025-10-16T00:56:24Z</dcterms:created>
  <dcterms:modified xsi:type="dcterms:W3CDTF">2025-11-17T14:40:37Z</dcterms:modified>
</cp:coreProperties>
</file>